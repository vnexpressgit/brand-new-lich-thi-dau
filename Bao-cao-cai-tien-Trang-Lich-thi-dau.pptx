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brand-new-lich-thi-dau.vercel.app/?mode=future" TargetMode="External"/><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brand-new-lich-thi-dau.vercel.app/ket-qua" TargetMode="External"/><Relationship Id="rId2"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brand-new-lich-thi-dau.vercel.app/giai-dau/champions-league" TargetMode="External"/><Relationship Id="rId2" Type="http://schemas.openxmlformats.org/officeDocument/2006/relationships/image" Target="../media/image-16-1.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9F224E"/>
          </a:solidFill>
          <a:ln w="12700">
            <a:solidFill>
              <a:srgbClr val="9F224E"/>
            </a:solidFill>
            <a:prstDash val="solid"/>
          </a:ln>
        </p:spPr>
      </p:sp>
      <p:sp>
        <p:nvSpPr>
          <p:cNvPr id="3" name="Shape 1"/>
          <p:cNvSpPr/>
          <p:nvPr/>
        </p:nvSpPr>
        <p:spPr>
          <a:xfrm>
            <a:off x="548640" y="914400"/>
            <a:ext cx="91440" cy="2286000"/>
          </a:xfrm>
          <a:prstGeom prst="rect">
            <a:avLst/>
          </a:prstGeom>
          <a:solidFill>
            <a:srgbClr val="9F224E"/>
          </a:solidFill>
          <a:ln w="12700">
            <a:solidFill>
              <a:srgbClr val="9F224E"/>
            </a:solidFill>
            <a:prstDash val="solid"/>
          </a:ln>
        </p:spPr>
      </p:sp>
      <p:sp>
        <p:nvSpPr>
          <p:cNvPr id="4" name="Shape 2"/>
          <p:cNvSpPr/>
          <p:nvPr/>
        </p:nvSpPr>
        <p:spPr>
          <a:xfrm>
            <a:off x="822960" y="914400"/>
            <a:ext cx="3474720" cy="365760"/>
          </a:xfrm>
          <a:prstGeom prst="roundRect">
            <a:avLst>
              <a:gd name="adj" fmla="val 15000"/>
            </a:avLst>
          </a:prstGeom>
          <a:solidFill>
            <a:srgbClr val="9F224E"/>
          </a:solidFill>
          <a:ln w="12700">
            <a:solidFill>
              <a:srgbClr val="9F224E"/>
            </a:solidFill>
            <a:prstDash val="solid"/>
          </a:ln>
        </p:spPr>
      </p:sp>
      <p:sp>
        <p:nvSpPr>
          <p:cNvPr id="5" name="Text 3"/>
          <p:cNvSpPr/>
          <p:nvPr/>
        </p:nvSpPr>
        <p:spPr>
          <a:xfrm>
            <a:off x="822960" y="914400"/>
            <a:ext cx="347472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VNEXPRESS THỂ THAO • BÁO CÁO ĐỀ XUẤT</a:t>
            </a:r>
            <a:endParaRPr lang="en-US" sz="1100" dirty="0"/>
          </a:p>
        </p:txBody>
      </p:sp>
      <p:sp>
        <p:nvSpPr>
          <p:cNvPr id="6" name="Text 4"/>
          <p:cNvSpPr/>
          <p:nvPr/>
        </p:nvSpPr>
        <p:spPr>
          <a:xfrm>
            <a:off x="822960" y="1389888"/>
            <a:ext cx="10515600" cy="1234440"/>
          </a:xfrm>
          <a:prstGeom prst="rect">
            <a:avLst/>
          </a:prstGeom>
          <a:noFill/>
          <a:ln/>
        </p:spPr>
        <p:txBody>
          <a:bodyPr wrap="square" lIns="0" tIns="0" rIns="0" bIns="0" rtlCol="0" anchor="t"/>
          <a:lstStyle/>
          <a:p>
            <a:pPr algn="l" indent="0" marL="0">
              <a:lnSpc>
                <a:spcPct val="115000"/>
              </a:lnSpc>
              <a:buNone/>
            </a:pPr>
            <a:r>
              <a:rPr lang="en-US" sz="3400" b="1" dirty="0">
                <a:solidFill>
                  <a:srgbClr val="FFFFFF"/>
                </a:solidFill>
                <a:latin typeface="Arial" pitchFamily="34" charset="0"/>
                <a:ea typeface="Arial" pitchFamily="34" charset="-122"/>
                <a:cs typeface="Arial" pitchFamily="34" charset="-120"/>
              </a:rPr>
              <a:t>PHÂN TÍCH VẤN ĐỀ &amp; GIẢI PHÁP</a:t>
            </a:r>
            <a:endParaRPr lang="en-US" sz="3400" dirty="0"/>
          </a:p>
          <a:p>
            <a:pPr algn="l" indent="0" marL="0">
              <a:lnSpc>
                <a:spcPct val="115000"/>
              </a:lnSpc>
              <a:buNone/>
            </a:pPr>
            <a:r>
              <a:rPr lang="en-US" sz="3400" b="1" dirty="0">
                <a:solidFill>
                  <a:srgbClr val="FFFFFF"/>
                </a:solidFill>
                <a:latin typeface="Arial" pitchFamily="34" charset="0"/>
                <a:ea typeface="Arial" pitchFamily="34" charset="-122"/>
                <a:cs typeface="Arial" pitchFamily="34" charset="-120"/>
              </a:rPr>
              <a:t>TRANG LỊCH THI ĐẤU BÓNG ĐÁ</a:t>
            </a:r>
            <a:endParaRPr lang="en-US" sz="3400" dirty="0"/>
          </a:p>
        </p:txBody>
      </p:sp>
      <p:sp>
        <p:nvSpPr>
          <p:cNvPr id="7" name="Text 5"/>
          <p:cNvSpPr/>
          <p:nvPr/>
        </p:nvSpPr>
        <p:spPr>
          <a:xfrm>
            <a:off x="822960" y="2724912"/>
            <a:ext cx="10424160" cy="658368"/>
          </a:xfrm>
          <a:prstGeom prst="rect">
            <a:avLst/>
          </a:prstGeom>
          <a:noFill/>
          <a:ln/>
        </p:spPr>
        <p:txBody>
          <a:bodyPr wrap="square" lIns="0" tIns="0" rIns="0" bIns="0" rtlCol="0" anchor="t"/>
          <a:lstStyle/>
          <a:p>
            <a:pPr algn="l" indent="0" marL="0">
              <a:lnSpc>
                <a:spcPct val="125000"/>
              </a:lnSpc>
              <a:buNone/>
            </a:pPr>
            <a:r>
              <a:rPr lang="en-US" sz="1500" dirty="0">
                <a:solidFill>
                  <a:srgbClr val="CBD5E1"/>
                </a:solidFill>
                <a:latin typeface="Arial" pitchFamily="34" charset="0"/>
                <a:ea typeface="Arial" pitchFamily="34" charset="-122"/>
                <a:cs typeface="Arial" pitchFamily="34" charset="-120"/>
              </a:rPr>
              <a:t>Chiến lược tái cấu trúc SEO, mở rộng trang đích &amp; hợp nhất hệ sinh thái dữ liệu bóng đá VnExpress</a:t>
            </a:r>
            <a:endParaRPr lang="en-US" sz="1500" dirty="0"/>
          </a:p>
          <a:p>
            <a:pPr algn="l" indent="0" marL="0">
              <a:lnSpc>
                <a:spcPct val="125000"/>
              </a:lnSpc>
              <a:buNone/>
            </a:pPr>
            <a:r>
              <a:rPr lang="en-US" sz="1500" dirty="0">
                <a:solidFill>
                  <a:srgbClr val="CBD5E1"/>
                </a:solidFill>
                <a:latin typeface="Arial" pitchFamily="34" charset="0"/>
                <a:ea typeface="Arial" pitchFamily="34" charset="-122"/>
                <a:cs typeface="Arial" pitchFamily="34" charset="-120"/>
              </a:rPr>
              <a:t>nhằm tăng +100% Search Clicks tự nhiên sau 12 tháng (từ 86.7K lên 174K clicks/tháng)</a:t>
            </a:r>
            <a:endParaRPr lang="en-US" sz="1500" dirty="0"/>
          </a:p>
        </p:txBody>
      </p:sp>
      <p:sp>
        <p:nvSpPr>
          <p:cNvPr id="8" name="Shape 6"/>
          <p:cNvSpPr/>
          <p:nvPr/>
        </p:nvSpPr>
        <p:spPr>
          <a:xfrm>
            <a:off x="548640" y="3703320"/>
            <a:ext cx="2651760" cy="1508760"/>
          </a:xfrm>
          <a:prstGeom prst="roundRect">
            <a:avLst>
              <a:gd name="adj" fmla="val 4848"/>
            </a:avLst>
          </a:prstGeom>
          <a:solidFill>
            <a:srgbClr val="FFFFFF"/>
          </a:solidFill>
          <a:ln w="12700">
            <a:solidFill>
              <a:srgbClr val="CBD5E1"/>
            </a:solidFill>
            <a:prstDash val="solid"/>
          </a:ln>
        </p:spPr>
      </p:sp>
      <p:sp>
        <p:nvSpPr>
          <p:cNvPr id="9" name="Shape 7"/>
          <p:cNvSpPr/>
          <p:nvPr/>
        </p:nvSpPr>
        <p:spPr>
          <a:xfrm>
            <a:off x="548640" y="3703320"/>
            <a:ext cx="2651760" cy="82296"/>
          </a:xfrm>
          <a:prstGeom prst="rect">
            <a:avLst/>
          </a:prstGeom>
          <a:solidFill>
            <a:srgbClr val="9F224E"/>
          </a:solidFill>
          <a:ln w="12700">
            <a:solidFill>
              <a:srgbClr val="9F224E"/>
            </a:solidFill>
            <a:prstDash val="solid"/>
          </a:ln>
        </p:spPr>
      </p:sp>
      <p:sp>
        <p:nvSpPr>
          <p:cNvPr id="10" name="Text 8"/>
          <p:cNvSpPr/>
          <p:nvPr/>
        </p:nvSpPr>
        <p:spPr>
          <a:xfrm>
            <a:off x="685800" y="3867912"/>
            <a:ext cx="2377440" cy="274320"/>
          </a:xfrm>
          <a:prstGeom prst="rect">
            <a:avLst/>
          </a:prstGeom>
          <a:noFill/>
          <a:ln/>
        </p:spPr>
        <p:txBody>
          <a:bodyPr wrap="square" lIns="0" tIns="0" rIns="0" bIns="0" rtlCol="0" anchor="ctr"/>
          <a:lstStyle/>
          <a:p>
            <a:pPr algn="l" indent="0" marL="0">
              <a:buNone/>
            </a:pPr>
            <a:r>
              <a:rPr lang="en-US" sz="1000" b="1" dirty="0">
                <a:solidFill>
                  <a:srgbClr val="64748B"/>
                </a:solidFill>
                <a:latin typeface="Arial" pitchFamily="34" charset="0"/>
                <a:ea typeface="Arial" pitchFamily="34" charset="-122"/>
                <a:cs typeface="Arial" pitchFamily="34" charset="-120"/>
              </a:rPr>
              <a:t>TỔNG PAGEVIEWS (21 THÁNG)</a:t>
            </a:r>
            <a:endParaRPr lang="en-US" sz="1000" dirty="0"/>
          </a:p>
        </p:txBody>
      </p:sp>
      <p:sp>
        <p:nvSpPr>
          <p:cNvPr id="11" name="Text 9"/>
          <p:cNvSpPr/>
          <p:nvPr/>
        </p:nvSpPr>
        <p:spPr>
          <a:xfrm>
            <a:off x="685800" y="4197096"/>
            <a:ext cx="2377440" cy="438912"/>
          </a:xfrm>
          <a:prstGeom prst="rect">
            <a:avLst/>
          </a:prstGeom>
          <a:noFill/>
          <a:ln/>
        </p:spPr>
        <p:txBody>
          <a:bodyPr wrap="square" lIns="0" tIns="0" rIns="0" bIns="0" rtlCol="0" anchor="ctr"/>
          <a:lstStyle/>
          <a:p>
            <a:pPr algn="l" indent="0" marL="0">
              <a:buNone/>
            </a:pPr>
            <a:r>
              <a:rPr lang="en-US" sz="1950" b="1" dirty="0">
                <a:solidFill>
                  <a:srgbClr val="9F224E"/>
                </a:solidFill>
                <a:latin typeface="Arial" pitchFamily="34" charset="0"/>
                <a:ea typeface="Arial" pitchFamily="34" charset="-122"/>
                <a:cs typeface="Arial" pitchFamily="34" charset="-120"/>
              </a:rPr>
              <a:t>8,838,518 PV</a:t>
            </a:r>
            <a:endParaRPr lang="en-US" sz="1950" dirty="0"/>
          </a:p>
        </p:txBody>
      </p:sp>
      <p:sp>
        <p:nvSpPr>
          <p:cNvPr id="12" name="Text 10"/>
          <p:cNvSpPr/>
          <p:nvPr/>
        </p:nvSpPr>
        <p:spPr>
          <a:xfrm>
            <a:off x="685800" y="4672584"/>
            <a:ext cx="2377440" cy="438912"/>
          </a:xfrm>
          <a:prstGeom prst="rect">
            <a:avLst/>
          </a:prstGeom>
          <a:noFill/>
          <a:ln/>
        </p:spPr>
        <p:txBody>
          <a:bodyPr wrap="square" lIns="0" tIns="0" rIns="0" bIns="0" rtlCol="0" anchor="t"/>
          <a:lstStyle/>
          <a:p>
            <a:pPr algn="l" indent="0" marL="0">
              <a:buNone/>
            </a:pPr>
            <a:r>
              <a:rPr lang="en-US" sz="1100" dirty="0">
                <a:solidFill>
                  <a:srgbClr val="334155"/>
                </a:solidFill>
                <a:latin typeface="Arial" pitchFamily="34" charset="0"/>
                <a:ea typeface="Arial" pitchFamily="34" charset="-122"/>
                <a:cs typeface="Arial" pitchFamily="34" charset="-120"/>
              </a:rPr>
              <a:t>7,093 URLs • Search/PV đạt 21.12%</a:t>
            </a:r>
            <a:endParaRPr lang="en-US" sz="1100" dirty="0"/>
          </a:p>
        </p:txBody>
      </p:sp>
      <p:sp>
        <p:nvSpPr>
          <p:cNvPr id="13" name="Shape 11"/>
          <p:cNvSpPr/>
          <p:nvPr/>
        </p:nvSpPr>
        <p:spPr>
          <a:xfrm>
            <a:off x="3364992" y="3703320"/>
            <a:ext cx="2651760" cy="1508760"/>
          </a:xfrm>
          <a:prstGeom prst="roundRect">
            <a:avLst>
              <a:gd name="adj" fmla="val 4848"/>
            </a:avLst>
          </a:prstGeom>
          <a:solidFill>
            <a:srgbClr val="FFFFFF"/>
          </a:solidFill>
          <a:ln w="12700">
            <a:solidFill>
              <a:srgbClr val="CBD5E1"/>
            </a:solidFill>
            <a:prstDash val="solid"/>
          </a:ln>
        </p:spPr>
      </p:sp>
      <p:sp>
        <p:nvSpPr>
          <p:cNvPr id="14" name="Shape 12"/>
          <p:cNvSpPr/>
          <p:nvPr/>
        </p:nvSpPr>
        <p:spPr>
          <a:xfrm>
            <a:off x="3364992" y="3703320"/>
            <a:ext cx="2651760" cy="82296"/>
          </a:xfrm>
          <a:prstGeom prst="rect">
            <a:avLst/>
          </a:prstGeom>
          <a:solidFill>
            <a:srgbClr val="9F224E"/>
          </a:solidFill>
          <a:ln w="12700">
            <a:solidFill>
              <a:srgbClr val="9F224E"/>
            </a:solidFill>
            <a:prstDash val="solid"/>
          </a:ln>
        </p:spPr>
      </p:sp>
      <p:sp>
        <p:nvSpPr>
          <p:cNvPr id="15" name="Text 13"/>
          <p:cNvSpPr/>
          <p:nvPr/>
        </p:nvSpPr>
        <p:spPr>
          <a:xfrm>
            <a:off x="3502152" y="3867912"/>
            <a:ext cx="2377440" cy="274320"/>
          </a:xfrm>
          <a:prstGeom prst="rect">
            <a:avLst/>
          </a:prstGeom>
          <a:noFill/>
          <a:ln/>
        </p:spPr>
        <p:txBody>
          <a:bodyPr wrap="square" lIns="0" tIns="0" rIns="0" bIns="0" rtlCol="0" anchor="ctr"/>
          <a:lstStyle/>
          <a:p>
            <a:pPr algn="l" indent="0" marL="0">
              <a:buNone/>
            </a:pPr>
            <a:r>
              <a:rPr lang="en-US" sz="1000" b="1" dirty="0">
                <a:solidFill>
                  <a:srgbClr val="64748B"/>
                </a:solidFill>
                <a:latin typeface="Arial" pitchFamily="34" charset="0"/>
                <a:ea typeface="Arial" pitchFamily="34" charset="-122"/>
                <a:cs typeface="Arial" pitchFamily="34" charset="-120"/>
              </a:rPr>
              <a:t>SEARCH CLICKS (15 THÁNG)</a:t>
            </a:r>
            <a:endParaRPr lang="en-US" sz="1000" dirty="0"/>
          </a:p>
        </p:txBody>
      </p:sp>
      <p:sp>
        <p:nvSpPr>
          <p:cNvPr id="16" name="Text 14"/>
          <p:cNvSpPr/>
          <p:nvPr/>
        </p:nvSpPr>
        <p:spPr>
          <a:xfrm>
            <a:off x="3502152" y="4197096"/>
            <a:ext cx="2377440" cy="438912"/>
          </a:xfrm>
          <a:prstGeom prst="rect">
            <a:avLst/>
          </a:prstGeom>
          <a:noFill/>
          <a:ln/>
        </p:spPr>
        <p:txBody>
          <a:bodyPr wrap="square" lIns="0" tIns="0" rIns="0" bIns="0" rtlCol="0" anchor="ctr"/>
          <a:lstStyle/>
          <a:p>
            <a:pPr algn="l" indent="0" marL="0">
              <a:buNone/>
            </a:pPr>
            <a:r>
              <a:rPr lang="en-US" sz="1950" b="1" dirty="0">
                <a:solidFill>
                  <a:srgbClr val="9F224E"/>
                </a:solidFill>
                <a:latin typeface="Arial" pitchFamily="34" charset="0"/>
                <a:ea typeface="Arial" pitchFamily="34" charset="-122"/>
                <a:cs typeface="Arial" pitchFamily="34" charset="-120"/>
              </a:rPr>
              <a:t>1,304,558 Clicks</a:t>
            </a:r>
            <a:endParaRPr lang="en-US" sz="1950" dirty="0"/>
          </a:p>
        </p:txBody>
      </p:sp>
      <p:sp>
        <p:nvSpPr>
          <p:cNvPr id="17" name="Text 15"/>
          <p:cNvSpPr/>
          <p:nvPr/>
        </p:nvSpPr>
        <p:spPr>
          <a:xfrm>
            <a:off x="3502152" y="4672584"/>
            <a:ext cx="2377440" cy="438912"/>
          </a:xfrm>
          <a:prstGeom prst="rect">
            <a:avLst/>
          </a:prstGeom>
          <a:noFill/>
          <a:ln/>
        </p:spPr>
        <p:txBody>
          <a:bodyPr wrap="square" lIns="0" tIns="0" rIns="0" bIns="0" rtlCol="0" anchor="t"/>
          <a:lstStyle/>
          <a:p>
            <a:pPr algn="l" indent="0" marL="0">
              <a:buNone/>
            </a:pPr>
            <a:r>
              <a:rPr lang="en-US" sz="1100" dirty="0">
                <a:solidFill>
                  <a:srgbClr val="334155"/>
                </a:solidFill>
                <a:latin typeface="Arial" pitchFamily="34" charset="0"/>
                <a:ea typeface="Arial" pitchFamily="34" charset="-122"/>
                <a:cs typeface="Arial" pitchFamily="34" charset="-120"/>
              </a:rPr>
              <a:t>Trung bình hiện tại: 86.7K clicks/tháng</a:t>
            </a:r>
            <a:endParaRPr lang="en-US" sz="1100" dirty="0"/>
          </a:p>
        </p:txBody>
      </p:sp>
      <p:sp>
        <p:nvSpPr>
          <p:cNvPr id="18" name="Shape 16"/>
          <p:cNvSpPr/>
          <p:nvPr/>
        </p:nvSpPr>
        <p:spPr>
          <a:xfrm>
            <a:off x="6181344" y="3703320"/>
            <a:ext cx="2651760" cy="1508760"/>
          </a:xfrm>
          <a:prstGeom prst="roundRect">
            <a:avLst>
              <a:gd name="adj" fmla="val 4848"/>
            </a:avLst>
          </a:prstGeom>
          <a:solidFill>
            <a:srgbClr val="FFFFFF"/>
          </a:solidFill>
          <a:ln w="12700">
            <a:solidFill>
              <a:srgbClr val="CBD5E1"/>
            </a:solidFill>
            <a:prstDash val="solid"/>
          </a:ln>
        </p:spPr>
      </p:sp>
      <p:sp>
        <p:nvSpPr>
          <p:cNvPr id="19" name="Shape 17"/>
          <p:cNvSpPr/>
          <p:nvPr/>
        </p:nvSpPr>
        <p:spPr>
          <a:xfrm>
            <a:off x="6181344" y="3703320"/>
            <a:ext cx="2651760" cy="82296"/>
          </a:xfrm>
          <a:prstGeom prst="rect">
            <a:avLst/>
          </a:prstGeom>
          <a:solidFill>
            <a:srgbClr val="9F224E"/>
          </a:solidFill>
          <a:ln w="12700">
            <a:solidFill>
              <a:srgbClr val="9F224E"/>
            </a:solidFill>
            <a:prstDash val="solid"/>
          </a:ln>
        </p:spPr>
      </p:sp>
      <p:sp>
        <p:nvSpPr>
          <p:cNvPr id="20" name="Text 18"/>
          <p:cNvSpPr/>
          <p:nvPr/>
        </p:nvSpPr>
        <p:spPr>
          <a:xfrm>
            <a:off x="6318504" y="3867912"/>
            <a:ext cx="2377440" cy="274320"/>
          </a:xfrm>
          <a:prstGeom prst="rect">
            <a:avLst/>
          </a:prstGeom>
          <a:noFill/>
          <a:ln/>
        </p:spPr>
        <p:txBody>
          <a:bodyPr wrap="square" lIns="0" tIns="0" rIns="0" bIns="0" rtlCol="0" anchor="ctr"/>
          <a:lstStyle/>
          <a:p>
            <a:pPr algn="l" indent="0" marL="0">
              <a:buNone/>
            </a:pPr>
            <a:r>
              <a:rPr lang="en-US" sz="1000" b="1" dirty="0">
                <a:solidFill>
                  <a:srgbClr val="64748B"/>
                </a:solidFill>
                <a:latin typeface="Arial" pitchFamily="34" charset="0"/>
                <a:ea typeface="Arial" pitchFamily="34" charset="-122"/>
                <a:cs typeface="Arial" pitchFamily="34" charset="-120"/>
              </a:rPr>
              <a:t>TRỌNG TÂM TRIỂN KHAI</a:t>
            </a:r>
            <a:endParaRPr lang="en-US" sz="1000" dirty="0"/>
          </a:p>
        </p:txBody>
      </p:sp>
      <p:sp>
        <p:nvSpPr>
          <p:cNvPr id="21" name="Text 19"/>
          <p:cNvSpPr/>
          <p:nvPr/>
        </p:nvSpPr>
        <p:spPr>
          <a:xfrm>
            <a:off x="6318504" y="4197096"/>
            <a:ext cx="2377440" cy="438912"/>
          </a:xfrm>
          <a:prstGeom prst="rect">
            <a:avLst/>
          </a:prstGeom>
          <a:noFill/>
          <a:ln/>
        </p:spPr>
        <p:txBody>
          <a:bodyPr wrap="square" lIns="0" tIns="0" rIns="0" bIns="0" rtlCol="0" anchor="ctr"/>
          <a:lstStyle/>
          <a:p>
            <a:pPr algn="l" indent="0" marL="0">
              <a:buNone/>
            </a:pPr>
            <a:r>
              <a:rPr lang="en-US" sz="1950" b="1" dirty="0">
                <a:solidFill>
                  <a:srgbClr val="9F224E"/>
                </a:solidFill>
                <a:latin typeface="Arial" pitchFamily="34" charset="0"/>
                <a:ea typeface="Arial" pitchFamily="34" charset="-122"/>
                <a:cs typeface="Arial" pitchFamily="34" charset="-120"/>
              </a:rPr>
              <a:t>3 Nhóm Hành Động</a:t>
            </a:r>
            <a:endParaRPr lang="en-US" sz="1950" dirty="0"/>
          </a:p>
        </p:txBody>
      </p:sp>
      <p:sp>
        <p:nvSpPr>
          <p:cNvPr id="22" name="Text 20"/>
          <p:cNvSpPr/>
          <p:nvPr/>
        </p:nvSpPr>
        <p:spPr>
          <a:xfrm>
            <a:off x="6318504" y="4672584"/>
            <a:ext cx="2377440" cy="438912"/>
          </a:xfrm>
          <a:prstGeom prst="rect">
            <a:avLst/>
          </a:prstGeom>
          <a:noFill/>
          <a:ln/>
        </p:spPr>
        <p:txBody>
          <a:bodyPr wrap="square" lIns="0" tIns="0" rIns="0" bIns="0" rtlCol="0" anchor="t"/>
          <a:lstStyle/>
          <a:p>
            <a:pPr algn="l" indent="0" marL="0">
              <a:buNone/>
            </a:pPr>
            <a:r>
              <a:rPr lang="en-US" sz="1100" dirty="0">
                <a:solidFill>
                  <a:srgbClr val="334155"/>
                </a:solidFill>
                <a:latin typeface="Arial" pitchFamily="34" charset="0"/>
                <a:ea typeface="Arial" pitchFamily="34" charset="-122"/>
                <a:cs typeface="Arial" pitchFamily="34" charset="-120"/>
              </a:rPr>
              <a:t>Tối ưu Lịch • Mở mới KQBD • Hợp nhất Giải</a:t>
            </a:r>
            <a:endParaRPr lang="en-US" sz="1100" dirty="0"/>
          </a:p>
        </p:txBody>
      </p:sp>
      <p:sp>
        <p:nvSpPr>
          <p:cNvPr id="23" name="Shape 21"/>
          <p:cNvSpPr/>
          <p:nvPr/>
        </p:nvSpPr>
        <p:spPr>
          <a:xfrm>
            <a:off x="8997696" y="3703320"/>
            <a:ext cx="2651760" cy="1508760"/>
          </a:xfrm>
          <a:prstGeom prst="roundRect">
            <a:avLst>
              <a:gd name="adj" fmla="val 4848"/>
            </a:avLst>
          </a:prstGeom>
          <a:solidFill>
            <a:srgbClr val="FFFFFF"/>
          </a:solidFill>
          <a:ln w="12700">
            <a:solidFill>
              <a:srgbClr val="CBD5E1"/>
            </a:solidFill>
            <a:prstDash val="solid"/>
          </a:ln>
        </p:spPr>
      </p:sp>
      <p:sp>
        <p:nvSpPr>
          <p:cNvPr id="24" name="Shape 22"/>
          <p:cNvSpPr/>
          <p:nvPr/>
        </p:nvSpPr>
        <p:spPr>
          <a:xfrm>
            <a:off x="8997696" y="3703320"/>
            <a:ext cx="2651760" cy="82296"/>
          </a:xfrm>
          <a:prstGeom prst="rect">
            <a:avLst/>
          </a:prstGeom>
          <a:solidFill>
            <a:srgbClr val="9F224E"/>
          </a:solidFill>
          <a:ln w="12700">
            <a:solidFill>
              <a:srgbClr val="9F224E"/>
            </a:solidFill>
            <a:prstDash val="solid"/>
          </a:ln>
        </p:spPr>
      </p:sp>
      <p:sp>
        <p:nvSpPr>
          <p:cNvPr id="25" name="Text 23"/>
          <p:cNvSpPr/>
          <p:nvPr/>
        </p:nvSpPr>
        <p:spPr>
          <a:xfrm>
            <a:off x="9134856" y="3867912"/>
            <a:ext cx="2377440" cy="274320"/>
          </a:xfrm>
          <a:prstGeom prst="rect">
            <a:avLst/>
          </a:prstGeom>
          <a:noFill/>
          <a:ln/>
        </p:spPr>
        <p:txBody>
          <a:bodyPr wrap="square" lIns="0" tIns="0" rIns="0" bIns="0" rtlCol="0" anchor="ctr"/>
          <a:lstStyle/>
          <a:p>
            <a:pPr algn="l" indent="0" marL="0">
              <a:buNone/>
            </a:pPr>
            <a:r>
              <a:rPr lang="en-US" sz="1000" b="1" dirty="0">
                <a:solidFill>
                  <a:srgbClr val="64748B"/>
                </a:solidFill>
                <a:latin typeface="Arial" pitchFamily="34" charset="0"/>
                <a:ea typeface="Arial" pitchFamily="34" charset="-122"/>
                <a:cs typeface="Arial" pitchFamily="34" charset="-120"/>
              </a:rPr>
              <a:t>KPI MỤC TIÊU SAU 12 THÁNG</a:t>
            </a:r>
            <a:endParaRPr lang="en-US" sz="1000" dirty="0"/>
          </a:p>
        </p:txBody>
      </p:sp>
      <p:sp>
        <p:nvSpPr>
          <p:cNvPr id="26" name="Text 24"/>
          <p:cNvSpPr/>
          <p:nvPr/>
        </p:nvSpPr>
        <p:spPr>
          <a:xfrm>
            <a:off x="9134856" y="4197096"/>
            <a:ext cx="2377440" cy="438912"/>
          </a:xfrm>
          <a:prstGeom prst="rect">
            <a:avLst/>
          </a:prstGeom>
          <a:noFill/>
          <a:ln/>
        </p:spPr>
        <p:txBody>
          <a:bodyPr wrap="square" lIns="0" tIns="0" rIns="0" bIns="0" rtlCol="0" anchor="ctr"/>
          <a:lstStyle/>
          <a:p>
            <a:pPr algn="l" indent="0" marL="0">
              <a:buNone/>
            </a:pPr>
            <a:r>
              <a:rPr lang="en-US" sz="1950" b="1" dirty="0">
                <a:solidFill>
                  <a:srgbClr val="9F224E"/>
                </a:solidFill>
                <a:latin typeface="Arial" pitchFamily="34" charset="0"/>
                <a:ea typeface="Arial" pitchFamily="34" charset="-122"/>
                <a:cs typeface="Arial" pitchFamily="34" charset="-120"/>
              </a:rPr>
              <a:t>174,000 Clicks/tháng</a:t>
            </a:r>
            <a:endParaRPr lang="en-US" sz="1950" dirty="0"/>
          </a:p>
        </p:txBody>
      </p:sp>
      <p:sp>
        <p:nvSpPr>
          <p:cNvPr id="27" name="Text 25"/>
          <p:cNvSpPr/>
          <p:nvPr/>
        </p:nvSpPr>
        <p:spPr>
          <a:xfrm>
            <a:off x="9134856" y="4672584"/>
            <a:ext cx="2377440" cy="438912"/>
          </a:xfrm>
          <a:prstGeom prst="rect">
            <a:avLst/>
          </a:prstGeom>
          <a:noFill/>
          <a:ln/>
        </p:spPr>
        <p:txBody>
          <a:bodyPr wrap="square" lIns="0" tIns="0" rIns="0" bIns="0" rtlCol="0" anchor="t"/>
          <a:lstStyle/>
          <a:p>
            <a:pPr algn="l" indent="0" marL="0">
              <a:buNone/>
            </a:pPr>
            <a:r>
              <a:rPr lang="en-US" sz="1100" dirty="0">
                <a:solidFill>
                  <a:srgbClr val="334155"/>
                </a:solidFill>
                <a:latin typeface="Arial" pitchFamily="34" charset="0"/>
                <a:ea typeface="Arial" pitchFamily="34" charset="-122"/>
                <a:cs typeface="Arial" pitchFamily="34" charset="-120"/>
              </a:rPr>
              <a:t>Tăng +100% (+86.7K clicks/tháng)</a:t>
            </a:r>
            <a:endParaRPr lang="en-US" sz="1100" dirty="0"/>
          </a:p>
        </p:txBody>
      </p:sp>
      <p:sp>
        <p:nvSpPr>
          <p:cNvPr id="28" name="Shape 26"/>
          <p:cNvSpPr/>
          <p:nvPr/>
        </p:nvSpPr>
        <p:spPr>
          <a:xfrm>
            <a:off x="548640" y="5440680"/>
            <a:ext cx="11091672" cy="804672"/>
          </a:xfrm>
          <a:prstGeom prst="roundRect">
            <a:avLst>
              <a:gd name="adj" fmla="val 9091"/>
            </a:avLst>
          </a:prstGeom>
          <a:solidFill>
            <a:srgbClr val="334155"/>
          </a:solidFill>
          <a:ln w="12700">
            <a:solidFill>
              <a:srgbClr val="475569"/>
            </a:solidFill>
            <a:prstDash val="solid"/>
          </a:ln>
        </p:spPr>
      </p:sp>
      <p:sp>
        <p:nvSpPr>
          <p:cNvPr id="29" name="Text 27"/>
          <p:cNvSpPr/>
          <p:nvPr/>
        </p:nvSpPr>
        <p:spPr>
          <a:xfrm>
            <a:off x="731520" y="5486400"/>
            <a:ext cx="10698480" cy="713232"/>
          </a:xfrm>
          <a:prstGeom prst="rect">
            <a:avLst/>
          </a:prstGeom>
          <a:noFill/>
          <a:ln/>
        </p:spPr>
        <p:txBody>
          <a:bodyPr wrap="square" lIns="0" tIns="0" rIns="0" bIns="0" rtlCol="0" anchor="ctr"/>
          <a:lstStyle/>
          <a:p>
            <a:pPr algn="l" indent="0" marL="0">
              <a:lnSpc>
                <a:spcPct val="125000"/>
              </a:lnSpc>
              <a:buNone/>
            </a:pPr>
            <a:r>
              <a:rPr lang="en-US" sz="1200" b="1" dirty="0">
                <a:solidFill>
                  <a:srgbClr val="F9E2EA"/>
                </a:solidFill>
                <a:latin typeface="Arial" pitchFamily="34" charset="0"/>
                <a:ea typeface="Arial" pitchFamily="34" charset="-122"/>
                <a:cs typeface="Arial" pitchFamily="34" charset="-120"/>
              </a:rPr>
              <a:t>CẤU TRÚC BÁO CÁO (MỖI KHỐI THÔNG TIN 1 SLIDE RIÊNG BIỆT, ĐỒNG BỘ MÀU SẮC):
</a:t>
            </a:r>
            <a:pPr algn="l" indent="0" marL="0">
              <a:lnSpc>
                <a:spcPct val="125000"/>
              </a:lnSpc>
              <a:buNone/>
            </a:pPr>
            <a:r>
              <a:rPr lang="en-US" sz="1150" b="1" dirty="0">
                <a:solidFill>
                  <a:srgbClr val="FFFFFF"/>
                </a:solidFill>
                <a:latin typeface="Arial" pitchFamily="34" charset="0"/>
                <a:ea typeface="Arial" pitchFamily="34" charset="-122"/>
                <a:cs typeface="Arial" pitchFamily="34" charset="-120"/>
              </a:rPr>
              <a:t>• Tổng quan &amp; Vấn đề chung (4 Slides)   •   Hành động 1 (4 Slides)   •   Hành động 2 (4 Slides)   •   Hành động 3 (4 Slides)   •   Tổng hợp KPI (2 Slides)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9F224E"/>
          </a:solidFill>
          <a:ln w="12700">
            <a:solidFill>
              <a:srgbClr val="9F224E"/>
            </a:solidFill>
            <a:prstDash val="solid"/>
          </a:ln>
        </p:spPr>
      </p:sp>
      <p:sp>
        <p:nvSpPr>
          <p:cNvPr id="3" name="Shape 1"/>
          <p:cNvSpPr/>
          <p:nvPr/>
        </p:nvSpPr>
        <p:spPr>
          <a:xfrm>
            <a:off x="0" y="82296"/>
            <a:ext cx="12191695" cy="914400"/>
          </a:xfrm>
          <a:prstGeom prst="rect">
            <a:avLst/>
          </a:prstGeom>
          <a:solidFill>
            <a:srgbClr val="FFFFFF"/>
          </a:solidFill>
          <a:ln w="10160">
            <a:solidFill>
              <a:srgbClr val="E2E8F0"/>
            </a:solidFill>
            <a:prstDash val="solid"/>
          </a:ln>
        </p:spPr>
      </p:sp>
      <p:sp>
        <p:nvSpPr>
          <p:cNvPr id="4" name="Shape 2"/>
          <p:cNvSpPr/>
          <p:nvPr/>
        </p:nvSpPr>
        <p:spPr>
          <a:xfrm>
            <a:off x="411480" y="201168"/>
            <a:ext cx="2834640" cy="329184"/>
          </a:xfrm>
          <a:prstGeom prst="roundRect">
            <a:avLst>
              <a:gd name="adj" fmla="val 16667"/>
            </a:avLst>
          </a:prstGeom>
          <a:solidFill>
            <a:srgbClr val="9F224E"/>
          </a:solidFill>
          <a:ln w="12700">
            <a:solidFill>
              <a:srgbClr val="9F224E"/>
            </a:solidFill>
            <a:prstDash val="solid"/>
          </a:ln>
        </p:spPr>
      </p:sp>
      <p:sp>
        <p:nvSpPr>
          <p:cNvPr id="5" name="Text 3"/>
          <p:cNvSpPr/>
          <p:nvPr/>
        </p:nvSpPr>
        <p:spPr>
          <a:xfrm>
            <a:off x="411480" y="201168"/>
            <a:ext cx="2834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TỔNG QUAN • KHỐI 1 / 4</a:t>
            </a:r>
            <a:endParaRPr lang="en-US" sz="1150" dirty="0"/>
          </a:p>
        </p:txBody>
      </p:sp>
      <p:sp>
        <p:nvSpPr>
          <p:cNvPr id="6" name="Text 4"/>
          <p:cNvSpPr/>
          <p:nvPr/>
        </p:nvSpPr>
        <p:spPr>
          <a:xfrm>
            <a:off x="3383280" y="146304"/>
            <a:ext cx="8412480" cy="420624"/>
          </a:xfrm>
          <a:prstGeom prst="rect">
            <a:avLst/>
          </a:prstGeom>
          <a:noFill/>
          <a:ln/>
        </p:spPr>
        <p:txBody>
          <a:bodyPr wrap="square" lIns="0" tIns="0" rIns="0" bIns="0" rtlCol="0" anchor="ctr"/>
          <a:lstStyle/>
          <a:p>
            <a:pPr algn="l" indent="0" marL="0">
              <a:buNone/>
            </a:pPr>
            <a:r>
              <a:rPr lang="en-US" sz="2000" b="1" dirty="0">
                <a:solidFill>
                  <a:srgbClr val="1E293B"/>
                </a:solidFill>
                <a:latin typeface="Arial" pitchFamily="34" charset="0"/>
                <a:ea typeface="Arial" pitchFamily="34" charset="-122"/>
                <a:cs typeface="Arial" pitchFamily="34" charset="-120"/>
              </a:rPr>
              <a:t>Số liệu Search Console &amp; Xu hướng Suy giảm (01/2025 – 09/2026)</a:t>
            </a:r>
            <a:endParaRPr lang="en-US" sz="2000" dirty="0"/>
          </a:p>
        </p:txBody>
      </p:sp>
      <p:sp>
        <p:nvSpPr>
          <p:cNvPr id="7" name="Text 5"/>
          <p:cNvSpPr/>
          <p:nvPr/>
        </p:nvSpPr>
        <p:spPr>
          <a:xfrm>
            <a:off x="411480" y="594360"/>
            <a:ext cx="11338560" cy="329184"/>
          </a:xfrm>
          <a:prstGeom prst="rect">
            <a:avLst/>
          </a:prstGeom>
          <a:noFill/>
          <a:ln/>
        </p:spPr>
        <p:txBody>
          <a:bodyPr wrap="square" lIns="0" tIns="0" rIns="0" bIns="0" rtlCol="0" anchor="ctr"/>
          <a:lstStyle/>
          <a:p>
            <a:pPr algn="l" indent="0" marL="0">
              <a:buNone/>
            </a:pPr>
            <a:r>
              <a:rPr lang="en-US" sz="1250" i="1" dirty="0">
                <a:solidFill>
                  <a:srgbClr val="64748B"/>
                </a:solidFill>
                <a:latin typeface="Arial" pitchFamily="34" charset="0"/>
                <a:ea typeface="Arial" pitchFamily="34" charset="-122"/>
                <a:cs typeface="Arial" pitchFamily="34" charset="-120"/>
              </a:rPr>
              <a:t>Dữ liệu thực tế từ Google Search Console trong 16 tháng qua của toàn bộ trang Lịch thi đấu</a:t>
            </a:r>
            <a:endParaRPr lang="en-US" sz="1250" dirty="0"/>
          </a:p>
        </p:txBody>
      </p:sp>
      <p:sp>
        <p:nvSpPr>
          <p:cNvPr id="8" name="Shape 6"/>
          <p:cNvSpPr/>
          <p:nvPr/>
        </p:nvSpPr>
        <p:spPr>
          <a:xfrm>
            <a:off x="0" y="6510528"/>
            <a:ext cx="12191695" cy="347472"/>
          </a:xfrm>
          <a:prstGeom prst="rect">
            <a:avLst/>
          </a:prstGeom>
          <a:solidFill>
            <a:srgbClr val="1E293B"/>
          </a:solidFill>
          <a:ln w="12700">
            <a:solidFill>
              <a:srgbClr val="1E293B"/>
            </a:solidFill>
            <a:prstDash val="solid"/>
          </a:ln>
        </p:spPr>
      </p:sp>
      <p:sp>
        <p:nvSpPr>
          <p:cNvPr id="9" name="Text 7"/>
          <p:cNvSpPr/>
          <p:nvPr/>
        </p:nvSpPr>
        <p:spPr>
          <a:xfrm>
            <a:off x="411480" y="6510528"/>
            <a:ext cx="8686800" cy="347472"/>
          </a:xfrm>
          <a:prstGeom prst="rect">
            <a:avLst/>
          </a:prstGeom>
          <a:noFill/>
          <a:ln/>
        </p:spPr>
        <p:txBody>
          <a:bodyPr wrap="square" lIns="0" tIns="0" rIns="0" bIns="0" rtlCol="0" anchor="ctr"/>
          <a:lstStyle/>
          <a:p>
            <a:pPr algn="l" indent="0" marL="0">
              <a:buNone/>
            </a:pPr>
            <a:r>
              <a:rPr lang="en-US" sz="1000" dirty="0">
                <a:solidFill>
                  <a:srgbClr val="CBD5E1"/>
                </a:solidFill>
                <a:latin typeface="Arial" pitchFamily="34" charset="0"/>
                <a:ea typeface="Arial" pitchFamily="34" charset="-122"/>
                <a:cs typeface="Arial" pitchFamily="34" charset="-120"/>
              </a:rPr>
              <a:t>VnExpress Thể Thao  |  Báo cáo Phân tích Vấn đề &amp; Giải pháp Cải tiến Trang Lịch Thi Đấu Bóng Đá</a:t>
            </a:r>
            <a:endParaRPr lang="en-US" sz="1000" dirty="0"/>
          </a:p>
        </p:txBody>
      </p:sp>
      <p:sp>
        <p:nvSpPr>
          <p:cNvPr id="10" name="Text 8"/>
          <p:cNvSpPr/>
          <p:nvPr/>
        </p:nvSpPr>
        <p:spPr>
          <a:xfrm>
            <a:off x="10058400" y="6510528"/>
            <a:ext cx="1719072"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Trang 2 / 19</a:t>
            </a:r>
            <a:endParaRPr lang="en-US" sz="1000" dirty="0"/>
          </a:p>
        </p:txBody>
      </p:sp>
      <p:sp>
        <p:nvSpPr>
          <p:cNvPr id="11" name="Shape 9"/>
          <p:cNvSpPr/>
          <p:nvPr/>
        </p:nvSpPr>
        <p:spPr>
          <a:xfrm>
            <a:off x="411480" y="1143000"/>
            <a:ext cx="11365992" cy="5193792"/>
          </a:xfrm>
          <a:prstGeom prst="roundRect">
            <a:avLst>
              <a:gd name="adj" fmla="val 1408"/>
            </a:avLst>
          </a:prstGeom>
          <a:solidFill>
            <a:srgbClr val="FFFFFF"/>
          </a:solidFill>
          <a:ln w="15240">
            <a:solidFill>
              <a:srgbClr val="CBD5E1"/>
            </a:solidFill>
            <a:prstDash val="solid"/>
          </a:ln>
        </p:spPr>
      </p:sp>
      <p:sp>
        <p:nvSpPr>
          <p:cNvPr id="12" name="Shape 10"/>
          <p:cNvSpPr/>
          <p:nvPr/>
        </p:nvSpPr>
        <p:spPr>
          <a:xfrm>
            <a:off x="411480" y="1143000"/>
            <a:ext cx="11365992" cy="475488"/>
          </a:xfrm>
          <a:prstGeom prst="roundRect">
            <a:avLst>
              <a:gd name="adj" fmla="val 15385"/>
            </a:avLst>
          </a:prstGeom>
          <a:solidFill>
            <a:srgbClr val="1E293B"/>
          </a:solidFill>
          <a:ln w="12700">
            <a:solidFill>
              <a:srgbClr val="1E293B"/>
            </a:solidFill>
            <a:prstDash val="solid"/>
          </a:ln>
        </p:spPr>
      </p:sp>
      <p:sp>
        <p:nvSpPr>
          <p:cNvPr id="13" name="Text 11"/>
          <p:cNvSpPr/>
          <p:nvPr/>
        </p:nvSpPr>
        <p:spPr>
          <a:xfrm>
            <a:off x="621792" y="1143000"/>
            <a:ext cx="10972800" cy="475488"/>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1. SỐ LIỆU SEARCH CONSOLE &amp; XU HƯỚNG SUY GIẢM THEO THÁNG</a:t>
            </a:r>
            <a:endParaRPr lang="en-US" sz="1450" dirty="0"/>
          </a:p>
        </p:txBody>
      </p:sp>
      <p:sp>
        <p:nvSpPr>
          <p:cNvPr id="14" name="Shape 12"/>
          <p:cNvSpPr/>
          <p:nvPr/>
        </p:nvSpPr>
        <p:spPr>
          <a:xfrm>
            <a:off x="640080" y="1810512"/>
            <a:ext cx="4663440" cy="1280160"/>
          </a:xfrm>
          <a:prstGeom prst="roundRect">
            <a:avLst>
              <a:gd name="adj" fmla="val 5000"/>
            </a:avLst>
          </a:prstGeom>
          <a:solidFill>
            <a:srgbClr val="F1F5F9"/>
          </a:solidFill>
          <a:ln w="15240">
            <a:solidFill>
              <a:srgbClr val="CBD5E1"/>
            </a:solidFill>
            <a:prstDash val="solid"/>
          </a:ln>
        </p:spPr>
      </p:sp>
      <p:sp>
        <p:nvSpPr>
          <p:cNvPr id="15" name="Text 13"/>
          <p:cNvSpPr/>
          <p:nvPr/>
        </p:nvSpPr>
        <p:spPr>
          <a:xfrm>
            <a:off x="822960" y="1920240"/>
            <a:ext cx="4297680" cy="256032"/>
          </a:xfrm>
          <a:prstGeom prst="rect">
            <a:avLst/>
          </a:prstGeom>
          <a:noFill/>
          <a:ln/>
        </p:spPr>
        <p:txBody>
          <a:bodyPr wrap="square" lIns="0" tIns="0" rIns="0" bIns="0" rtlCol="0" anchor="ctr"/>
          <a:lstStyle/>
          <a:p>
            <a:pPr indent="0" marL="0">
              <a:buNone/>
            </a:pPr>
            <a:r>
              <a:rPr lang="en-US" sz="1100" b="1" dirty="0">
                <a:solidFill>
                  <a:srgbClr val="64748B"/>
                </a:solidFill>
                <a:latin typeface="Arial" pitchFamily="34" charset="0"/>
                <a:ea typeface="Arial" pitchFamily="34" charset="-122"/>
                <a:cs typeface="Arial" pitchFamily="34" charset="-120"/>
              </a:rPr>
              <a:t>TRUNG BÌNH 9 THÁNG ĐẦU NĂM 2025</a:t>
            </a:r>
            <a:endParaRPr lang="en-US" sz="1100" dirty="0"/>
          </a:p>
        </p:txBody>
      </p:sp>
      <p:sp>
        <p:nvSpPr>
          <p:cNvPr id="16" name="Text 14"/>
          <p:cNvSpPr/>
          <p:nvPr/>
        </p:nvSpPr>
        <p:spPr>
          <a:xfrm>
            <a:off x="822960" y="2194560"/>
            <a:ext cx="4297680" cy="438912"/>
          </a:xfrm>
          <a:prstGeom prst="rect">
            <a:avLst/>
          </a:prstGeom>
          <a:noFill/>
          <a:ln/>
        </p:spPr>
        <p:txBody>
          <a:bodyPr wrap="square" lIns="0" tIns="0" rIns="0" bIns="0" rtlCol="0" anchor="ctr"/>
          <a:lstStyle/>
          <a:p>
            <a:pPr indent="0" marL="0">
              <a:buNone/>
            </a:pPr>
            <a:r>
              <a:rPr lang="en-US" sz="2300" b="1" dirty="0">
                <a:solidFill>
                  <a:srgbClr val="1E293B"/>
                </a:solidFill>
                <a:latin typeface="Arial" pitchFamily="34" charset="0"/>
                <a:ea typeface="Arial" pitchFamily="34" charset="-122"/>
                <a:cs typeface="Arial" pitchFamily="34" charset="-120"/>
              </a:rPr>
              <a:t>1,056,000 Clicks</a:t>
            </a:r>
            <a:endParaRPr lang="en-US" sz="2300" dirty="0"/>
          </a:p>
        </p:txBody>
      </p:sp>
      <p:sp>
        <p:nvSpPr>
          <p:cNvPr id="17" name="Text 15"/>
          <p:cNvSpPr/>
          <p:nvPr/>
        </p:nvSpPr>
        <p:spPr>
          <a:xfrm>
            <a:off x="822960" y="2670048"/>
            <a:ext cx="4297680" cy="310896"/>
          </a:xfrm>
          <a:prstGeom prst="rect">
            <a:avLst/>
          </a:prstGeom>
          <a:noFill/>
          <a:ln/>
        </p:spPr>
        <p:txBody>
          <a:bodyPr wrap="square" lIns="0" tIns="0" rIns="0" bIns="0" rtlCol="0" anchor="ctr"/>
          <a:lstStyle/>
          <a:p>
            <a:pPr indent="0" marL="0">
              <a:buNone/>
            </a:pPr>
            <a:r>
              <a:rPr lang="en-US" sz="1200" b="1" dirty="0">
                <a:solidFill>
                  <a:srgbClr val="334155"/>
                </a:solidFill>
                <a:latin typeface="Arial" pitchFamily="34" charset="0"/>
                <a:ea typeface="Arial" pitchFamily="34" charset="-122"/>
                <a:cs typeface="Arial" pitchFamily="34" charset="-120"/>
              </a:rPr>
              <a:t>Trung bình đạt 117,000 clicks / tháng</a:t>
            </a:r>
            <a:endParaRPr lang="en-US" sz="1200" dirty="0"/>
          </a:p>
        </p:txBody>
      </p:sp>
      <p:sp>
        <p:nvSpPr>
          <p:cNvPr id="18" name="Shape 16"/>
          <p:cNvSpPr/>
          <p:nvPr/>
        </p:nvSpPr>
        <p:spPr>
          <a:xfrm>
            <a:off x="640080" y="3236976"/>
            <a:ext cx="4663440" cy="1280160"/>
          </a:xfrm>
          <a:prstGeom prst="roundRect">
            <a:avLst>
              <a:gd name="adj" fmla="val 5000"/>
            </a:avLst>
          </a:prstGeom>
          <a:solidFill>
            <a:srgbClr val="FDF2F6"/>
          </a:solidFill>
          <a:ln w="15240">
            <a:solidFill>
              <a:srgbClr val="E2A8BC"/>
            </a:solidFill>
            <a:prstDash val="solid"/>
          </a:ln>
        </p:spPr>
      </p:sp>
      <p:sp>
        <p:nvSpPr>
          <p:cNvPr id="19" name="Text 17"/>
          <p:cNvSpPr/>
          <p:nvPr/>
        </p:nvSpPr>
        <p:spPr>
          <a:xfrm>
            <a:off x="822960" y="3346704"/>
            <a:ext cx="4297680" cy="256032"/>
          </a:xfrm>
          <a:prstGeom prst="rect">
            <a:avLst/>
          </a:prstGeom>
          <a:noFill/>
          <a:ln/>
        </p:spPr>
        <p:txBody>
          <a:bodyPr wrap="square" lIns="0" tIns="0" rIns="0" bIns="0" rtlCol="0" anchor="ctr"/>
          <a:lstStyle/>
          <a:p>
            <a:pPr indent="0" marL="0">
              <a:buNone/>
            </a:pPr>
            <a:r>
              <a:rPr lang="en-US" sz="1100" b="1" dirty="0">
                <a:solidFill>
                  <a:srgbClr val="64748B"/>
                </a:solidFill>
                <a:latin typeface="Arial" pitchFamily="34" charset="0"/>
                <a:ea typeface="Arial" pitchFamily="34" charset="-122"/>
                <a:cs typeface="Arial" pitchFamily="34" charset="-120"/>
              </a:rPr>
              <a:t>TRUNG BÌNH 9 THÁNG ĐẦU NĂM 2026</a:t>
            </a:r>
            <a:endParaRPr lang="en-US" sz="1100" dirty="0"/>
          </a:p>
        </p:txBody>
      </p:sp>
      <p:sp>
        <p:nvSpPr>
          <p:cNvPr id="20" name="Text 18"/>
          <p:cNvSpPr/>
          <p:nvPr/>
        </p:nvSpPr>
        <p:spPr>
          <a:xfrm>
            <a:off x="822960" y="3621024"/>
            <a:ext cx="4297680" cy="438912"/>
          </a:xfrm>
          <a:prstGeom prst="rect">
            <a:avLst/>
          </a:prstGeom>
          <a:noFill/>
          <a:ln/>
        </p:spPr>
        <p:txBody>
          <a:bodyPr wrap="square" lIns="0" tIns="0" rIns="0" bIns="0" rtlCol="0" anchor="ctr"/>
          <a:lstStyle/>
          <a:p>
            <a:pPr indent="0" marL="0">
              <a:buNone/>
            </a:pPr>
            <a:r>
              <a:rPr lang="en-US" sz="2300" b="1" dirty="0">
                <a:solidFill>
                  <a:srgbClr val="9F224E"/>
                </a:solidFill>
                <a:latin typeface="Arial" pitchFamily="34" charset="0"/>
                <a:ea typeface="Arial" pitchFamily="34" charset="-122"/>
                <a:cs typeface="Arial" pitchFamily="34" charset="-120"/>
              </a:rPr>
              <a:t>755,000 Clicks</a:t>
            </a:r>
            <a:endParaRPr lang="en-US" sz="2300" dirty="0"/>
          </a:p>
        </p:txBody>
      </p:sp>
      <p:sp>
        <p:nvSpPr>
          <p:cNvPr id="21" name="Text 19"/>
          <p:cNvSpPr/>
          <p:nvPr/>
        </p:nvSpPr>
        <p:spPr>
          <a:xfrm>
            <a:off x="822960" y="4096512"/>
            <a:ext cx="4297680" cy="310896"/>
          </a:xfrm>
          <a:prstGeom prst="rect">
            <a:avLst/>
          </a:prstGeom>
          <a:noFill/>
          <a:ln/>
        </p:spPr>
        <p:txBody>
          <a:bodyPr wrap="square" lIns="0" tIns="0" rIns="0" bIns="0" rtlCol="0" anchor="ctr"/>
          <a:lstStyle/>
          <a:p>
            <a:pPr indent="0" marL="0">
              <a:buNone/>
            </a:pPr>
            <a:r>
              <a:rPr lang="en-US" sz="1200" b="1" dirty="0">
                <a:solidFill>
                  <a:srgbClr val="334155"/>
                </a:solidFill>
                <a:latin typeface="Arial" pitchFamily="34" charset="0"/>
                <a:ea typeface="Arial" pitchFamily="34" charset="-122"/>
                <a:cs typeface="Arial" pitchFamily="34" charset="-120"/>
              </a:rPr>
              <a:t>Trung bình giảm còn 84,000 clicks / tháng (-28.2% YoY)</a:t>
            </a:r>
            <a:endParaRPr lang="en-US" sz="1200" dirty="0"/>
          </a:p>
        </p:txBody>
      </p:sp>
      <p:sp>
        <p:nvSpPr>
          <p:cNvPr id="22" name="Shape 20"/>
          <p:cNvSpPr/>
          <p:nvPr/>
        </p:nvSpPr>
        <p:spPr>
          <a:xfrm>
            <a:off x="640080" y="4663440"/>
            <a:ext cx="4663440" cy="1280160"/>
          </a:xfrm>
          <a:prstGeom prst="roundRect">
            <a:avLst>
              <a:gd name="adj" fmla="val 5000"/>
            </a:avLst>
          </a:prstGeom>
          <a:solidFill>
            <a:srgbClr val="F1F5F9"/>
          </a:solidFill>
          <a:ln w="15240">
            <a:solidFill>
              <a:srgbClr val="CBD5E1"/>
            </a:solidFill>
            <a:prstDash val="solid"/>
          </a:ln>
        </p:spPr>
      </p:sp>
      <p:sp>
        <p:nvSpPr>
          <p:cNvPr id="23" name="Text 21"/>
          <p:cNvSpPr/>
          <p:nvPr/>
        </p:nvSpPr>
        <p:spPr>
          <a:xfrm>
            <a:off x="822960" y="4773168"/>
            <a:ext cx="4297680" cy="256032"/>
          </a:xfrm>
          <a:prstGeom prst="rect">
            <a:avLst/>
          </a:prstGeom>
          <a:noFill/>
          <a:ln/>
        </p:spPr>
        <p:txBody>
          <a:bodyPr wrap="square" lIns="0" tIns="0" rIns="0" bIns="0" rtlCol="0" anchor="ctr"/>
          <a:lstStyle/>
          <a:p>
            <a:pPr indent="0" marL="0">
              <a:buNone/>
            </a:pPr>
            <a:r>
              <a:rPr lang="en-US" sz="1100" b="1" dirty="0">
                <a:solidFill>
                  <a:srgbClr val="64748B"/>
                </a:solidFill>
                <a:latin typeface="Arial" pitchFamily="34" charset="0"/>
                <a:ea typeface="Arial" pitchFamily="34" charset="-122"/>
                <a:cs typeface="Arial" pitchFamily="34" charset="-120"/>
              </a:rPr>
              <a:t>TỔNG 15 THÁNG GẦN NHẤT (07/2025 – 09/2026)</a:t>
            </a:r>
            <a:endParaRPr lang="en-US" sz="1100" dirty="0"/>
          </a:p>
        </p:txBody>
      </p:sp>
      <p:sp>
        <p:nvSpPr>
          <p:cNvPr id="24" name="Text 22"/>
          <p:cNvSpPr/>
          <p:nvPr/>
        </p:nvSpPr>
        <p:spPr>
          <a:xfrm>
            <a:off x="822960" y="5047488"/>
            <a:ext cx="4297680" cy="438912"/>
          </a:xfrm>
          <a:prstGeom prst="rect">
            <a:avLst/>
          </a:prstGeom>
          <a:noFill/>
          <a:ln/>
        </p:spPr>
        <p:txBody>
          <a:bodyPr wrap="square" lIns="0" tIns="0" rIns="0" bIns="0" rtlCol="0" anchor="ctr"/>
          <a:lstStyle/>
          <a:p>
            <a:pPr indent="0" marL="0">
              <a:buNone/>
            </a:pPr>
            <a:r>
              <a:rPr lang="en-US" sz="2300" b="1" dirty="0">
                <a:solidFill>
                  <a:srgbClr val="1E293B"/>
                </a:solidFill>
                <a:latin typeface="Arial" pitchFamily="34" charset="0"/>
                <a:ea typeface="Arial" pitchFamily="34" charset="-122"/>
                <a:cs typeface="Arial" pitchFamily="34" charset="-120"/>
              </a:rPr>
              <a:t>1,304,558 Clicks</a:t>
            </a:r>
            <a:endParaRPr lang="en-US" sz="2300" dirty="0"/>
          </a:p>
        </p:txBody>
      </p:sp>
      <p:sp>
        <p:nvSpPr>
          <p:cNvPr id="25" name="Text 23"/>
          <p:cNvSpPr/>
          <p:nvPr/>
        </p:nvSpPr>
        <p:spPr>
          <a:xfrm>
            <a:off x="822960" y="5522976"/>
            <a:ext cx="4297680" cy="310896"/>
          </a:xfrm>
          <a:prstGeom prst="rect">
            <a:avLst/>
          </a:prstGeom>
          <a:noFill/>
          <a:ln/>
        </p:spPr>
        <p:txBody>
          <a:bodyPr wrap="square" lIns="0" tIns="0" rIns="0" bIns="0" rtlCol="0" anchor="ctr"/>
          <a:lstStyle/>
          <a:p>
            <a:pPr indent="0" marL="0">
              <a:buNone/>
            </a:pPr>
            <a:r>
              <a:rPr lang="en-US" sz="1200" b="1" dirty="0">
                <a:solidFill>
                  <a:srgbClr val="334155"/>
                </a:solidFill>
                <a:latin typeface="Arial" pitchFamily="34" charset="0"/>
                <a:ea typeface="Arial" pitchFamily="34" charset="-122"/>
                <a:cs typeface="Arial" pitchFamily="34" charset="-120"/>
              </a:rPr>
              <a:t>Trung bình đạt 86,700 clicks / tháng • 358.97M Impressions</a:t>
            </a:r>
            <a:endParaRPr lang="en-US" sz="1200" dirty="0"/>
          </a:p>
        </p:txBody>
      </p:sp>
      <p:sp>
        <p:nvSpPr>
          <p:cNvPr id="26" name="Shape 24"/>
          <p:cNvSpPr/>
          <p:nvPr/>
        </p:nvSpPr>
        <p:spPr>
          <a:xfrm>
            <a:off x="5532120" y="1810512"/>
            <a:ext cx="6016752" cy="4133088"/>
          </a:xfrm>
          <a:prstGeom prst="roundRect">
            <a:avLst>
              <a:gd name="adj" fmla="val 1549"/>
            </a:avLst>
          </a:prstGeom>
          <a:solidFill>
            <a:srgbClr val="FFFFFF"/>
          </a:solidFill>
          <a:ln w="12700">
            <a:solidFill>
              <a:srgbClr val="CBD5E1"/>
            </a:solidFill>
            <a:prstDash val="solid"/>
          </a:ln>
        </p:spPr>
      </p:sp>
      <p:pic>
        <p:nvPicPr>
          <p:cNvPr id="27" name="Image 0" descr="C:\Users\huutrung\.gemini\antigravity\brain\55f4b9b5-1d0e-493a-a55e-4d671e61dd68\scratch\notion_img1.png">    </p:cNvPr>
          <p:cNvPicPr>
            <a:picLocks noChangeAspect="1"/>
          </p:cNvPicPr>
          <p:nvPr/>
        </p:nvPicPr>
        <p:blipFill>
          <a:blip r:embed="rId1"/>
          <a:stretch>
            <a:fillRect/>
          </a:stretch>
        </p:blipFill>
        <p:spPr>
          <a:xfrm>
            <a:off x="5650992" y="1965960"/>
            <a:ext cx="5779008" cy="382219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9F224E"/>
          </a:solidFill>
          <a:ln w="12700">
            <a:solidFill>
              <a:srgbClr val="9F224E"/>
            </a:solidFill>
            <a:prstDash val="solid"/>
          </a:ln>
        </p:spPr>
      </p:sp>
      <p:sp>
        <p:nvSpPr>
          <p:cNvPr id="3" name="Shape 1"/>
          <p:cNvSpPr/>
          <p:nvPr/>
        </p:nvSpPr>
        <p:spPr>
          <a:xfrm>
            <a:off x="0" y="82296"/>
            <a:ext cx="12191695" cy="914400"/>
          </a:xfrm>
          <a:prstGeom prst="rect">
            <a:avLst/>
          </a:prstGeom>
          <a:solidFill>
            <a:srgbClr val="FFFFFF"/>
          </a:solidFill>
          <a:ln w="10160">
            <a:solidFill>
              <a:srgbClr val="E2E8F0"/>
            </a:solidFill>
            <a:prstDash val="solid"/>
          </a:ln>
        </p:spPr>
      </p:sp>
      <p:sp>
        <p:nvSpPr>
          <p:cNvPr id="4" name="Shape 2"/>
          <p:cNvSpPr/>
          <p:nvPr/>
        </p:nvSpPr>
        <p:spPr>
          <a:xfrm>
            <a:off x="411480" y="201168"/>
            <a:ext cx="2834640" cy="329184"/>
          </a:xfrm>
          <a:prstGeom prst="roundRect">
            <a:avLst>
              <a:gd name="adj" fmla="val 16667"/>
            </a:avLst>
          </a:prstGeom>
          <a:solidFill>
            <a:srgbClr val="9F224E"/>
          </a:solidFill>
          <a:ln w="12700">
            <a:solidFill>
              <a:srgbClr val="9F224E"/>
            </a:solidFill>
            <a:prstDash val="solid"/>
          </a:ln>
        </p:spPr>
      </p:sp>
      <p:sp>
        <p:nvSpPr>
          <p:cNvPr id="5" name="Text 3"/>
          <p:cNvSpPr/>
          <p:nvPr/>
        </p:nvSpPr>
        <p:spPr>
          <a:xfrm>
            <a:off x="411480" y="201168"/>
            <a:ext cx="2834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TỔNG QUAN • KHỐI 2 / 4</a:t>
            </a:r>
            <a:endParaRPr lang="en-US" sz="1150" dirty="0"/>
          </a:p>
        </p:txBody>
      </p:sp>
      <p:sp>
        <p:nvSpPr>
          <p:cNvPr id="6" name="Text 4"/>
          <p:cNvSpPr/>
          <p:nvPr/>
        </p:nvSpPr>
        <p:spPr>
          <a:xfrm>
            <a:off x="3383280" y="146304"/>
            <a:ext cx="8412480" cy="420624"/>
          </a:xfrm>
          <a:prstGeom prst="rect">
            <a:avLst/>
          </a:prstGeom>
          <a:noFill/>
          <a:ln/>
        </p:spPr>
        <p:txBody>
          <a:bodyPr wrap="square" lIns="0" tIns="0" rIns="0" bIns="0" rtlCol="0" anchor="ctr"/>
          <a:lstStyle/>
          <a:p>
            <a:pPr algn="l" indent="0" marL="0">
              <a:buNone/>
            </a:pPr>
            <a:r>
              <a:rPr lang="en-US" sz="2000" b="1" dirty="0">
                <a:solidFill>
                  <a:srgbClr val="1E293B"/>
                </a:solidFill>
                <a:latin typeface="Arial" pitchFamily="34" charset="0"/>
                <a:ea typeface="Arial" pitchFamily="34" charset="-122"/>
                <a:cs typeface="Arial" pitchFamily="34" charset="-120"/>
              </a:rPr>
              <a:t>Pageviews &amp; Tỉ lệ Đóng góp của các Lớp trang (01/2025 – 09/2026)</a:t>
            </a:r>
            <a:endParaRPr lang="en-US" sz="2000" dirty="0"/>
          </a:p>
        </p:txBody>
      </p:sp>
      <p:sp>
        <p:nvSpPr>
          <p:cNvPr id="7" name="Text 5"/>
          <p:cNvSpPr/>
          <p:nvPr/>
        </p:nvSpPr>
        <p:spPr>
          <a:xfrm>
            <a:off x="411480" y="594360"/>
            <a:ext cx="11338560" cy="329184"/>
          </a:xfrm>
          <a:prstGeom prst="rect">
            <a:avLst/>
          </a:prstGeom>
          <a:noFill/>
          <a:ln/>
        </p:spPr>
        <p:txBody>
          <a:bodyPr wrap="square" lIns="0" tIns="0" rIns="0" bIns="0" rtlCol="0" anchor="ctr"/>
          <a:lstStyle/>
          <a:p>
            <a:pPr algn="l" indent="0" marL="0">
              <a:buNone/>
            </a:pPr>
            <a:r>
              <a:rPr lang="en-US" sz="1250" i="1" dirty="0">
                <a:solidFill>
                  <a:srgbClr val="64748B"/>
                </a:solidFill>
                <a:latin typeface="Arial" pitchFamily="34" charset="0"/>
                <a:ea typeface="Arial" pitchFamily="34" charset="-122"/>
                <a:cs typeface="Arial" pitchFamily="34" charset="-120"/>
              </a:rPr>
              <a:t>Dữ liệu từ hệ thống VA (21 tháng) và Google Search Console (15 tháng) — Tỉ lệ Search/Pageview toàn trang đạt 21.12%</a:t>
            </a:r>
            <a:endParaRPr lang="en-US" sz="1250" dirty="0"/>
          </a:p>
        </p:txBody>
      </p:sp>
      <p:sp>
        <p:nvSpPr>
          <p:cNvPr id="8" name="Shape 6"/>
          <p:cNvSpPr/>
          <p:nvPr/>
        </p:nvSpPr>
        <p:spPr>
          <a:xfrm>
            <a:off x="0" y="6510528"/>
            <a:ext cx="12191695" cy="347472"/>
          </a:xfrm>
          <a:prstGeom prst="rect">
            <a:avLst/>
          </a:prstGeom>
          <a:solidFill>
            <a:srgbClr val="1E293B"/>
          </a:solidFill>
          <a:ln w="12700">
            <a:solidFill>
              <a:srgbClr val="1E293B"/>
            </a:solidFill>
            <a:prstDash val="solid"/>
          </a:ln>
        </p:spPr>
      </p:sp>
      <p:sp>
        <p:nvSpPr>
          <p:cNvPr id="9" name="Text 7"/>
          <p:cNvSpPr/>
          <p:nvPr/>
        </p:nvSpPr>
        <p:spPr>
          <a:xfrm>
            <a:off x="411480" y="6510528"/>
            <a:ext cx="8686800" cy="347472"/>
          </a:xfrm>
          <a:prstGeom prst="rect">
            <a:avLst/>
          </a:prstGeom>
          <a:noFill/>
          <a:ln/>
        </p:spPr>
        <p:txBody>
          <a:bodyPr wrap="square" lIns="0" tIns="0" rIns="0" bIns="0" rtlCol="0" anchor="ctr"/>
          <a:lstStyle/>
          <a:p>
            <a:pPr algn="l" indent="0" marL="0">
              <a:buNone/>
            </a:pPr>
            <a:r>
              <a:rPr lang="en-US" sz="1000" dirty="0">
                <a:solidFill>
                  <a:srgbClr val="CBD5E1"/>
                </a:solidFill>
                <a:latin typeface="Arial" pitchFamily="34" charset="0"/>
                <a:ea typeface="Arial" pitchFamily="34" charset="-122"/>
                <a:cs typeface="Arial" pitchFamily="34" charset="-120"/>
              </a:rPr>
              <a:t>VnExpress Thể Thao  |  Báo cáo Phân tích Vấn đề &amp; Giải pháp Cải tiến Trang Lịch Thi Đấu Bóng Đá</a:t>
            </a:r>
            <a:endParaRPr lang="en-US" sz="1000" dirty="0"/>
          </a:p>
        </p:txBody>
      </p:sp>
      <p:sp>
        <p:nvSpPr>
          <p:cNvPr id="10" name="Text 8"/>
          <p:cNvSpPr/>
          <p:nvPr/>
        </p:nvSpPr>
        <p:spPr>
          <a:xfrm>
            <a:off x="10058400" y="6510528"/>
            <a:ext cx="1719072"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Trang 3 / 19</a:t>
            </a:r>
            <a:endParaRPr lang="en-US" sz="1000" dirty="0"/>
          </a:p>
        </p:txBody>
      </p:sp>
      <p:sp>
        <p:nvSpPr>
          <p:cNvPr id="11" name="Shape 9"/>
          <p:cNvSpPr/>
          <p:nvPr/>
        </p:nvSpPr>
        <p:spPr>
          <a:xfrm>
            <a:off x="411480" y="1143000"/>
            <a:ext cx="11365992" cy="5193792"/>
          </a:xfrm>
          <a:prstGeom prst="roundRect">
            <a:avLst>
              <a:gd name="adj" fmla="val 1408"/>
            </a:avLst>
          </a:prstGeom>
          <a:solidFill>
            <a:srgbClr val="FFFFFF"/>
          </a:solidFill>
          <a:ln w="15240">
            <a:solidFill>
              <a:srgbClr val="CBD5E1"/>
            </a:solidFill>
            <a:prstDash val="solid"/>
          </a:ln>
        </p:spPr>
      </p:sp>
      <p:sp>
        <p:nvSpPr>
          <p:cNvPr id="12" name="Shape 10"/>
          <p:cNvSpPr/>
          <p:nvPr/>
        </p:nvSpPr>
        <p:spPr>
          <a:xfrm>
            <a:off x="411480" y="1143000"/>
            <a:ext cx="11365992" cy="475488"/>
          </a:xfrm>
          <a:prstGeom prst="roundRect">
            <a:avLst>
              <a:gd name="adj" fmla="val 15385"/>
            </a:avLst>
          </a:prstGeom>
          <a:solidFill>
            <a:srgbClr val="1E293B"/>
          </a:solidFill>
          <a:ln w="12700">
            <a:solidFill>
              <a:srgbClr val="1E293B"/>
            </a:solidFill>
            <a:prstDash val="solid"/>
          </a:ln>
        </p:spPr>
      </p:sp>
      <p:sp>
        <p:nvSpPr>
          <p:cNvPr id="13" name="Text 11"/>
          <p:cNvSpPr/>
          <p:nvPr/>
        </p:nvSpPr>
        <p:spPr>
          <a:xfrm>
            <a:off x="621792" y="1143000"/>
            <a:ext cx="10972800" cy="475488"/>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2. BẢNG THỐNG KÊ PAGEVIEWS (VA) &amp; SEARCH CLICKS (GSC) THEO TỪNG LỚP TRANG</a:t>
            </a:r>
            <a:endParaRPr lang="en-US" sz="14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11000232" cy="4343400"/>
        </p:xfrm>
        <a:graphic>
          <a:graphicData uri="http://schemas.openxmlformats.org/drawingml/2006/table">
            <a:tbl>
              <a:tblPr/>
              <a:tblGrid>
                <a:gridCol w="502920"/>
                <a:gridCol w="1600200"/>
                <a:gridCol w="3319272"/>
                <a:gridCol w="1051560"/>
                <a:gridCol w="1234440"/>
                <a:gridCol w="1005840"/>
                <a:gridCol w="1234440"/>
                <a:gridCol w="1051560"/>
              </a:tblGrid>
              <a:tr h="542925">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STT</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Lớp trang</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Điều kiện nhận diện</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1E293B"/>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Số lượng URL</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1E293B"/>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Tổng Pageview</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1E293B"/>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Tỉ lệ PV (%)</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1E293B"/>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Search Clicks</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1E293B"/>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Tỉ lệ Clicks (%)</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1E293B"/>
                    </a:solidFill>
                  </a:tcPr>
                </a:tc>
              </a:tr>
              <a:tr h="542925">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indent="0" marL="0">
                        <a:buNone/>
                      </a:pPr>
                      <a:r>
                        <a:rPr lang="en-US" sz="1200" b="1" dirty="0">
                          <a:solidFill>
                            <a:srgbClr val="1E293B"/>
                          </a:solidFill>
                          <a:latin typeface="Arial" pitchFamily="34" charset="0"/>
                          <a:ea typeface="Arial" pitchFamily="34" charset="-122"/>
                          <a:cs typeface="Arial" pitchFamily="34" charset="-120"/>
                        </a:rPr>
                        <a:t>Lớp Trang chủ</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334155"/>
                          </a:solidFill>
                          <a:latin typeface="Arial" pitchFamily="34" charset="0"/>
                          <a:ea typeface="Arial" pitchFamily="34" charset="-122"/>
                          <a:cs typeface="Arial" pitchFamily="34" charset="-120"/>
                        </a:rPr>
                        <a:t>URL: https://vnexpress.net/the-thao/du-lieu-bong-da</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rgbClr val="000000"/>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rgbClr val="000000"/>
                          </a:solidFill>
                          <a:latin typeface="Arial" pitchFamily="34" charset="0"/>
                          <a:ea typeface="Arial" pitchFamily="34" charset="-122"/>
                          <a:cs typeface="Arial" pitchFamily="34" charset="-120"/>
                        </a:rPr>
                        <a:t>1,088,809</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rgbClr val="9F224E"/>
                          </a:solidFill>
                          <a:latin typeface="Arial" pitchFamily="34" charset="0"/>
                          <a:ea typeface="Arial" pitchFamily="34" charset="-122"/>
                          <a:cs typeface="Arial" pitchFamily="34" charset="-120"/>
                        </a:rPr>
                        <a:t>12.32%</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rgbClr val="000000"/>
                          </a:solidFill>
                          <a:latin typeface="Arial" pitchFamily="34" charset="0"/>
                          <a:ea typeface="Arial" pitchFamily="34" charset="-122"/>
                          <a:cs typeface="Arial" pitchFamily="34" charset="-120"/>
                        </a:rPr>
                        <a:t>175,917</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rgbClr val="9F224E"/>
                          </a:solidFill>
                          <a:latin typeface="Arial" pitchFamily="34" charset="0"/>
                          <a:ea typeface="Arial" pitchFamily="34" charset="-122"/>
                          <a:cs typeface="Arial" pitchFamily="34" charset="-120"/>
                        </a:rPr>
                        <a:t>13.48%</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r>
              <a:tr h="542925">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DF2F6"/>
                    </a:solidFill>
                  </a:tcPr>
                </a:tc>
                <a:tc>
                  <a:txBody>
                    <a:bodyPr/>
                    <a:lstStyle/>
                    <a:p>
                      <a:pPr indent="0" marL="0">
                        <a:buNone/>
                      </a:pPr>
                      <a:r>
                        <a:rPr lang="en-US" sz="1200" b="1" dirty="0">
                          <a:solidFill>
                            <a:srgbClr val="9F224E"/>
                          </a:solidFill>
                          <a:latin typeface="Arial" pitchFamily="34" charset="0"/>
                          <a:ea typeface="Arial" pitchFamily="34" charset="-122"/>
                          <a:cs typeface="Arial" pitchFamily="34" charset="-120"/>
                        </a:rPr>
                        <a:t>Lớp Giải đấu</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DF2F6"/>
                    </a:solidFill>
                  </a:tcPr>
                </a:tc>
                <a:tc>
                  <a:txBody>
                    <a:bodyPr/>
                    <a:lstStyle/>
                    <a:p>
                      <a:pPr indent="0" marL="0">
                        <a:buNone/>
                      </a:pPr>
                      <a:r>
                        <a:rPr lang="en-US" sz="1200" dirty="0">
                          <a:solidFill>
                            <a:srgbClr val="1E293B"/>
                          </a:solidFill>
                          <a:latin typeface="Arial" pitchFamily="34" charset="0"/>
                          <a:ea typeface="Arial" pitchFamily="34" charset="-122"/>
                          <a:cs typeface="Arial" pitchFamily="34" charset="-120"/>
                        </a:rPr>
                        <a:t>URL chứa "/giai-dau/"</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DF2F6"/>
                    </a:solidFill>
                  </a:tcPr>
                </a:tc>
                <a:tc>
                  <a:txBody>
                    <a:bodyPr/>
                    <a:lstStyle/>
                    <a:p>
                      <a:pPr algn="r" indent="0" marL="0">
                        <a:buNone/>
                      </a:pPr>
                      <a:r>
                        <a:rPr lang="en-US" sz="1200" b="1" dirty="0">
                          <a:solidFill>
                            <a:srgbClr val="000000"/>
                          </a:solidFill>
                          <a:latin typeface="Arial" pitchFamily="34" charset="0"/>
                          <a:ea typeface="Arial" pitchFamily="34" charset="-122"/>
                          <a:cs typeface="Arial" pitchFamily="34" charset="-120"/>
                        </a:rPr>
                        <a:t>116</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DF2F6"/>
                    </a:solidFill>
                  </a:tcPr>
                </a:tc>
                <a:tc>
                  <a:txBody>
                    <a:bodyPr/>
                    <a:lstStyle/>
                    <a:p>
                      <a:pPr algn="r" indent="0" marL="0">
                        <a:buNone/>
                      </a:pPr>
                      <a:r>
                        <a:rPr lang="en-US" sz="1200" b="1" dirty="0">
                          <a:solidFill>
                            <a:srgbClr val="9F224E"/>
                          </a:solidFill>
                          <a:latin typeface="Arial" pitchFamily="34" charset="0"/>
                          <a:ea typeface="Arial" pitchFamily="34" charset="-122"/>
                          <a:cs typeface="Arial" pitchFamily="34" charset="-120"/>
                        </a:rPr>
                        <a:t>5,035,986</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DF2F6"/>
                    </a:solidFill>
                  </a:tcPr>
                </a:tc>
                <a:tc>
                  <a:txBody>
                    <a:bodyPr/>
                    <a:lstStyle/>
                    <a:p>
                      <a:pPr algn="r" indent="0" marL="0">
                        <a:buNone/>
                      </a:pPr>
                      <a:r>
                        <a:rPr lang="en-US" sz="1200" b="1" dirty="0">
                          <a:solidFill>
                            <a:srgbClr val="9F224E"/>
                          </a:solidFill>
                          <a:latin typeface="Arial" pitchFamily="34" charset="0"/>
                          <a:ea typeface="Arial" pitchFamily="34" charset="-122"/>
                          <a:cs typeface="Arial" pitchFamily="34" charset="-120"/>
                        </a:rPr>
                        <a:t>56.98%</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DF2F6"/>
                    </a:solidFill>
                  </a:tcPr>
                </a:tc>
                <a:tc>
                  <a:txBody>
                    <a:bodyPr/>
                    <a:lstStyle/>
                    <a:p>
                      <a:pPr algn="r" indent="0" marL="0">
                        <a:buNone/>
                      </a:pPr>
                      <a:r>
                        <a:rPr lang="en-US" sz="1200" b="1" dirty="0">
                          <a:solidFill>
                            <a:srgbClr val="9F224E"/>
                          </a:solidFill>
                          <a:latin typeface="Arial" pitchFamily="34" charset="0"/>
                          <a:ea typeface="Arial" pitchFamily="34" charset="-122"/>
                          <a:cs typeface="Arial" pitchFamily="34" charset="-120"/>
                        </a:rPr>
                        <a:t>908,193</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DF2F6"/>
                    </a:solidFill>
                  </a:tcPr>
                </a:tc>
                <a:tc>
                  <a:txBody>
                    <a:bodyPr/>
                    <a:lstStyle/>
                    <a:p>
                      <a:pPr algn="r" indent="0" marL="0">
                        <a:buNone/>
                      </a:pPr>
                      <a:r>
                        <a:rPr lang="en-US" sz="1200" b="1" dirty="0">
                          <a:solidFill>
                            <a:srgbClr val="9F224E"/>
                          </a:solidFill>
                          <a:latin typeface="Arial" pitchFamily="34" charset="0"/>
                          <a:ea typeface="Arial" pitchFamily="34" charset="-122"/>
                          <a:cs typeface="Arial" pitchFamily="34" charset="-120"/>
                        </a:rPr>
                        <a:t>69.62%</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DF2F6"/>
                    </a:solidFill>
                  </a:tcPr>
                </a:tc>
              </a:tr>
              <a:tr h="542925">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indent="0" marL="0">
                        <a:buNone/>
                      </a:pPr>
                      <a:r>
                        <a:rPr lang="en-US" sz="1200" b="1" dirty="0">
                          <a:solidFill>
                            <a:srgbClr val="1E293B"/>
                          </a:solidFill>
                          <a:latin typeface="Arial" pitchFamily="34" charset="0"/>
                          <a:ea typeface="Arial" pitchFamily="34" charset="-122"/>
                          <a:cs typeface="Arial" pitchFamily="34" charset="-120"/>
                        </a:rPr>
                        <a:t>Lớp Trận đấu</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334155"/>
                          </a:solidFill>
                          <a:latin typeface="Arial" pitchFamily="34" charset="0"/>
                          <a:ea typeface="Arial" pitchFamily="34" charset="-122"/>
                          <a:cs typeface="Arial" pitchFamily="34" charset="-120"/>
                        </a:rPr>
                        <a:t>URL chứa "/tran-dau/"</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rgbClr val="000000"/>
                          </a:solidFill>
                          <a:latin typeface="Arial" pitchFamily="34" charset="0"/>
                          <a:ea typeface="Arial" pitchFamily="34" charset="-122"/>
                          <a:cs typeface="Arial" pitchFamily="34" charset="-120"/>
                        </a:rPr>
                        <a:t>4,420</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rgbClr val="000000"/>
                          </a:solidFill>
                          <a:latin typeface="Arial" pitchFamily="34" charset="0"/>
                          <a:ea typeface="Arial" pitchFamily="34" charset="-122"/>
                          <a:cs typeface="Arial" pitchFamily="34" charset="-120"/>
                        </a:rPr>
                        <a:t>2,070,230</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rgbClr val="000000"/>
                          </a:solidFill>
                          <a:latin typeface="Arial" pitchFamily="34" charset="0"/>
                          <a:ea typeface="Arial" pitchFamily="34" charset="-122"/>
                          <a:cs typeface="Arial" pitchFamily="34" charset="-120"/>
                        </a:rPr>
                        <a:t>23.42%</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rgbClr val="000000"/>
                          </a:solidFill>
                          <a:latin typeface="Arial" pitchFamily="34" charset="0"/>
                          <a:ea typeface="Arial" pitchFamily="34" charset="-122"/>
                          <a:cs typeface="Arial" pitchFamily="34" charset="-120"/>
                        </a:rPr>
                        <a:t>29,305</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rgbClr val="000000"/>
                          </a:solidFill>
                          <a:latin typeface="Arial" pitchFamily="34" charset="0"/>
                          <a:ea typeface="Arial" pitchFamily="34" charset="-122"/>
                          <a:cs typeface="Arial" pitchFamily="34" charset="-120"/>
                        </a:rPr>
                        <a:t>2.25%</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r>
              <a:tr h="542925">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indent="0" marL="0">
                        <a:buNone/>
                      </a:pPr>
                      <a:r>
                        <a:rPr lang="en-US" sz="1200" b="1" dirty="0">
                          <a:solidFill>
                            <a:srgbClr val="1E293B"/>
                          </a:solidFill>
                          <a:latin typeface="Arial" pitchFamily="34" charset="0"/>
                          <a:ea typeface="Arial" pitchFamily="34" charset="-122"/>
                          <a:cs typeface="Arial" pitchFamily="34" charset="-120"/>
                        </a:rPr>
                        <a:t>Lớp Đội bóng</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334155"/>
                          </a:solidFill>
                          <a:latin typeface="Arial" pitchFamily="34" charset="0"/>
                          <a:ea typeface="Arial" pitchFamily="34" charset="-122"/>
                          <a:cs typeface="Arial" pitchFamily="34" charset="-120"/>
                        </a:rPr>
                        <a:t>URL chứa "/doi-bong/"</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rgbClr val="000000"/>
                          </a:solidFill>
                          <a:latin typeface="Arial" pitchFamily="34" charset="0"/>
                          <a:ea typeface="Arial" pitchFamily="34" charset="-122"/>
                          <a:cs typeface="Arial" pitchFamily="34" charset="-120"/>
                        </a:rPr>
                        <a:t>426</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rgbClr val="000000"/>
                          </a:solidFill>
                          <a:latin typeface="Arial" pitchFamily="34" charset="0"/>
                          <a:ea typeface="Arial" pitchFamily="34" charset="-122"/>
                          <a:cs typeface="Arial" pitchFamily="34" charset="-120"/>
                        </a:rPr>
                        <a:t>496,937</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rgbClr val="000000"/>
                          </a:solidFill>
                          <a:latin typeface="Arial" pitchFamily="34" charset="0"/>
                          <a:ea typeface="Arial" pitchFamily="34" charset="-122"/>
                          <a:cs typeface="Arial" pitchFamily="34" charset="-120"/>
                        </a:rPr>
                        <a:t>5.62%</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rgbClr val="000000"/>
                          </a:solidFill>
                          <a:latin typeface="Arial" pitchFamily="34" charset="0"/>
                          <a:ea typeface="Arial" pitchFamily="34" charset="-122"/>
                          <a:cs typeface="Arial" pitchFamily="34" charset="-120"/>
                        </a:rPr>
                        <a:t>165,906</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rgbClr val="000000"/>
                          </a:solidFill>
                          <a:latin typeface="Arial" pitchFamily="34" charset="0"/>
                          <a:ea typeface="Arial" pitchFamily="34" charset="-122"/>
                          <a:cs typeface="Arial" pitchFamily="34" charset="-120"/>
                        </a:rPr>
                        <a:t>12.72%</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r>
              <a:tr h="542925">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indent="0" marL="0">
                        <a:buNone/>
                      </a:pPr>
                      <a:r>
                        <a:rPr lang="en-US" sz="1200" b="1" dirty="0">
                          <a:solidFill>
                            <a:srgbClr val="1E293B"/>
                          </a:solidFill>
                          <a:latin typeface="Arial" pitchFamily="34" charset="0"/>
                          <a:ea typeface="Arial" pitchFamily="34" charset="-122"/>
                          <a:cs typeface="Arial" pitchFamily="34" charset="-120"/>
                        </a:rPr>
                        <a:t>Lớp Cầu thủ</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334155"/>
                          </a:solidFill>
                          <a:latin typeface="Arial" pitchFamily="34" charset="0"/>
                          <a:ea typeface="Arial" pitchFamily="34" charset="-122"/>
                          <a:cs typeface="Arial" pitchFamily="34" charset="-120"/>
                        </a:rPr>
                        <a:t>URL chứa "/cau-thu/"</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rgbClr val="000000"/>
                          </a:solidFill>
                          <a:latin typeface="Arial" pitchFamily="34" charset="0"/>
                          <a:ea typeface="Arial" pitchFamily="34" charset="-122"/>
                          <a:cs typeface="Arial" pitchFamily="34" charset="-120"/>
                        </a:rPr>
                        <a:t>2,122</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rgbClr val="000000"/>
                          </a:solidFill>
                          <a:latin typeface="Arial" pitchFamily="34" charset="0"/>
                          <a:ea typeface="Arial" pitchFamily="34" charset="-122"/>
                          <a:cs typeface="Arial" pitchFamily="34" charset="-120"/>
                        </a:rPr>
                        <a:t>119,083</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rgbClr val="000000"/>
                          </a:solidFill>
                          <a:latin typeface="Arial" pitchFamily="34" charset="0"/>
                          <a:ea typeface="Arial" pitchFamily="34" charset="-122"/>
                          <a:cs typeface="Arial" pitchFamily="34" charset="-120"/>
                        </a:rPr>
                        <a:t>1.35%</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rgbClr val="000000"/>
                          </a:solidFill>
                          <a:latin typeface="Arial" pitchFamily="34" charset="0"/>
                          <a:ea typeface="Arial" pitchFamily="34" charset="-122"/>
                          <a:cs typeface="Arial" pitchFamily="34" charset="-120"/>
                        </a:rPr>
                        <a:t>24,194</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rgbClr val="000000"/>
                          </a:solidFill>
                          <a:latin typeface="Arial" pitchFamily="34" charset="0"/>
                          <a:ea typeface="Arial" pitchFamily="34" charset="-122"/>
                          <a:cs typeface="Arial" pitchFamily="34" charset="-120"/>
                        </a:rPr>
                        <a:t>1.85%</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r>
              <a:tr h="542925">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334155"/>
                          </a:solidFill>
                          <a:latin typeface="Arial" pitchFamily="34" charset="0"/>
                          <a:ea typeface="Arial" pitchFamily="34" charset="-122"/>
                          <a:cs typeface="Arial" pitchFamily="34" charset="-120"/>
                        </a:rPr>
                        <a:t>Lớp Khác / Còn lại</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334155"/>
                          </a:solidFill>
                          <a:latin typeface="Arial" pitchFamily="34" charset="0"/>
                          <a:ea typeface="Arial" pitchFamily="34" charset="-122"/>
                          <a:cs typeface="Arial" pitchFamily="34" charset="-120"/>
                        </a:rPr>
                        <a:t>Trang danh mục không dấu gạch chéo cuối, dự đoán tỷ số...</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rgbClr val="000000"/>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rgbClr val="000000"/>
                          </a:solidFill>
                          <a:latin typeface="Arial" pitchFamily="34" charset="0"/>
                          <a:ea typeface="Arial" pitchFamily="34" charset="-122"/>
                          <a:cs typeface="Arial" pitchFamily="34" charset="-120"/>
                        </a:rPr>
                        <a:t>27,473</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rgbClr val="000000"/>
                          </a:solidFill>
                          <a:latin typeface="Arial" pitchFamily="34" charset="0"/>
                          <a:ea typeface="Arial" pitchFamily="34" charset="-122"/>
                          <a:cs typeface="Arial" pitchFamily="34" charset="-120"/>
                        </a:rPr>
                        <a:t>0.31%</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rgbClr val="000000"/>
                          </a:solidFill>
                          <a:latin typeface="Arial" pitchFamily="34" charset="0"/>
                          <a:ea typeface="Arial" pitchFamily="34" charset="-122"/>
                          <a:cs typeface="Arial" pitchFamily="34" charset="-120"/>
                        </a:rPr>
                        <a:t>1,043</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rgbClr val="000000"/>
                          </a:solidFill>
                          <a:latin typeface="Arial" pitchFamily="34" charset="0"/>
                          <a:ea typeface="Arial" pitchFamily="34" charset="-122"/>
                          <a:cs typeface="Arial" pitchFamily="34" charset="-120"/>
                        </a:rPr>
                        <a:t>0.08%</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r>
              <a:tr h="542925">
                <a:tc>
                  <a:txBody>
                    <a:bodyPr/>
                    <a:lstStyle/>
                    <a:p>
                      <a:pPr indent="0" marL="0">
                        <a:buNone/>
                      </a:pP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200" b="1" dirty="0">
                          <a:solidFill>
                            <a:srgbClr val="9F224E"/>
                          </a:solidFill>
                          <a:latin typeface="Arial" pitchFamily="34" charset="0"/>
                          <a:ea typeface="Arial" pitchFamily="34" charset="-122"/>
                          <a:cs typeface="Arial" pitchFamily="34" charset="-120"/>
                        </a:rPr>
                        <a:t>TỔNG CỘNG</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200" b="1" dirty="0">
                          <a:solidFill>
                            <a:srgbClr val="1E293B"/>
                          </a:solidFill>
                          <a:latin typeface="Arial" pitchFamily="34" charset="0"/>
                          <a:ea typeface="Arial" pitchFamily="34" charset="-122"/>
                          <a:cs typeface="Arial" pitchFamily="34" charset="-120"/>
                        </a:rPr>
                        <a:t>Toàn bộ chỉ số Dữ liệu bóng đá (Search/Pageview đạt 21.12%)</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1F5F9"/>
                    </a:solidFill>
                  </a:tcPr>
                </a:tc>
                <a:tc>
                  <a:txBody>
                    <a:bodyPr/>
                    <a:lstStyle/>
                    <a:p>
                      <a:pPr algn="r" indent="0" marL="0">
                        <a:buNone/>
                      </a:pPr>
                      <a:r>
                        <a:rPr lang="en-US" sz="1200" b="1" dirty="0">
                          <a:solidFill>
                            <a:srgbClr val="1E293B"/>
                          </a:solidFill>
                          <a:latin typeface="Arial" pitchFamily="34" charset="0"/>
                          <a:ea typeface="Arial" pitchFamily="34" charset="-122"/>
                          <a:cs typeface="Arial" pitchFamily="34" charset="-120"/>
                        </a:rPr>
                        <a:t>7,093</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1F5F9"/>
                    </a:solidFill>
                  </a:tcPr>
                </a:tc>
                <a:tc>
                  <a:txBody>
                    <a:bodyPr/>
                    <a:lstStyle/>
                    <a:p>
                      <a:pPr algn="r" indent="0" marL="0">
                        <a:buNone/>
                      </a:pPr>
                      <a:r>
                        <a:rPr lang="en-US" sz="1200" b="1" dirty="0">
                          <a:solidFill>
                            <a:srgbClr val="9F224E"/>
                          </a:solidFill>
                          <a:latin typeface="Arial" pitchFamily="34" charset="0"/>
                          <a:ea typeface="Arial" pitchFamily="34" charset="-122"/>
                          <a:cs typeface="Arial" pitchFamily="34" charset="-120"/>
                        </a:rPr>
                        <a:t>8,838,518</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1F5F9"/>
                    </a:solidFill>
                  </a:tcPr>
                </a:tc>
                <a:tc>
                  <a:txBody>
                    <a:bodyPr/>
                    <a:lstStyle/>
                    <a:p>
                      <a:pPr algn="r" indent="0" marL="0">
                        <a:buNone/>
                      </a:pPr>
                      <a:r>
                        <a:rPr lang="en-US" sz="1200" b="1" dirty="0">
                          <a:solidFill>
                            <a:srgbClr val="9F224E"/>
                          </a:solidFill>
                          <a:latin typeface="Arial" pitchFamily="34" charset="0"/>
                          <a:ea typeface="Arial" pitchFamily="34" charset="-122"/>
                          <a:cs typeface="Arial" pitchFamily="34" charset="-120"/>
                        </a:rPr>
                        <a:t>100.00%</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1F5F9"/>
                    </a:solidFill>
                  </a:tcPr>
                </a:tc>
                <a:tc>
                  <a:txBody>
                    <a:bodyPr/>
                    <a:lstStyle/>
                    <a:p>
                      <a:pPr algn="r" indent="0" marL="0">
                        <a:buNone/>
                      </a:pPr>
                      <a:r>
                        <a:rPr lang="en-US" sz="1200" b="1" dirty="0">
                          <a:solidFill>
                            <a:srgbClr val="9F224E"/>
                          </a:solidFill>
                          <a:latin typeface="Arial" pitchFamily="34" charset="0"/>
                          <a:ea typeface="Arial" pitchFamily="34" charset="-122"/>
                          <a:cs typeface="Arial" pitchFamily="34" charset="-120"/>
                        </a:rPr>
                        <a:t>1,304,558</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1F5F9"/>
                    </a:solidFill>
                  </a:tcPr>
                </a:tc>
                <a:tc>
                  <a:txBody>
                    <a:bodyPr/>
                    <a:lstStyle/>
                    <a:p>
                      <a:pPr algn="r" indent="0" marL="0">
                        <a:buNone/>
                      </a:pPr>
                      <a:r>
                        <a:rPr lang="en-US" sz="1200" b="1" dirty="0">
                          <a:solidFill>
                            <a:srgbClr val="9F224E"/>
                          </a:solidFill>
                          <a:latin typeface="Arial" pitchFamily="34" charset="0"/>
                          <a:ea typeface="Arial" pitchFamily="34" charset="-122"/>
                          <a:cs typeface="Arial" pitchFamily="34" charset="-120"/>
                        </a:rPr>
                        <a:t>100.00%</a:t>
                      </a:r>
                      <a:endParaRPr lang="en-US" sz="120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9F224E"/>
          </a:solidFill>
          <a:ln w="12700">
            <a:solidFill>
              <a:srgbClr val="9F224E"/>
            </a:solidFill>
            <a:prstDash val="solid"/>
          </a:ln>
        </p:spPr>
      </p:sp>
      <p:sp>
        <p:nvSpPr>
          <p:cNvPr id="3" name="Shape 1"/>
          <p:cNvSpPr/>
          <p:nvPr/>
        </p:nvSpPr>
        <p:spPr>
          <a:xfrm>
            <a:off x="0" y="82296"/>
            <a:ext cx="12191695" cy="914400"/>
          </a:xfrm>
          <a:prstGeom prst="rect">
            <a:avLst/>
          </a:prstGeom>
          <a:solidFill>
            <a:srgbClr val="FFFFFF"/>
          </a:solidFill>
          <a:ln w="10160">
            <a:solidFill>
              <a:srgbClr val="E2E8F0"/>
            </a:solidFill>
            <a:prstDash val="solid"/>
          </a:ln>
        </p:spPr>
      </p:sp>
      <p:sp>
        <p:nvSpPr>
          <p:cNvPr id="4" name="Shape 2"/>
          <p:cNvSpPr/>
          <p:nvPr/>
        </p:nvSpPr>
        <p:spPr>
          <a:xfrm>
            <a:off x="411480" y="201168"/>
            <a:ext cx="2834640" cy="329184"/>
          </a:xfrm>
          <a:prstGeom prst="roundRect">
            <a:avLst>
              <a:gd name="adj" fmla="val 16667"/>
            </a:avLst>
          </a:prstGeom>
          <a:solidFill>
            <a:srgbClr val="9F224E"/>
          </a:solidFill>
          <a:ln w="12700">
            <a:solidFill>
              <a:srgbClr val="9F224E"/>
            </a:solidFill>
            <a:prstDash val="solid"/>
          </a:ln>
        </p:spPr>
      </p:sp>
      <p:sp>
        <p:nvSpPr>
          <p:cNvPr id="5" name="Text 3"/>
          <p:cNvSpPr/>
          <p:nvPr/>
        </p:nvSpPr>
        <p:spPr>
          <a:xfrm>
            <a:off x="411480" y="201168"/>
            <a:ext cx="2834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TỔNG QUAN • KHỐI 3 / 4</a:t>
            </a:r>
            <a:endParaRPr lang="en-US" sz="1150" dirty="0"/>
          </a:p>
        </p:txBody>
      </p:sp>
      <p:sp>
        <p:nvSpPr>
          <p:cNvPr id="6" name="Text 4"/>
          <p:cNvSpPr/>
          <p:nvPr/>
        </p:nvSpPr>
        <p:spPr>
          <a:xfrm>
            <a:off x="3383280" y="146304"/>
            <a:ext cx="8412480" cy="420624"/>
          </a:xfrm>
          <a:prstGeom prst="rect">
            <a:avLst/>
          </a:prstGeom>
          <a:noFill/>
          <a:ln/>
        </p:spPr>
        <p:txBody>
          <a:bodyPr wrap="square" lIns="0" tIns="0" rIns="0" bIns="0" rtlCol="0" anchor="ctr"/>
          <a:lstStyle/>
          <a:p>
            <a:pPr algn="l" indent="0" marL="0">
              <a:buNone/>
            </a:pPr>
            <a:r>
              <a:rPr lang="en-US" sz="2000" b="1" dirty="0">
                <a:solidFill>
                  <a:srgbClr val="1E293B"/>
                </a:solidFill>
                <a:latin typeface="Arial" pitchFamily="34" charset="0"/>
                <a:ea typeface="Arial" pitchFamily="34" charset="-122"/>
                <a:cs typeface="Arial" pitchFamily="34" charset="-120"/>
              </a:rPr>
              <a:t>Vấn đề Hiện tại 1: Ngoại Hạng Anh tăng nhưng Lịch Thi Đấu chung bị tụt</a:t>
            </a:r>
            <a:endParaRPr lang="en-US" sz="2000" dirty="0"/>
          </a:p>
        </p:txBody>
      </p:sp>
      <p:sp>
        <p:nvSpPr>
          <p:cNvPr id="7" name="Text 5"/>
          <p:cNvSpPr/>
          <p:nvPr/>
        </p:nvSpPr>
        <p:spPr>
          <a:xfrm>
            <a:off x="411480" y="594360"/>
            <a:ext cx="11338560" cy="329184"/>
          </a:xfrm>
          <a:prstGeom prst="rect">
            <a:avLst/>
          </a:prstGeom>
          <a:noFill/>
          <a:ln/>
        </p:spPr>
        <p:txBody>
          <a:bodyPr wrap="square" lIns="0" tIns="0" rIns="0" bIns="0" rtlCol="0" anchor="ctr"/>
          <a:lstStyle/>
          <a:p>
            <a:pPr algn="l" indent="0" marL="0">
              <a:buNone/>
            </a:pPr>
            <a:r>
              <a:rPr lang="en-US" sz="1250" i="1" dirty="0">
                <a:solidFill>
                  <a:srgbClr val="64748B"/>
                </a:solidFill>
                <a:latin typeface="Arial" pitchFamily="34" charset="0"/>
                <a:ea typeface="Arial" pitchFamily="34" charset="-122"/>
                <a:cs typeface="Arial" pitchFamily="34" charset="-120"/>
              </a:rPr>
              <a:t>Sự phân mảnh cấu trúc URL thành 2 nhánh độc lập làm mất cân bằng liên kết nội bộ và đứt gãy trải nghiệm</a:t>
            </a:r>
            <a:endParaRPr lang="en-US" sz="1250" dirty="0"/>
          </a:p>
        </p:txBody>
      </p:sp>
      <p:sp>
        <p:nvSpPr>
          <p:cNvPr id="8" name="Shape 6"/>
          <p:cNvSpPr/>
          <p:nvPr/>
        </p:nvSpPr>
        <p:spPr>
          <a:xfrm>
            <a:off x="0" y="6510528"/>
            <a:ext cx="12191695" cy="347472"/>
          </a:xfrm>
          <a:prstGeom prst="rect">
            <a:avLst/>
          </a:prstGeom>
          <a:solidFill>
            <a:srgbClr val="1E293B"/>
          </a:solidFill>
          <a:ln w="12700">
            <a:solidFill>
              <a:srgbClr val="1E293B"/>
            </a:solidFill>
            <a:prstDash val="solid"/>
          </a:ln>
        </p:spPr>
      </p:sp>
      <p:sp>
        <p:nvSpPr>
          <p:cNvPr id="9" name="Text 7"/>
          <p:cNvSpPr/>
          <p:nvPr/>
        </p:nvSpPr>
        <p:spPr>
          <a:xfrm>
            <a:off x="411480" y="6510528"/>
            <a:ext cx="8686800" cy="347472"/>
          </a:xfrm>
          <a:prstGeom prst="rect">
            <a:avLst/>
          </a:prstGeom>
          <a:noFill/>
          <a:ln/>
        </p:spPr>
        <p:txBody>
          <a:bodyPr wrap="square" lIns="0" tIns="0" rIns="0" bIns="0" rtlCol="0" anchor="ctr"/>
          <a:lstStyle/>
          <a:p>
            <a:pPr algn="l" indent="0" marL="0">
              <a:buNone/>
            </a:pPr>
            <a:r>
              <a:rPr lang="en-US" sz="1000" dirty="0">
                <a:solidFill>
                  <a:srgbClr val="CBD5E1"/>
                </a:solidFill>
                <a:latin typeface="Arial" pitchFamily="34" charset="0"/>
                <a:ea typeface="Arial" pitchFamily="34" charset="-122"/>
                <a:cs typeface="Arial" pitchFamily="34" charset="-120"/>
              </a:rPr>
              <a:t>VnExpress Thể Thao  |  Báo cáo Phân tích Vấn đề &amp; Giải pháp Cải tiến Trang Lịch Thi Đấu Bóng Đá</a:t>
            </a:r>
            <a:endParaRPr lang="en-US" sz="1000" dirty="0"/>
          </a:p>
        </p:txBody>
      </p:sp>
      <p:sp>
        <p:nvSpPr>
          <p:cNvPr id="10" name="Text 8"/>
          <p:cNvSpPr/>
          <p:nvPr/>
        </p:nvSpPr>
        <p:spPr>
          <a:xfrm>
            <a:off x="10058400" y="6510528"/>
            <a:ext cx="1719072"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Trang 4 / 19</a:t>
            </a:r>
            <a:endParaRPr lang="en-US" sz="1000" dirty="0"/>
          </a:p>
        </p:txBody>
      </p:sp>
      <p:sp>
        <p:nvSpPr>
          <p:cNvPr id="11" name="Shape 9"/>
          <p:cNvSpPr/>
          <p:nvPr/>
        </p:nvSpPr>
        <p:spPr>
          <a:xfrm>
            <a:off x="411480" y="1143000"/>
            <a:ext cx="11365992" cy="5193792"/>
          </a:xfrm>
          <a:prstGeom prst="roundRect">
            <a:avLst>
              <a:gd name="adj" fmla="val 1408"/>
            </a:avLst>
          </a:prstGeom>
          <a:solidFill>
            <a:srgbClr val="FFFFFF"/>
          </a:solidFill>
          <a:ln w="15240">
            <a:solidFill>
              <a:srgbClr val="CBD5E1"/>
            </a:solidFill>
            <a:prstDash val="solid"/>
          </a:ln>
        </p:spPr>
      </p:sp>
      <p:sp>
        <p:nvSpPr>
          <p:cNvPr id="12" name="Shape 10"/>
          <p:cNvSpPr/>
          <p:nvPr/>
        </p:nvSpPr>
        <p:spPr>
          <a:xfrm>
            <a:off x="411480" y="1143000"/>
            <a:ext cx="11365992" cy="475488"/>
          </a:xfrm>
          <a:prstGeom prst="roundRect">
            <a:avLst>
              <a:gd name="adj" fmla="val 15385"/>
            </a:avLst>
          </a:prstGeom>
          <a:solidFill>
            <a:srgbClr val="1E293B"/>
          </a:solidFill>
          <a:ln w="12700">
            <a:solidFill>
              <a:srgbClr val="1E293B"/>
            </a:solidFill>
            <a:prstDash val="solid"/>
          </a:ln>
        </p:spPr>
      </p:sp>
      <p:sp>
        <p:nvSpPr>
          <p:cNvPr id="13" name="Text 11"/>
          <p:cNvSpPr/>
          <p:nvPr/>
        </p:nvSpPr>
        <p:spPr>
          <a:xfrm>
            <a:off x="621792" y="1143000"/>
            <a:ext cx="10972800" cy="475488"/>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3. PHÂN TÍCH VẤN ĐỀ: NGOẠI HẠNG ANH "GÁNH" TRAFFIC &amp; CẤU TRÚC URL BỊ XẺ ĐÔI</a:t>
            </a:r>
            <a:endParaRPr lang="en-US" sz="1450" dirty="0"/>
          </a:p>
        </p:txBody>
      </p:sp>
      <p:sp>
        <p:nvSpPr>
          <p:cNvPr id="14" name="Shape 12"/>
          <p:cNvSpPr/>
          <p:nvPr/>
        </p:nvSpPr>
        <p:spPr>
          <a:xfrm>
            <a:off x="640080" y="1783080"/>
            <a:ext cx="5303520" cy="4343400"/>
          </a:xfrm>
          <a:prstGeom prst="roundRect">
            <a:avLst>
              <a:gd name="adj" fmla="val 1684"/>
            </a:avLst>
          </a:prstGeom>
          <a:solidFill>
            <a:srgbClr val="F1F5F9"/>
          </a:solidFill>
          <a:ln w="15240">
            <a:solidFill>
              <a:srgbClr val="CBD5E1"/>
            </a:solidFill>
            <a:prstDash val="solid"/>
          </a:ln>
        </p:spPr>
      </p:sp>
      <p:sp>
        <p:nvSpPr>
          <p:cNvPr id="15" name="Shape 13"/>
          <p:cNvSpPr/>
          <p:nvPr/>
        </p:nvSpPr>
        <p:spPr>
          <a:xfrm>
            <a:off x="640080" y="1783080"/>
            <a:ext cx="5303520" cy="457200"/>
          </a:xfrm>
          <a:prstGeom prst="roundRect">
            <a:avLst>
              <a:gd name="adj" fmla="val 16000"/>
            </a:avLst>
          </a:prstGeom>
          <a:solidFill>
            <a:srgbClr val="9F224E"/>
          </a:solidFill>
          <a:ln w="12700">
            <a:solidFill>
              <a:srgbClr val="9F224E"/>
            </a:solidFill>
            <a:prstDash val="solid"/>
          </a:ln>
        </p:spPr>
      </p:sp>
      <p:sp>
        <p:nvSpPr>
          <p:cNvPr id="16" name="Text 14"/>
          <p:cNvSpPr/>
          <p:nvPr/>
        </p:nvSpPr>
        <p:spPr>
          <a:xfrm>
            <a:off x="804672" y="1783080"/>
            <a:ext cx="4974336" cy="4572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1. Cụm Dữ liệu chung (du-lieu-bong-da) đang suy giảm thực sự</a:t>
            </a:r>
            <a:endParaRPr lang="en-US" sz="1350" dirty="0"/>
          </a:p>
        </p:txBody>
      </p:sp>
      <p:sp>
        <p:nvSpPr>
          <p:cNvPr id="17" name="Text 15"/>
          <p:cNvSpPr/>
          <p:nvPr/>
        </p:nvSpPr>
        <p:spPr>
          <a:xfrm>
            <a:off x="822960" y="2377440"/>
            <a:ext cx="4937760" cy="3611880"/>
          </a:xfrm>
          <a:prstGeom prst="rect">
            <a:avLst/>
          </a:prstGeom>
          <a:noFill/>
          <a:ln/>
        </p:spPr>
        <p:txBody>
          <a:bodyPr wrap="square" lIns="0" tIns="0" rIns="0" bIns="0" rtlCol="0" anchor="t"/>
          <a:lstStyle/>
          <a:p>
            <a:pPr indent="0" marL="0">
              <a:lnSpc>
                <a:spcPct val="122000"/>
              </a:lnSpc>
              <a:buNone/>
            </a:pPr>
            <a:r>
              <a:rPr lang="en-US" sz="1380" dirty="0">
                <a:solidFill>
                  <a:srgbClr val="334155"/>
                </a:solidFill>
                <a:latin typeface="Arial" pitchFamily="34" charset="0"/>
                <a:ea typeface="Arial" pitchFamily="34" charset="-122"/>
                <a:cs typeface="Arial" pitchFamily="34" charset="-120"/>
              </a:rPr>
              <a:t>• Ở tháng 8/2026, nhánh </a:t>
            </a:r>
            <a:pPr indent="0" marL="0">
              <a:lnSpc>
                <a:spcPct val="122000"/>
              </a:lnSpc>
              <a:buNone/>
            </a:pPr>
            <a:r>
              <a:rPr lang="en-US" sz="1380" b="1" dirty="0">
                <a:solidFill>
                  <a:srgbClr val="1E293B"/>
                </a:solidFill>
                <a:latin typeface="Arial" pitchFamily="34" charset="0"/>
                <a:ea typeface="Arial" pitchFamily="34" charset="-122"/>
                <a:cs typeface="Arial" pitchFamily="34" charset="-120"/>
              </a:rPr>
              <a:t>Ngoại Hạng Anh mang lại 104,377 clicks</a:t>
            </a:r>
            <a:pPr indent="0" marL="0">
              <a:lnSpc>
                <a:spcPct val="122000"/>
              </a:lnSpc>
              <a:buNone/>
            </a:pPr>
            <a:r>
              <a:rPr lang="en-US" sz="1380" dirty="0">
                <a:solidFill>
                  <a:srgbClr val="334155"/>
                </a:solidFill>
                <a:latin typeface="Arial" pitchFamily="34" charset="0"/>
                <a:ea typeface="Arial" pitchFamily="34" charset="-122"/>
                <a:cs typeface="Arial" pitchFamily="34" charset="-120"/>
              </a:rPr>
              <a:t> (chiếm tới </a:t>
            </a:r>
            <a:pPr indent="0" marL="0">
              <a:lnSpc>
                <a:spcPct val="122000"/>
              </a:lnSpc>
              <a:buNone/>
            </a:pPr>
            <a:r>
              <a:rPr lang="en-US" sz="1380" b="1" dirty="0">
                <a:solidFill>
                  <a:srgbClr val="9F224E"/>
                </a:solidFill>
                <a:latin typeface="Arial" pitchFamily="34" charset="0"/>
                <a:ea typeface="Arial" pitchFamily="34" charset="-122"/>
                <a:cs typeface="Arial" pitchFamily="34" charset="-120"/>
              </a:rPr>
              <a:t>65% tổng traffic</a:t>
            </a:r>
            <a:pPr indent="0" marL="0">
              <a:lnSpc>
                <a:spcPct val="122000"/>
              </a:lnSpc>
              <a:buNone/>
            </a:pPr>
            <a:r>
              <a:rPr lang="en-US" sz="1380" dirty="0">
                <a:solidFill>
                  <a:srgbClr val="334155"/>
                </a:solidFill>
                <a:latin typeface="Arial" pitchFamily="34" charset="0"/>
                <a:ea typeface="Arial" pitchFamily="34" charset="-122"/>
                <a:cs typeface="Arial" pitchFamily="34" charset="-120"/>
              </a:rPr>
              <a:t> toàn bộ mảng dữ liệu).
</a:t>
            </a:r>
            <a:pPr indent="0" marL="0">
              <a:lnSpc>
                <a:spcPct val="122000"/>
              </a:lnSpc>
              <a:buNone/>
            </a:pPr>
            <a:r>
              <a:rPr lang="en-US" sz="1380" dirty="0">
                <a:solidFill>
                  <a:srgbClr val="334155"/>
                </a:solidFill>
                <a:latin typeface="Arial" pitchFamily="34" charset="0"/>
                <a:ea typeface="Arial" pitchFamily="34" charset="-122"/>
                <a:cs typeface="Arial" pitchFamily="34" charset="-120"/>
              </a:rPr>
              <a:t>• Tuy nhiên, </a:t>
            </a:r>
            <a:pPr indent="0" marL="0">
              <a:lnSpc>
                <a:spcPct val="122000"/>
              </a:lnSpc>
              <a:buNone/>
            </a:pPr>
            <a:r>
              <a:rPr lang="en-US" sz="1380" b="1" dirty="0">
                <a:solidFill>
                  <a:srgbClr val="1E293B"/>
                </a:solidFill>
                <a:latin typeface="Arial" pitchFamily="34" charset="0"/>
                <a:ea typeface="Arial" pitchFamily="34" charset="-122"/>
                <a:cs typeface="Arial" pitchFamily="34" charset="-120"/>
              </a:rPr>
              <a:t>Trang Dữ liệu bóng đá</a:t>
            </a:r>
            <a:pPr indent="0" marL="0">
              <a:lnSpc>
                <a:spcPct val="122000"/>
              </a:lnSpc>
              <a:buNone/>
            </a:pPr>
            <a:r>
              <a:rPr lang="en-US" sz="1380" dirty="0">
                <a:solidFill>
                  <a:srgbClr val="334155"/>
                </a:solidFill>
                <a:latin typeface="Arial" pitchFamily="34" charset="0"/>
                <a:ea typeface="Arial" pitchFamily="34" charset="-122"/>
                <a:cs typeface="Arial" pitchFamily="34" charset="-120"/>
              </a:rPr>
              <a:t> (chứa các giải còn lại như Champions League, La Liga, Serie A, V-League...) chỉ đạt </a:t>
            </a:r>
            <a:pPr indent="0" marL="0">
              <a:lnSpc>
                <a:spcPct val="122000"/>
              </a:lnSpc>
              <a:buNone/>
            </a:pPr>
            <a:r>
              <a:rPr lang="en-US" sz="1380" b="1" dirty="0">
                <a:solidFill>
                  <a:srgbClr val="9F224E"/>
                </a:solidFill>
                <a:latin typeface="Arial" pitchFamily="34" charset="0"/>
                <a:ea typeface="Arial" pitchFamily="34" charset="-122"/>
                <a:cs typeface="Arial" pitchFamily="34" charset="-120"/>
              </a:rPr>
              <a:t>56,318 clicks</a:t>
            </a:r>
            <a:pPr indent="0" marL="0">
              <a:lnSpc>
                <a:spcPct val="122000"/>
              </a:lnSpc>
              <a:buNone/>
            </a:pPr>
            <a:r>
              <a:rPr lang="en-US" sz="1380" dirty="0">
                <a:solidFill>
                  <a:srgbClr val="334155"/>
                </a:solidFill>
                <a:latin typeface="Arial" pitchFamily="34" charset="0"/>
                <a:ea typeface="Arial" pitchFamily="34" charset="-122"/>
                <a:cs typeface="Arial" pitchFamily="34" charset="-120"/>
              </a:rPr>
              <a:t> — tụt dốc mạnh từ mức đỉnh </a:t>
            </a:r>
            <a:pPr indent="0" marL="0">
              <a:lnSpc>
                <a:spcPct val="122000"/>
              </a:lnSpc>
              <a:buNone/>
            </a:pPr>
            <a:r>
              <a:rPr lang="en-US" sz="1380" b="1" dirty="0">
                <a:solidFill>
                  <a:srgbClr val="1E293B"/>
                </a:solidFill>
                <a:latin typeface="Arial" pitchFamily="34" charset="0"/>
                <a:ea typeface="Arial" pitchFamily="34" charset="-122"/>
                <a:cs typeface="Arial" pitchFamily="34" charset="-120"/>
              </a:rPr>
              <a:t>188,901 clicks ở tháng 5/2026</a:t>
            </a:r>
            <a:pPr indent="0" marL="0">
              <a:lnSpc>
                <a:spcPct val="122000"/>
              </a:lnSpc>
              <a:buNone/>
            </a:pPr>
            <a:r>
              <a:rPr lang="en-US" sz="1380" dirty="0">
                <a:solidFill>
                  <a:srgbClr val="334155"/>
                </a:solidFill>
                <a:latin typeface="Arial" pitchFamily="34" charset="0"/>
                <a:ea typeface="Arial" pitchFamily="34" charset="-122"/>
                <a:cs typeface="Arial" pitchFamily="34" charset="-120"/>
              </a:rPr>
              <a:t> và thấp hơn nhiều so với mùa thu năm 2025 (92,000 – 104,000 clicks/tháng).
</a:t>
            </a:r>
            <a:pPr indent="0" marL="0">
              <a:lnSpc>
                <a:spcPct val="122000"/>
              </a:lnSpc>
              <a:buNone/>
            </a:pPr>
            <a:r>
              <a:rPr lang="en-US" sz="1380" dirty="0">
                <a:solidFill>
                  <a:srgbClr val="334155"/>
                </a:solidFill>
                <a:latin typeface="Arial" pitchFamily="34" charset="0"/>
                <a:ea typeface="Arial" pitchFamily="34" charset="-122"/>
                <a:cs typeface="Arial" pitchFamily="34" charset="-120"/>
              </a:rPr>
              <a:t>• Vị trí trung bình trong mùa hè 2026 (</a:t>
            </a:r>
            <a:pPr indent="0" marL="0">
              <a:lnSpc>
                <a:spcPct val="122000"/>
              </a:lnSpc>
              <a:buNone/>
            </a:pPr>
            <a:r>
              <a:rPr lang="en-US" sz="1380" b="1" dirty="0">
                <a:solidFill>
                  <a:srgbClr val="9F224E"/>
                </a:solidFill>
                <a:latin typeface="Arial" pitchFamily="34" charset="0"/>
                <a:ea typeface="Arial" pitchFamily="34" charset="-122"/>
                <a:cs typeface="Arial" pitchFamily="34" charset="-120"/>
              </a:rPr>
              <a:t>Tháng 6: hạng 8.5, Tháng 7: hạng 7.9</a:t>
            </a:r>
            <a:pPr indent="0" marL="0">
              <a:lnSpc>
                <a:spcPct val="122000"/>
              </a:lnSpc>
              <a:buNone/>
            </a:pPr>
            <a:r>
              <a:rPr lang="en-US" sz="1380" dirty="0">
                <a:solidFill>
                  <a:srgbClr val="334155"/>
                </a:solidFill>
                <a:latin typeface="Arial" pitchFamily="34" charset="0"/>
                <a:ea typeface="Arial" pitchFamily="34" charset="-122"/>
                <a:cs typeface="Arial" pitchFamily="34" charset="-120"/>
              </a:rPr>
              <a:t>) cho thấy sự tụt hạng rõ rệt trên Google khi bước vào các giải đấu mùa hè.</a:t>
            </a:r>
            <a:endParaRPr lang="en-US" sz="1380" dirty="0"/>
          </a:p>
        </p:txBody>
      </p:sp>
      <p:sp>
        <p:nvSpPr>
          <p:cNvPr id="18" name="Shape 16"/>
          <p:cNvSpPr/>
          <p:nvPr/>
        </p:nvSpPr>
        <p:spPr>
          <a:xfrm>
            <a:off x="6172200" y="1783080"/>
            <a:ext cx="5376672" cy="4343400"/>
          </a:xfrm>
          <a:prstGeom prst="roundRect">
            <a:avLst>
              <a:gd name="adj" fmla="val 1684"/>
            </a:avLst>
          </a:prstGeom>
          <a:solidFill>
            <a:srgbClr val="FDF2F6"/>
          </a:solidFill>
          <a:ln w="15240">
            <a:solidFill>
              <a:srgbClr val="E2A8BC"/>
            </a:solidFill>
            <a:prstDash val="solid"/>
          </a:ln>
        </p:spPr>
      </p:sp>
      <p:sp>
        <p:nvSpPr>
          <p:cNvPr id="19" name="Shape 17"/>
          <p:cNvSpPr/>
          <p:nvPr/>
        </p:nvSpPr>
        <p:spPr>
          <a:xfrm>
            <a:off x="6172200" y="1783080"/>
            <a:ext cx="5376672" cy="457200"/>
          </a:xfrm>
          <a:prstGeom prst="roundRect">
            <a:avLst>
              <a:gd name="adj" fmla="val 16000"/>
            </a:avLst>
          </a:prstGeom>
          <a:solidFill>
            <a:srgbClr val="1E293B"/>
          </a:solidFill>
          <a:ln w="12700">
            <a:solidFill>
              <a:srgbClr val="1E293B"/>
            </a:solidFill>
            <a:prstDash val="solid"/>
          </a:ln>
        </p:spPr>
      </p:sp>
      <p:sp>
        <p:nvSpPr>
          <p:cNvPr id="20" name="Text 18"/>
          <p:cNvSpPr/>
          <p:nvPr/>
        </p:nvSpPr>
        <p:spPr>
          <a:xfrm>
            <a:off x="6336792" y="1783080"/>
            <a:ext cx="5047488" cy="4572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2. Cấu trúc URL bị "xẻ đôi" tạo thành 2 trang độc lập</a:t>
            </a:r>
            <a:endParaRPr lang="en-US" sz="1350" dirty="0"/>
          </a:p>
        </p:txBody>
      </p:sp>
      <p:sp>
        <p:nvSpPr>
          <p:cNvPr id="21" name="Text 19"/>
          <p:cNvSpPr/>
          <p:nvPr/>
        </p:nvSpPr>
        <p:spPr>
          <a:xfrm>
            <a:off x="6355080" y="2359152"/>
            <a:ext cx="5010912" cy="3657600"/>
          </a:xfrm>
          <a:prstGeom prst="rect">
            <a:avLst/>
          </a:prstGeom>
          <a:noFill/>
          <a:ln/>
        </p:spPr>
        <p:txBody>
          <a:bodyPr wrap="square" lIns="0" tIns="0" rIns="0" bIns="0" rtlCol="0" anchor="t"/>
          <a:lstStyle/>
          <a:p>
            <a:pPr indent="0" marL="0">
              <a:lnSpc>
                <a:spcPct val="118000"/>
              </a:lnSpc>
              <a:buNone/>
            </a:pPr>
            <a:r>
              <a:rPr lang="en-US" sz="1320" b="1" dirty="0">
                <a:solidFill>
                  <a:srgbClr val="1E293B"/>
                </a:solidFill>
                <a:latin typeface="Arial" pitchFamily="34" charset="0"/>
                <a:ea typeface="Arial" pitchFamily="34" charset="-122"/>
                <a:cs typeface="Arial" pitchFamily="34" charset="-120"/>
              </a:rPr>
              <a:t>Hệ thống đang bị phân mảnh thành 2 nhánh URL riêng biệt:
</a:t>
            </a:r>
            <a:pPr indent="0" marL="0">
              <a:lnSpc>
                <a:spcPct val="118000"/>
              </a:lnSpc>
              <a:buNone/>
            </a:pPr>
            <a:r>
              <a:rPr lang="en-US" sz="1320" b="1" dirty="0">
                <a:solidFill>
                  <a:srgbClr val="9F224E"/>
                </a:solidFill>
                <a:latin typeface="Arial" pitchFamily="34" charset="0"/>
                <a:ea typeface="Arial" pitchFamily="34" charset="-122"/>
                <a:cs typeface="Arial" pitchFamily="34" charset="-120"/>
              </a:rPr>
              <a:t>   • Nhánh 1: </a:t>
            </a:r>
            <a:pPr indent="0" marL="0">
              <a:lnSpc>
                <a:spcPct val="118000"/>
              </a:lnSpc>
              <a:buNone/>
            </a:pPr>
            <a:r>
              <a:rPr lang="en-US" sz="1320" dirty="0">
                <a:solidFill>
                  <a:srgbClr val="334155"/>
                </a:solidFill>
                <a:latin typeface="Arial" pitchFamily="34" charset="0"/>
                <a:ea typeface="Arial" pitchFamily="34" charset="-122"/>
                <a:cs typeface="Arial" pitchFamily="34" charset="-120"/>
              </a:rPr>
              <a:t>vnexpress.net/the-thao/ngoai-hang-anh/
     (gồm /bang-diem, /lich-thi-dau, /ket-qua)
</a:t>
            </a:r>
            <a:pPr indent="0" marL="0">
              <a:lnSpc>
                <a:spcPct val="118000"/>
              </a:lnSpc>
              <a:buNone/>
            </a:pPr>
            <a:r>
              <a:rPr lang="en-US" sz="1320" b="1" dirty="0">
                <a:solidFill>
                  <a:srgbClr val="9F224E"/>
                </a:solidFill>
                <a:latin typeface="Arial" pitchFamily="34" charset="0"/>
                <a:ea typeface="Arial" pitchFamily="34" charset="-122"/>
                <a:cs typeface="Arial" pitchFamily="34" charset="-120"/>
              </a:rPr>
              <a:t>   • Nhánh 2: </a:t>
            </a:r>
            <a:pPr indent="0" marL="0">
              <a:lnSpc>
                <a:spcPct val="118000"/>
              </a:lnSpc>
              <a:buNone/>
            </a:pPr>
            <a:r>
              <a:rPr lang="en-US" sz="1320" dirty="0">
                <a:solidFill>
                  <a:srgbClr val="334155"/>
                </a:solidFill>
                <a:latin typeface="Arial" pitchFamily="34" charset="0"/>
                <a:ea typeface="Arial" pitchFamily="34" charset="-122"/>
                <a:cs typeface="Arial" pitchFamily="34" charset="-120"/>
              </a:rPr>
              <a:t>vnexpress.net/the-thao/du-lieu-bong-da/
     (chứa trang chủ tổng hợp &amp; /giai-dau/[slug])
</a:t>
            </a:r>
            <a:pPr indent="0" marL="0">
              <a:lnSpc>
                <a:spcPct val="118000"/>
              </a:lnSpc>
              <a:buNone/>
            </a:pPr>
            <a:r>
              <a:rPr lang="en-US" sz="1320" b="1" dirty="0">
                <a:solidFill>
                  <a:srgbClr val="9F224E"/>
                </a:solidFill>
                <a:latin typeface="Arial" pitchFamily="34" charset="0"/>
                <a:ea typeface="Arial" pitchFamily="34" charset="-122"/>
                <a:cs typeface="Arial" pitchFamily="34" charset="-120"/>
              </a:rPr>
              <a:t>Hệ quả trực tiếp:
</a:t>
            </a:r>
            <a:pPr indent="0" marL="0">
              <a:lnSpc>
                <a:spcPct val="118000"/>
              </a:lnSpc>
              <a:buNone/>
            </a:pPr>
            <a:r>
              <a:rPr lang="en-US" sz="1320" b="1" dirty="0">
                <a:solidFill>
                  <a:srgbClr val="1E293B"/>
                </a:solidFill>
                <a:latin typeface="Arial" pitchFamily="34" charset="0"/>
                <a:ea typeface="Arial" pitchFamily="34" charset="-122"/>
                <a:cs typeface="Arial" pitchFamily="34" charset="-120"/>
              </a:rPr>
              <a:t>• Mất cân bằng liên kết nội bộ: </a:t>
            </a:r>
            <a:pPr indent="0" marL="0">
              <a:lnSpc>
                <a:spcPct val="118000"/>
              </a:lnSpc>
              <a:buNone/>
            </a:pPr>
            <a:r>
              <a:rPr lang="en-US" sz="1320" dirty="0">
                <a:solidFill>
                  <a:srgbClr val="334155"/>
                </a:solidFill>
                <a:latin typeface="Arial" pitchFamily="34" charset="0"/>
                <a:ea typeface="Arial" pitchFamily="34" charset="-122"/>
                <a:cs typeface="Arial" pitchFamily="34" charset="-120"/>
              </a:rPr>
              <a:t>Nhánh Ngoại Hạng Anh nhận hơn </a:t>
            </a:r>
            <a:pPr indent="0" marL="0">
              <a:lnSpc>
                <a:spcPct val="118000"/>
              </a:lnSpc>
              <a:buNone/>
            </a:pPr>
            <a:r>
              <a:rPr lang="en-US" sz="1320" b="1" dirty="0">
                <a:solidFill>
                  <a:srgbClr val="9F224E"/>
                </a:solidFill>
                <a:latin typeface="Arial" pitchFamily="34" charset="0"/>
                <a:ea typeface="Arial" pitchFamily="34" charset="-122"/>
                <a:cs typeface="Arial" pitchFamily="34" charset="-120"/>
              </a:rPr>
              <a:t>596,000 clicks</a:t>
            </a:r>
            <a:pPr indent="0" marL="0">
              <a:lnSpc>
                <a:spcPct val="118000"/>
              </a:lnSpc>
              <a:buNone/>
            </a:pPr>
            <a:r>
              <a:rPr lang="en-US" sz="1320" dirty="0">
                <a:solidFill>
                  <a:srgbClr val="334155"/>
                </a:solidFill>
                <a:latin typeface="Arial" pitchFamily="34" charset="0"/>
                <a:ea typeface="Arial" pitchFamily="34" charset="-122"/>
                <a:cs typeface="Arial" pitchFamily="34" charset="-120"/>
              </a:rPr>
              <a:t> nhưng không chia sẻ được sức mạnh điều hướng sang trang Dữ liệu bóng đá tổng hợp.
</a:t>
            </a:r>
            <a:pPr indent="0" marL="0">
              <a:lnSpc>
                <a:spcPct val="118000"/>
              </a:lnSpc>
              <a:buNone/>
            </a:pPr>
            <a:r>
              <a:rPr lang="en-US" sz="1320" b="1" dirty="0">
                <a:solidFill>
                  <a:srgbClr val="1E293B"/>
                </a:solidFill>
                <a:latin typeface="Arial" pitchFamily="34" charset="0"/>
                <a:ea typeface="Arial" pitchFamily="34" charset="-122"/>
                <a:cs typeface="Arial" pitchFamily="34" charset="-120"/>
              </a:rPr>
              <a:t>• Đứt gãy trải nghiệm người dùng: </a:t>
            </a:r>
            <a:pPr indent="0" marL="0">
              <a:lnSpc>
                <a:spcPct val="118000"/>
              </a:lnSpc>
              <a:buNone/>
            </a:pPr>
            <a:r>
              <a:rPr lang="en-US" sz="1320" dirty="0">
                <a:solidFill>
                  <a:srgbClr val="334155"/>
                </a:solidFill>
                <a:latin typeface="Arial" pitchFamily="34" charset="0"/>
                <a:ea typeface="Arial" pitchFamily="34" charset="-122"/>
                <a:cs typeface="Arial" pitchFamily="34" charset="-120"/>
              </a:rPr>
              <a:t>Người xem Dữ liệu bóng đá muốn xem lịch NHA bị đẩy sang giao diện/menu khác; người xem NHA không thể chuyển tab nhanh sang Cúp C1 hay các giải khác trong ngày.</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9F224E"/>
          </a:solidFill>
          <a:ln w="12700">
            <a:solidFill>
              <a:srgbClr val="9F224E"/>
            </a:solidFill>
            <a:prstDash val="solid"/>
          </a:ln>
        </p:spPr>
      </p:sp>
      <p:sp>
        <p:nvSpPr>
          <p:cNvPr id="3" name="Shape 1"/>
          <p:cNvSpPr/>
          <p:nvPr/>
        </p:nvSpPr>
        <p:spPr>
          <a:xfrm>
            <a:off x="0" y="82296"/>
            <a:ext cx="12191695" cy="914400"/>
          </a:xfrm>
          <a:prstGeom prst="rect">
            <a:avLst/>
          </a:prstGeom>
          <a:solidFill>
            <a:srgbClr val="FFFFFF"/>
          </a:solidFill>
          <a:ln w="10160">
            <a:solidFill>
              <a:srgbClr val="E2E8F0"/>
            </a:solidFill>
            <a:prstDash val="solid"/>
          </a:ln>
        </p:spPr>
      </p:sp>
      <p:sp>
        <p:nvSpPr>
          <p:cNvPr id="4" name="Shape 2"/>
          <p:cNvSpPr/>
          <p:nvPr/>
        </p:nvSpPr>
        <p:spPr>
          <a:xfrm>
            <a:off x="411480" y="201168"/>
            <a:ext cx="2834640" cy="329184"/>
          </a:xfrm>
          <a:prstGeom prst="roundRect">
            <a:avLst>
              <a:gd name="adj" fmla="val 16667"/>
            </a:avLst>
          </a:prstGeom>
          <a:solidFill>
            <a:srgbClr val="9F224E"/>
          </a:solidFill>
          <a:ln w="12700">
            <a:solidFill>
              <a:srgbClr val="9F224E"/>
            </a:solidFill>
            <a:prstDash val="solid"/>
          </a:ln>
        </p:spPr>
      </p:sp>
      <p:sp>
        <p:nvSpPr>
          <p:cNvPr id="5" name="Text 3"/>
          <p:cNvSpPr/>
          <p:nvPr/>
        </p:nvSpPr>
        <p:spPr>
          <a:xfrm>
            <a:off x="411480" y="201168"/>
            <a:ext cx="2834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TỔNG QUAN • KHỐI 4 / 4</a:t>
            </a:r>
            <a:endParaRPr lang="en-US" sz="1150" dirty="0"/>
          </a:p>
        </p:txBody>
      </p:sp>
      <p:sp>
        <p:nvSpPr>
          <p:cNvPr id="6" name="Text 4"/>
          <p:cNvSpPr/>
          <p:nvPr/>
        </p:nvSpPr>
        <p:spPr>
          <a:xfrm>
            <a:off x="3383280" y="146304"/>
            <a:ext cx="8412480" cy="420624"/>
          </a:xfrm>
          <a:prstGeom prst="rect">
            <a:avLst/>
          </a:prstGeom>
          <a:noFill/>
          <a:ln/>
        </p:spPr>
        <p:txBody>
          <a:bodyPr wrap="square" lIns="0" tIns="0" rIns="0" bIns="0" rtlCol="0" anchor="ctr"/>
          <a:lstStyle/>
          <a:p>
            <a:pPr algn="l" indent="0" marL="0">
              <a:buNone/>
            </a:pPr>
            <a:r>
              <a:rPr lang="en-US" sz="2000" b="1" dirty="0">
                <a:solidFill>
                  <a:srgbClr val="1E293B"/>
                </a:solidFill>
                <a:latin typeface="Arial" pitchFamily="34" charset="0"/>
                <a:ea typeface="Arial" pitchFamily="34" charset="-122"/>
                <a:cs typeface="Arial" pitchFamily="34" charset="-120"/>
              </a:rPr>
              <a:t>Vấn đề Hiện tại 2: Hành vi Tìm kiếm &amp; Cơ chế Google SERP đã biến đổi</a:t>
            </a:r>
            <a:endParaRPr lang="en-US" sz="2000" dirty="0"/>
          </a:p>
        </p:txBody>
      </p:sp>
      <p:sp>
        <p:nvSpPr>
          <p:cNvPr id="7" name="Text 5"/>
          <p:cNvSpPr/>
          <p:nvPr/>
        </p:nvSpPr>
        <p:spPr>
          <a:xfrm>
            <a:off x="411480" y="594360"/>
            <a:ext cx="11338560" cy="329184"/>
          </a:xfrm>
          <a:prstGeom prst="rect">
            <a:avLst/>
          </a:prstGeom>
          <a:noFill/>
          <a:ln/>
        </p:spPr>
        <p:txBody>
          <a:bodyPr wrap="square" lIns="0" tIns="0" rIns="0" bIns="0" rtlCol="0" anchor="ctr"/>
          <a:lstStyle/>
          <a:p>
            <a:pPr algn="l" indent="0" marL="0">
              <a:buNone/>
            </a:pPr>
            <a:r>
              <a:rPr lang="en-US" sz="1250" i="1" dirty="0">
                <a:solidFill>
                  <a:srgbClr val="64748B"/>
                </a:solidFill>
                <a:latin typeface="Arial" pitchFamily="34" charset="0"/>
                <a:ea typeface="Arial" pitchFamily="34" charset="-122"/>
                <a:cs typeface="Arial" pitchFamily="34" charset="-120"/>
              </a:rPr>
              <a:t>Phát hiện chiến lược quan trọng nhất: Google KHÔNG hiển thị bảng dữ liệu trực tiếp (OneBox) với từ khóa tổng hợp theo ngày</a:t>
            </a:r>
            <a:endParaRPr lang="en-US" sz="1250" dirty="0"/>
          </a:p>
        </p:txBody>
      </p:sp>
      <p:sp>
        <p:nvSpPr>
          <p:cNvPr id="8" name="Shape 6"/>
          <p:cNvSpPr/>
          <p:nvPr/>
        </p:nvSpPr>
        <p:spPr>
          <a:xfrm>
            <a:off x="0" y="6510528"/>
            <a:ext cx="12191695" cy="347472"/>
          </a:xfrm>
          <a:prstGeom prst="rect">
            <a:avLst/>
          </a:prstGeom>
          <a:solidFill>
            <a:srgbClr val="1E293B"/>
          </a:solidFill>
          <a:ln w="12700">
            <a:solidFill>
              <a:srgbClr val="1E293B"/>
            </a:solidFill>
            <a:prstDash val="solid"/>
          </a:ln>
        </p:spPr>
      </p:sp>
      <p:sp>
        <p:nvSpPr>
          <p:cNvPr id="9" name="Text 7"/>
          <p:cNvSpPr/>
          <p:nvPr/>
        </p:nvSpPr>
        <p:spPr>
          <a:xfrm>
            <a:off x="411480" y="6510528"/>
            <a:ext cx="8686800" cy="347472"/>
          </a:xfrm>
          <a:prstGeom prst="rect">
            <a:avLst/>
          </a:prstGeom>
          <a:noFill/>
          <a:ln/>
        </p:spPr>
        <p:txBody>
          <a:bodyPr wrap="square" lIns="0" tIns="0" rIns="0" bIns="0" rtlCol="0" anchor="ctr"/>
          <a:lstStyle/>
          <a:p>
            <a:pPr algn="l" indent="0" marL="0">
              <a:buNone/>
            </a:pPr>
            <a:r>
              <a:rPr lang="en-US" sz="1000" dirty="0">
                <a:solidFill>
                  <a:srgbClr val="CBD5E1"/>
                </a:solidFill>
                <a:latin typeface="Arial" pitchFamily="34" charset="0"/>
                <a:ea typeface="Arial" pitchFamily="34" charset="-122"/>
                <a:cs typeface="Arial" pitchFamily="34" charset="-120"/>
              </a:rPr>
              <a:t>VnExpress Thể Thao  |  Báo cáo Phân tích Vấn đề &amp; Giải pháp Cải tiến Trang Lịch Thi Đấu Bóng Đá</a:t>
            </a:r>
            <a:endParaRPr lang="en-US" sz="1000" dirty="0"/>
          </a:p>
        </p:txBody>
      </p:sp>
      <p:sp>
        <p:nvSpPr>
          <p:cNvPr id="10" name="Text 8"/>
          <p:cNvSpPr/>
          <p:nvPr/>
        </p:nvSpPr>
        <p:spPr>
          <a:xfrm>
            <a:off x="10058400" y="6510528"/>
            <a:ext cx="1719072"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Trang 5 / 19</a:t>
            </a:r>
            <a:endParaRPr lang="en-US" sz="1000" dirty="0"/>
          </a:p>
        </p:txBody>
      </p:sp>
      <p:sp>
        <p:nvSpPr>
          <p:cNvPr id="11" name="Shape 9"/>
          <p:cNvSpPr/>
          <p:nvPr/>
        </p:nvSpPr>
        <p:spPr>
          <a:xfrm>
            <a:off x="411480" y="1143000"/>
            <a:ext cx="11365992" cy="5193792"/>
          </a:xfrm>
          <a:prstGeom prst="roundRect">
            <a:avLst>
              <a:gd name="adj" fmla="val 1408"/>
            </a:avLst>
          </a:prstGeom>
          <a:solidFill>
            <a:srgbClr val="FFFFFF"/>
          </a:solidFill>
          <a:ln w="15240">
            <a:solidFill>
              <a:srgbClr val="CBD5E1"/>
            </a:solidFill>
            <a:prstDash val="solid"/>
          </a:ln>
        </p:spPr>
      </p:sp>
      <p:sp>
        <p:nvSpPr>
          <p:cNvPr id="12" name="Shape 10"/>
          <p:cNvSpPr/>
          <p:nvPr/>
        </p:nvSpPr>
        <p:spPr>
          <a:xfrm>
            <a:off x="411480" y="1143000"/>
            <a:ext cx="11365992" cy="475488"/>
          </a:xfrm>
          <a:prstGeom prst="roundRect">
            <a:avLst>
              <a:gd name="adj" fmla="val 15385"/>
            </a:avLst>
          </a:prstGeom>
          <a:solidFill>
            <a:srgbClr val="1E293B"/>
          </a:solidFill>
          <a:ln w="12700">
            <a:solidFill>
              <a:srgbClr val="1E293B"/>
            </a:solidFill>
            <a:prstDash val="solid"/>
          </a:ln>
        </p:spPr>
      </p:sp>
      <p:sp>
        <p:nvSpPr>
          <p:cNvPr id="13" name="Text 11"/>
          <p:cNvSpPr/>
          <p:nvPr/>
        </p:nvSpPr>
        <p:spPr>
          <a:xfrm>
            <a:off x="621792" y="1143000"/>
            <a:ext cx="10972800" cy="475488"/>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4. SỰ KHÁC BIỆT VỀ CƠ CHẾ HIỂN THỊ CỦA GOOGLE &amp; Ý NGHĨA CHIẾN LƯỢC SEO</a:t>
            </a:r>
            <a:endParaRPr lang="en-US" sz="1450" dirty="0"/>
          </a:p>
        </p:txBody>
      </p:sp>
      <p:sp>
        <p:nvSpPr>
          <p:cNvPr id="14" name="Shape 12"/>
          <p:cNvSpPr/>
          <p:nvPr/>
        </p:nvSpPr>
        <p:spPr>
          <a:xfrm>
            <a:off x="640080" y="1755648"/>
            <a:ext cx="5303520" cy="2331720"/>
          </a:xfrm>
          <a:prstGeom prst="roundRect">
            <a:avLst>
              <a:gd name="adj" fmla="val 2745"/>
            </a:avLst>
          </a:prstGeom>
          <a:solidFill>
            <a:srgbClr val="F1F5F9"/>
          </a:solidFill>
          <a:ln w="15240">
            <a:solidFill>
              <a:srgbClr val="CBD5E1"/>
            </a:solidFill>
            <a:prstDash val="solid"/>
          </a:ln>
        </p:spPr>
      </p:sp>
      <p:sp>
        <p:nvSpPr>
          <p:cNvPr id="15" name="Text 13"/>
          <p:cNvSpPr/>
          <p:nvPr/>
        </p:nvSpPr>
        <p:spPr>
          <a:xfrm>
            <a:off x="822960" y="1847088"/>
            <a:ext cx="4937760" cy="320040"/>
          </a:xfrm>
          <a:prstGeom prst="rect">
            <a:avLst/>
          </a:prstGeom>
          <a:noFill/>
          <a:ln/>
        </p:spPr>
        <p:txBody>
          <a:bodyPr wrap="square" lIns="0" tIns="0" rIns="0" bIns="0" rtlCol="0" anchor="ctr"/>
          <a:lstStyle/>
          <a:p>
            <a:pPr indent="0" marL="0">
              <a:buNone/>
            </a:pPr>
            <a:r>
              <a:rPr lang="en-US" sz="1350" b="1" dirty="0">
                <a:solidFill>
                  <a:srgbClr val="1E293B"/>
                </a:solidFill>
                <a:latin typeface="Arial" pitchFamily="34" charset="0"/>
                <a:ea typeface="Arial" pitchFamily="34" charset="-122"/>
                <a:cs typeface="Arial" pitchFamily="34" charset="-120"/>
              </a:rPr>
              <a:t>A. KHI TÌM LỊCH CỦA 1 GIẢI / ĐỘI CỤ THỂ (CÓ ONEBOX)</a:t>
            </a:r>
            <a:endParaRPr lang="en-US" sz="1350" dirty="0"/>
          </a:p>
        </p:txBody>
      </p:sp>
      <p:sp>
        <p:nvSpPr>
          <p:cNvPr id="16" name="Text 14"/>
          <p:cNvSpPr/>
          <p:nvPr/>
        </p:nvSpPr>
        <p:spPr>
          <a:xfrm>
            <a:off x="822960" y="2212848"/>
            <a:ext cx="4937760" cy="1783080"/>
          </a:xfrm>
          <a:prstGeom prst="rect">
            <a:avLst/>
          </a:prstGeom>
          <a:noFill/>
          <a:ln/>
        </p:spPr>
        <p:txBody>
          <a:bodyPr wrap="square" lIns="0" tIns="0" rIns="0" bIns="0" rtlCol="0" anchor="t"/>
          <a:lstStyle/>
          <a:p>
            <a:pPr indent="0" marL="0">
              <a:lnSpc>
                <a:spcPct val="118000"/>
              </a:lnSpc>
              <a:buNone/>
            </a:pPr>
            <a:r>
              <a:rPr lang="en-US" sz="1320" b="1" dirty="0">
                <a:solidFill>
                  <a:srgbClr val="1E293B"/>
                </a:solidFill>
                <a:latin typeface="Arial" pitchFamily="34" charset="0"/>
                <a:ea typeface="Arial" pitchFamily="34" charset="-122"/>
                <a:cs typeface="Arial" pitchFamily="34" charset="-120"/>
              </a:rPr>
              <a:t>• Ví dụ truy vấn: </a:t>
            </a:r>
            <a:pPr indent="0" marL="0">
              <a:lnSpc>
                <a:spcPct val="118000"/>
              </a:lnSpc>
              <a:buNone/>
            </a:pPr>
            <a:r>
              <a:rPr lang="en-US" sz="1320" i="1" dirty="0">
                <a:solidFill>
                  <a:srgbClr val="334155"/>
                </a:solidFill>
                <a:latin typeface="Arial" pitchFamily="34" charset="0"/>
                <a:ea typeface="Arial" pitchFamily="34" charset="-122"/>
                <a:cs typeface="Arial" pitchFamily="34" charset="-120"/>
              </a:rPr>
              <a:t>"lịch thi đấu Ngoại hạng Anh", "lịch thi đấu World Cup", "lịch thi đấu MU".
</a:t>
            </a:r>
            <a:pPr indent="0" marL="0">
              <a:lnSpc>
                <a:spcPct val="118000"/>
              </a:lnSpc>
              <a:buNone/>
            </a:pPr>
            <a:r>
              <a:rPr lang="en-US" sz="1320" b="1" dirty="0">
                <a:solidFill>
                  <a:srgbClr val="1E293B"/>
                </a:solidFill>
                <a:latin typeface="Arial" pitchFamily="34" charset="0"/>
                <a:ea typeface="Arial" pitchFamily="34" charset="-122"/>
                <a:cs typeface="Arial" pitchFamily="34" charset="-120"/>
              </a:rPr>
              <a:t>• Cơ chế Google: </a:t>
            </a:r>
            <a:pPr indent="0" marL="0">
              <a:lnSpc>
                <a:spcPct val="118000"/>
              </a:lnSpc>
              <a:buNone/>
            </a:pPr>
            <a:r>
              <a:rPr lang="en-US" sz="1320" dirty="0">
                <a:solidFill>
                  <a:srgbClr val="334155"/>
                </a:solidFill>
                <a:latin typeface="Arial" pitchFamily="34" charset="0"/>
                <a:ea typeface="Arial" pitchFamily="34" charset="-122"/>
                <a:cs typeface="Arial" pitchFamily="34" charset="-120"/>
              </a:rPr>
              <a:t>Kích hoạt ngay </a:t>
            </a:r>
            <a:pPr indent="0" marL="0">
              <a:lnSpc>
                <a:spcPct val="118000"/>
              </a:lnSpc>
              <a:buNone/>
            </a:pPr>
            <a:r>
              <a:rPr lang="en-US" sz="1320" b="1" dirty="0">
                <a:solidFill>
                  <a:srgbClr val="9F224E"/>
                </a:solidFill>
                <a:latin typeface="Arial" pitchFamily="34" charset="0"/>
                <a:ea typeface="Arial" pitchFamily="34" charset="-122"/>
                <a:cs typeface="Arial" pitchFamily="34" charset="-120"/>
              </a:rPr>
              <a:t>Google Sports OneBox</a:t>
            </a:r>
            <a:pPr indent="0" marL="0">
              <a:lnSpc>
                <a:spcPct val="118000"/>
              </a:lnSpc>
              <a:buNone/>
            </a:pPr>
            <a:r>
              <a:rPr lang="en-US" sz="1320" dirty="0">
                <a:solidFill>
                  <a:srgbClr val="334155"/>
                </a:solidFill>
                <a:latin typeface="Arial" pitchFamily="34" charset="0"/>
                <a:ea typeface="Arial" pitchFamily="34" charset="-122"/>
                <a:cs typeface="Arial" pitchFamily="34" charset="-120"/>
              </a:rPr>
              <a:t> (bảng dữ liệu trực tiếp của Google) chiếm trọn màn hình đầu tiên trên điện thoại.
</a:t>
            </a:r>
            <a:pPr indent="0" marL="0">
              <a:lnSpc>
                <a:spcPct val="118000"/>
              </a:lnSpc>
              <a:buNone/>
            </a:pPr>
            <a:r>
              <a:rPr lang="en-US" sz="1320" b="1" dirty="0">
                <a:solidFill>
                  <a:srgbClr val="1E293B"/>
                </a:solidFill>
                <a:latin typeface="Arial" pitchFamily="34" charset="0"/>
                <a:ea typeface="Arial" pitchFamily="34" charset="-122"/>
                <a:cs typeface="Arial" pitchFamily="34" charset="-120"/>
              </a:rPr>
              <a:t>• Hệ quả: </a:t>
            </a:r>
            <a:pPr indent="0" marL="0">
              <a:lnSpc>
                <a:spcPct val="118000"/>
              </a:lnSpc>
              <a:buNone/>
            </a:pPr>
            <a:r>
              <a:rPr lang="en-US" sz="1320" b="1" dirty="0">
                <a:solidFill>
                  <a:srgbClr val="9F224E"/>
                </a:solidFill>
                <a:latin typeface="Arial" pitchFamily="34" charset="0"/>
                <a:ea typeface="Arial" pitchFamily="34" charset="-122"/>
                <a:cs typeface="Arial" pitchFamily="34" charset="-120"/>
              </a:rPr>
              <a:t>Tạo ra tỷ lệ Zero-Click Search rất cao (~70%)</a:t>
            </a:r>
            <a:pPr indent="0" marL="0">
              <a:lnSpc>
                <a:spcPct val="118000"/>
              </a:lnSpc>
              <a:buNone/>
            </a:pPr>
            <a:r>
              <a:rPr lang="en-US" sz="1320" dirty="0">
                <a:solidFill>
                  <a:srgbClr val="334155"/>
                </a:solidFill>
                <a:latin typeface="Arial" pitchFamily="34" charset="0"/>
                <a:ea typeface="Arial" pitchFamily="34" charset="-122"/>
                <a:cs typeface="Arial" pitchFamily="34" charset="-120"/>
              </a:rPr>
              <a:t> — người dùng xem xong giờ thi đấu trên Google rồi thoát ra.</a:t>
            </a:r>
            <a:endParaRPr lang="en-US" sz="1320" dirty="0"/>
          </a:p>
        </p:txBody>
      </p:sp>
      <p:sp>
        <p:nvSpPr>
          <p:cNvPr id="17" name="Shape 15"/>
          <p:cNvSpPr/>
          <p:nvPr/>
        </p:nvSpPr>
        <p:spPr>
          <a:xfrm>
            <a:off x="6172200" y="1755648"/>
            <a:ext cx="5376672" cy="2331720"/>
          </a:xfrm>
          <a:prstGeom prst="roundRect">
            <a:avLst>
              <a:gd name="adj" fmla="val 2745"/>
            </a:avLst>
          </a:prstGeom>
          <a:solidFill>
            <a:srgbClr val="FDF2F6"/>
          </a:solidFill>
          <a:ln w="15240">
            <a:solidFill>
              <a:srgbClr val="E2A8BC"/>
            </a:solidFill>
            <a:prstDash val="solid"/>
          </a:ln>
        </p:spPr>
      </p:sp>
      <p:sp>
        <p:nvSpPr>
          <p:cNvPr id="18" name="Text 16"/>
          <p:cNvSpPr/>
          <p:nvPr/>
        </p:nvSpPr>
        <p:spPr>
          <a:xfrm>
            <a:off x="6355080" y="1847088"/>
            <a:ext cx="5010912" cy="320040"/>
          </a:xfrm>
          <a:prstGeom prst="rect">
            <a:avLst/>
          </a:prstGeom>
          <a:noFill/>
          <a:ln/>
        </p:spPr>
        <p:txBody>
          <a:bodyPr wrap="square" lIns="0" tIns="0" rIns="0" bIns="0" rtlCol="0" anchor="ctr"/>
          <a:lstStyle/>
          <a:p>
            <a:pPr indent="0" marL="0">
              <a:buNone/>
            </a:pPr>
            <a:r>
              <a:rPr lang="en-US" sz="1350" b="1" dirty="0">
                <a:solidFill>
                  <a:srgbClr val="9F224E"/>
                </a:solidFill>
                <a:latin typeface="Arial" pitchFamily="34" charset="0"/>
                <a:ea typeface="Arial" pitchFamily="34" charset="-122"/>
                <a:cs typeface="Arial" pitchFamily="34" charset="-120"/>
              </a:rPr>
              <a:t>B. KHI TÌM TỪ KHÓA TỔNG HỢP TRONG NGÀY (KHÔNG ONEBOX)</a:t>
            </a:r>
            <a:endParaRPr lang="en-US" sz="1350" dirty="0"/>
          </a:p>
        </p:txBody>
      </p:sp>
      <p:sp>
        <p:nvSpPr>
          <p:cNvPr id="19" name="Text 17"/>
          <p:cNvSpPr/>
          <p:nvPr/>
        </p:nvSpPr>
        <p:spPr>
          <a:xfrm>
            <a:off x="6355080" y="2212848"/>
            <a:ext cx="5010912" cy="1783080"/>
          </a:xfrm>
          <a:prstGeom prst="rect">
            <a:avLst/>
          </a:prstGeom>
          <a:noFill/>
          <a:ln/>
        </p:spPr>
        <p:txBody>
          <a:bodyPr wrap="square" lIns="0" tIns="0" rIns="0" bIns="0" rtlCol="0" anchor="t"/>
          <a:lstStyle/>
          <a:p>
            <a:pPr indent="0" marL="0">
              <a:lnSpc>
                <a:spcPct val="118000"/>
              </a:lnSpc>
              <a:buNone/>
            </a:pPr>
            <a:r>
              <a:rPr lang="en-US" sz="1320" b="1" dirty="0">
                <a:solidFill>
                  <a:srgbClr val="1E293B"/>
                </a:solidFill>
                <a:latin typeface="Arial" pitchFamily="34" charset="0"/>
                <a:ea typeface="Arial" pitchFamily="34" charset="-122"/>
                <a:cs typeface="Arial" pitchFamily="34" charset="-120"/>
              </a:rPr>
              <a:t>• Ví dụ truy vấn: </a:t>
            </a:r>
            <a:pPr indent="0" marL="0">
              <a:lnSpc>
                <a:spcPct val="118000"/>
              </a:lnSpc>
              <a:buNone/>
            </a:pPr>
            <a:r>
              <a:rPr lang="en-US" sz="1320" i="1" dirty="0">
                <a:solidFill>
                  <a:srgbClr val="334155"/>
                </a:solidFill>
                <a:latin typeface="Arial" pitchFamily="34" charset="0"/>
                <a:ea typeface="Arial" pitchFamily="34" charset="-122"/>
                <a:cs typeface="Arial" pitchFamily="34" charset="-120"/>
              </a:rPr>
              <a:t>"lịch thi đấu bóng đá hôm nay", "lịch bóng đá tối nay", "tối nay ai đá", "ltd bd hom nay", "kqbd hôm nay".
</a:t>
            </a:r>
            <a:pPr indent="0" marL="0">
              <a:lnSpc>
                <a:spcPct val="118000"/>
              </a:lnSpc>
              <a:buNone/>
            </a:pPr>
            <a:r>
              <a:rPr lang="en-US" sz="1320" b="1" dirty="0">
                <a:solidFill>
                  <a:srgbClr val="1E293B"/>
                </a:solidFill>
                <a:latin typeface="Arial" pitchFamily="34" charset="0"/>
                <a:ea typeface="Arial" pitchFamily="34" charset="-122"/>
                <a:cs typeface="Arial" pitchFamily="34" charset="-120"/>
              </a:rPr>
              <a:t>• Cơ chế Google: </a:t>
            </a:r>
            <a:pPr indent="0" marL="0">
              <a:lnSpc>
                <a:spcPct val="118000"/>
              </a:lnSpc>
              <a:buNone/>
            </a:pPr>
            <a:r>
              <a:rPr lang="en-US" sz="1320" dirty="0">
                <a:solidFill>
                  <a:srgbClr val="334155"/>
                </a:solidFill>
                <a:latin typeface="Arial" pitchFamily="34" charset="0"/>
                <a:ea typeface="Arial" pitchFamily="34" charset="-122"/>
                <a:cs typeface="Arial" pitchFamily="34" charset="-120"/>
              </a:rPr>
              <a:t>Vì truy vấn không gắn với giải đấu cố định nào, Google </a:t>
            </a:r>
            <a:pPr indent="0" marL="0">
              <a:lnSpc>
                <a:spcPct val="118000"/>
              </a:lnSpc>
              <a:buNone/>
            </a:pPr>
            <a:r>
              <a:rPr lang="en-US" sz="1320" b="1" dirty="0">
                <a:solidFill>
                  <a:srgbClr val="9F224E"/>
                </a:solidFill>
                <a:latin typeface="Arial" pitchFamily="34" charset="0"/>
                <a:ea typeface="Arial" pitchFamily="34" charset="-122"/>
                <a:cs typeface="Arial" pitchFamily="34" charset="-120"/>
              </a:rPr>
              <a:t>KHÔNG hiển thị bảng Sports OneBox</a:t>
            </a:r>
            <a:pPr indent="0" marL="0">
              <a:lnSpc>
                <a:spcPct val="118000"/>
              </a:lnSpc>
              <a:buNone/>
            </a:pPr>
            <a:r>
              <a:rPr lang="en-US" sz="1320" dirty="0">
                <a:solidFill>
                  <a:srgbClr val="334155"/>
                </a:solidFill>
                <a:latin typeface="Arial" pitchFamily="34" charset="0"/>
                <a:ea typeface="Arial" pitchFamily="34" charset="-122"/>
                <a:cs typeface="Arial" pitchFamily="34" charset="-120"/>
              </a:rPr>
              <a:t> mà trả về </a:t>
            </a:r>
            <a:pPr indent="0" marL="0">
              <a:lnSpc>
                <a:spcPct val="118000"/>
              </a:lnSpc>
              <a:buNone/>
            </a:pPr>
            <a:r>
              <a:rPr lang="en-US" sz="1320" b="1" dirty="0">
                <a:solidFill>
                  <a:srgbClr val="1E293B"/>
                </a:solidFill>
                <a:latin typeface="Arial" pitchFamily="34" charset="0"/>
                <a:ea typeface="Arial" pitchFamily="34" charset="-122"/>
                <a:cs typeface="Arial" pitchFamily="34" charset="-120"/>
              </a:rPr>
              <a:t>100% kết quả tự nhiên (Organic Blue Links)</a:t>
            </a:r>
            <a:pPr indent="0" marL="0">
              <a:lnSpc>
                <a:spcPct val="118000"/>
              </a:lnSpc>
              <a:buNone/>
            </a:pPr>
            <a:r>
              <a:rPr lang="en-US" sz="1320" dirty="0">
                <a:solidFill>
                  <a:srgbClr val="334155"/>
                </a:solidFill>
                <a:latin typeface="Arial" pitchFamily="34" charset="0"/>
                <a:ea typeface="Arial" pitchFamily="34" charset="-122"/>
                <a:cs typeface="Arial" pitchFamily="34" charset="-120"/>
              </a:rPr>
              <a:t>!</a:t>
            </a:r>
            <a:endParaRPr lang="en-US" sz="1320" dirty="0"/>
          </a:p>
        </p:txBody>
      </p:sp>
      <p:sp>
        <p:nvSpPr>
          <p:cNvPr id="20" name="Shape 18"/>
          <p:cNvSpPr/>
          <p:nvPr/>
        </p:nvSpPr>
        <p:spPr>
          <a:xfrm>
            <a:off x="640080" y="4251960"/>
            <a:ext cx="10908792" cy="1874520"/>
          </a:xfrm>
          <a:prstGeom prst="roundRect">
            <a:avLst>
              <a:gd name="adj" fmla="val 3415"/>
            </a:avLst>
          </a:prstGeom>
          <a:solidFill>
            <a:srgbClr val="F1F5F9"/>
          </a:solidFill>
          <a:ln w="15240">
            <a:solidFill>
              <a:srgbClr val="CBD5E1"/>
            </a:solidFill>
            <a:prstDash val="solid"/>
          </a:ln>
        </p:spPr>
      </p:sp>
      <p:sp>
        <p:nvSpPr>
          <p:cNvPr id="21" name="Text 19"/>
          <p:cNvSpPr/>
          <p:nvPr/>
        </p:nvSpPr>
        <p:spPr>
          <a:xfrm>
            <a:off x="822960" y="4370832"/>
            <a:ext cx="10515600" cy="320040"/>
          </a:xfrm>
          <a:prstGeom prst="rect">
            <a:avLst/>
          </a:prstGeom>
          <a:noFill/>
          <a:ln/>
        </p:spPr>
        <p:txBody>
          <a:bodyPr wrap="square" lIns="0" tIns="0" rIns="0" bIns="0" rtlCol="0" anchor="ctr"/>
          <a:lstStyle/>
          <a:p>
            <a:pPr indent="0" marL="0">
              <a:buNone/>
            </a:pPr>
            <a:r>
              <a:rPr lang="en-US" sz="1450" b="1" dirty="0">
                <a:solidFill>
                  <a:srgbClr val="9F224E"/>
                </a:solidFill>
                <a:latin typeface="Arial" pitchFamily="34" charset="0"/>
                <a:ea typeface="Arial" pitchFamily="34" charset="-122"/>
                <a:cs typeface="Arial" pitchFamily="34" charset="-120"/>
              </a:rPr>
              <a:t>Ý NGHĨA ĐỐI VỚI HIỆU QUẢ CHIẾN LƯỢC SEO CỦA VNEXPRESS:</a:t>
            </a:r>
            <a:endParaRPr lang="en-US" sz="1450" dirty="0"/>
          </a:p>
        </p:txBody>
      </p:sp>
      <p:sp>
        <p:nvSpPr>
          <p:cNvPr id="22" name="Text 20"/>
          <p:cNvSpPr/>
          <p:nvPr/>
        </p:nvSpPr>
        <p:spPr>
          <a:xfrm>
            <a:off x="822960" y="4736592"/>
            <a:ext cx="10515600" cy="1280160"/>
          </a:xfrm>
          <a:prstGeom prst="rect">
            <a:avLst/>
          </a:prstGeom>
          <a:noFill/>
          <a:ln/>
        </p:spPr>
        <p:txBody>
          <a:bodyPr wrap="square" lIns="0" tIns="0" rIns="0" bIns="0" rtlCol="0" anchor="t"/>
          <a:lstStyle/>
          <a:p>
            <a:pPr indent="0" marL="0">
              <a:lnSpc>
                <a:spcPct val="122000"/>
              </a:lnSpc>
              <a:buNone/>
            </a:pPr>
            <a:r>
              <a:rPr lang="en-US" sz="1380" b="1" dirty="0">
                <a:solidFill>
                  <a:srgbClr val="1E293B"/>
                </a:solidFill>
                <a:latin typeface="Arial" pitchFamily="34" charset="0"/>
                <a:ea typeface="Arial" pitchFamily="34" charset="-122"/>
                <a:cs typeface="Arial" pitchFamily="34" charset="-120"/>
              </a:rPr>
              <a:t>1. Miễn nhiễm với Zero-Click Search: </a:t>
            </a:r>
            <a:pPr indent="0" marL="0">
              <a:lnSpc>
                <a:spcPct val="122000"/>
              </a:lnSpc>
              <a:buNone/>
            </a:pPr>
            <a:r>
              <a:rPr lang="en-US" sz="1380" dirty="0">
                <a:solidFill>
                  <a:srgbClr val="334155"/>
                </a:solidFill>
                <a:latin typeface="Arial" pitchFamily="34" charset="0"/>
                <a:ea typeface="Arial" pitchFamily="34" charset="-122"/>
                <a:cs typeface="Arial" pitchFamily="34" charset="-120"/>
              </a:rPr>
              <a:t>Vì Google không trả lời trực tiếp trên SERP, gần như </a:t>
            </a:r>
            <a:pPr indent="0" marL="0">
              <a:lnSpc>
                <a:spcPct val="122000"/>
              </a:lnSpc>
              <a:buNone/>
            </a:pPr>
            <a:r>
              <a:rPr lang="en-US" sz="1380" b="1" dirty="0">
                <a:solidFill>
                  <a:srgbClr val="9F224E"/>
                </a:solidFill>
                <a:latin typeface="Arial" pitchFamily="34" charset="0"/>
                <a:ea typeface="Arial" pitchFamily="34" charset="-122"/>
                <a:cs typeface="Arial" pitchFamily="34" charset="-120"/>
              </a:rPr>
              <a:t>100% trong số 4.6 triệu lượt tìm kiếm/tháng (nhóm Lịch)</a:t>
            </a:r>
            <a:pPr indent="0" marL="0">
              <a:lnSpc>
                <a:spcPct val="122000"/>
              </a:lnSpc>
              <a:buNone/>
            </a:pPr>
            <a:r>
              <a:rPr lang="en-US" sz="1380" dirty="0">
                <a:solidFill>
                  <a:srgbClr val="334155"/>
                </a:solidFill>
                <a:latin typeface="Arial" pitchFamily="34" charset="0"/>
                <a:ea typeface="Arial" pitchFamily="34" charset="-122"/>
                <a:cs typeface="Arial" pitchFamily="34" charset="-120"/>
              </a:rPr>
              <a:t> và </a:t>
            </a:r>
            <a:pPr indent="0" marL="0">
              <a:lnSpc>
                <a:spcPct val="122000"/>
              </a:lnSpc>
              <a:buNone/>
            </a:pPr>
            <a:r>
              <a:rPr lang="en-US" sz="1380" b="1" dirty="0">
                <a:solidFill>
                  <a:srgbClr val="9F224E"/>
                </a:solidFill>
                <a:latin typeface="Arial" pitchFamily="34" charset="0"/>
                <a:ea typeface="Arial" pitchFamily="34" charset="-122"/>
                <a:cs typeface="Arial" pitchFamily="34" charset="-120"/>
              </a:rPr>
              <a:t>11.5M – 13.8M lượt tìm kiếm/tháng (nhóm Kết quả)</a:t>
            </a:r>
            <a:pPr indent="0" marL="0">
              <a:lnSpc>
                <a:spcPct val="122000"/>
              </a:lnSpc>
              <a:buNone/>
            </a:pPr>
            <a:r>
              <a:rPr lang="en-US" sz="1380" dirty="0">
                <a:solidFill>
                  <a:srgbClr val="334155"/>
                </a:solidFill>
                <a:latin typeface="Arial" pitchFamily="34" charset="0"/>
                <a:ea typeface="Arial" pitchFamily="34" charset="-122"/>
                <a:cs typeface="Arial" pitchFamily="34" charset="-120"/>
              </a:rPr>
              <a:t> buộc phải nhấp (click) vào các trang web nằm trong Top 1–5.
</a:t>
            </a:r>
            <a:pPr indent="0" marL="0">
              <a:lnSpc>
                <a:spcPct val="122000"/>
              </a:lnSpc>
              <a:buNone/>
            </a:pPr>
            <a:r>
              <a:rPr lang="en-US" sz="1380" b="1" dirty="0">
                <a:solidFill>
                  <a:srgbClr val="1E293B"/>
                </a:solidFill>
                <a:latin typeface="Arial" pitchFamily="34" charset="0"/>
                <a:ea typeface="Arial" pitchFamily="34" charset="-122"/>
                <a:cs typeface="Arial" pitchFamily="34" charset="-120"/>
              </a:rPr>
              <a:t>2. Tỷ lệ CTR cực đại ở Top 1–3 trên Mobile: </a:t>
            </a:r>
            <a:pPr indent="0" marL="0">
              <a:lnSpc>
                <a:spcPct val="122000"/>
              </a:lnSpc>
              <a:buNone/>
            </a:pPr>
            <a:r>
              <a:rPr lang="en-US" sz="1380" dirty="0">
                <a:solidFill>
                  <a:srgbClr val="334155"/>
                </a:solidFill>
                <a:latin typeface="Arial" pitchFamily="34" charset="0"/>
                <a:ea typeface="Arial" pitchFamily="34" charset="-122"/>
                <a:cs typeface="Arial" pitchFamily="34" charset="-120"/>
              </a:rPr>
              <a:t>Với </a:t>
            </a:r>
            <a:pPr indent="0" marL="0">
              <a:lnSpc>
                <a:spcPct val="122000"/>
              </a:lnSpc>
              <a:buNone/>
            </a:pPr>
            <a:r>
              <a:rPr lang="en-US" sz="1380" b="1" dirty="0">
                <a:solidFill>
                  <a:srgbClr val="1E293B"/>
                </a:solidFill>
                <a:latin typeface="Arial" pitchFamily="34" charset="0"/>
                <a:ea typeface="Arial" pitchFamily="34" charset="-122"/>
                <a:cs typeface="Arial" pitchFamily="34" charset="-120"/>
              </a:rPr>
              <a:t>92.5% – 93.8% người dùng dùng điện thoại (Mobile)</a:t>
            </a:r>
            <a:pPr indent="0" marL="0">
              <a:lnSpc>
                <a:spcPct val="122000"/>
              </a:lnSpc>
              <a:buNone/>
            </a:pPr>
            <a:r>
              <a:rPr lang="en-US" sz="1380" dirty="0">
                <a:solidFill>
                  <a:srgbClr val="334155"/>
                </a:solidFill>
                <a:latin typeface="Arial" pitchFamily="34" charset="0"/>
                <a:ea typeface="Arial" pitchFamily="34" charset="-122"/>
                <a:cs typeface="Arial" pitchFamily="34" charset="-120"/>
              </a:rPr>
              <a:t>, 3 kết quả tự nhiên đầu tiên chiếm trọn màn hình đầu tiên (Above the Fold) và thu về khoảng </a:t>
            </a:r>
            <a:pPr indent="0" marL="0">
              <a:lnSpc>
                <a:spcPct val="122000"/>
              </a:lnSpc>
              <a:buNone/>
            </a:pPr>
            <a:r>
              <a:rPr lang="en-US" sz="1380" b="1" dirty="0">
                <a:solidFill>
                  <a:srgbClr val="9F224E"/>
                </a:solidFill>
                <a:latin typeface="Arial" pitchFamily="34" charset="0"/>
                <a:ea typeface="Arial" pitchFamily="34" charset="-122"/>
                <a:cs typeface="Arial" pitchFamily="34" charset="-120"/>
              </a:rPr>
              <a:t>70% – 80% tổng lượng Clicks</a:t>
            </a:r>
            <a:pPr indent="0" marL="0">
              <a:lnSpc>
                <a:spcPct val="122000"/>
              </a:lnSpc>
              <a:buNone/>
            </a:pPr>
            <a:r>
              <a:rPr lang="en-US" sz="1380" dirty="0">
                <a:solidFill>
                  <a:srgbClr val="334155"/>
                </a:solidFill>
                <a:latin typeface="Arial" pitchFamily="34" charset="0"/>
                <a:ea typeface="Arial" pitchFamily="34" charset="-122"/>
                <a:cs typeface="Arial" pitchFamily="34" charset="-120"/>
              </a:rPr>
              <a:t> của toàn bộ trang tìm kiếm.</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9F224E"/>
          </a:solidFill>
          <a:ln w="12700">
            <a:solidFill>
              <a:srgbClr val="9F224E"/>
            </a:solidFill>
            <a:prstDash val="solid"/>
          </a:ln>
        </p:spPr>
      </p:sp>
      <p:sp>
        <p:nvSpPr>
          <p:cNvPr id="3" name="Shape 1"/>
          <p:cNvSpPr/>
          <p:nvPr/>
        </p:nvSpPr>
        <p:spPr>
          <a:xfrm>
            <a:off x="0" y="82296"/>
            <a:ext cx="12191695" cy="914400"/>
          </a:xfrm>
          <a:prstGeom prst="rect">
            <a:avLst/>
          </a:prstGeom>
          <a:solidFill>
            <a:srgbClr val="FFFFFF"/>
          </a:solidFill>
          <a:ln w="10160">
            <a:solidFill>
              <a:srgbClr val="E2E8F0"/>
            </a:solidFill>
            <a:prstDash val="solid"/>
          </a:ln>
        </p:spPr>
      </p:sp>
      <p:sp>
        <p:nvSpPr>
          <p:cNvPr id="4" name="Shape 2"/>
          <p:cNvSpPr/>
          <p:nvPr/>
        </p:nvSpPr>
        <p:spPr>
          <a:xfrm>
            <a:off x="411480" y="201168"/>
            <a:ext cx="2834640" cy="329184"/>
          </a:xfrm>
          <a:prstGeom prst="roundRect">
            <a:avLst>
              <a:gd name="adj" fmla="val 16667"/>
            </a:avLst>
          </a:prstGeom>
          <a:solidFill>
            <a:srgbClr val="9F224E"/>
          </a:solidFill>
          <a:ln w="12700">
            <a:solidFill>
              <a:srgbClr val="9F224E"/>
            </a:solidFill>
            <a:prstDash val="solid"/>
          </a:ln>
        </p:spPr>
      </p:sp>
      <p:sp>
        <p:nvSpPr>
          <p:cNvPr id="5" name="Text 3"/>
          <p:cNvSpPr/>
          <p:nvPr/>
        </p:nvSpPr>
        <p:spPr>
          <a:xfrm>
            <a:off x="411480" y="201168"/>
            <a:ext cx="2834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HÀNH ĐỘNG 1 • KHỐI 1 / 4</a:t>
            </a:r>
            <a:endParaRPr lang="en-US" sz="1150" dirty="0"/>
          </a:p>
        </p:txBody>
      </p:sp>
      <p:sp>
        <p:nvSpPr>
          <p:cNvPr id="6" name="Text 4"/>
          <p:cNvSpPr/>
          <p:nvPr/>
        </p:nvSpPr>
        <p:spPr>
          <a:xfrm>
            <a:off x="3383280" y="146304"/>
            <a:ext cx="8412480" cy="420624"/>
          </a:xfrm>
          <a:prstGeom prst="rect">
            <a:avLst/>
          </a:prstGeom>
          <a:noFill/>
          <a:ln/>
        </p:spPr>
        <p:txBody>
          <a:bodyPr wrap="square" lIns="0" tIns="0" rIns="0" bIns="0" rtlCol="0" anchor="ctr"/>
          <a:lstStyle/>
          <a:p>
            <a:pPr algn="l" indent="0" marL="0">
              <a:buNone/>
            </a:pPr>
            <a:r>
              <a:rPr lang="en-US" sz="2000" b="1" dirty="0">
                <a:solidFill>
                  <a:srgbClr val="1E293B"/>
                </a:solidFill>
                <a:latin typeface="Arial" pitchFamily="34" charset="0"/>
                <a:ea typeface="Arial" pitchFamily="34" charset="-122"/>
                <a:cs typeface="Arial" pitchFamily="34" charset="-120"/>
              </a:rPr>
              <a:t>Hành động 1 (Tối ưu Trang Lịch Thi Đấu Hôm Nay): Số liệu Hiện tại</a:t>
            </a:r>
            <a:endParaRPr lang="en-US" sz="2000" dirty="0"/>
          </a:p>
        </p:txBody>
      </p:sp>
      <p:sp>
        <p:nvSpPr>
          <p:cNvPr id="7" name="Text 5"/>
          <p:cNvSpPr/>
          <p:nvPr/>
        </p:nvSpPr>
        <p:spPr>
          <a:xfrm>
            <a:off x="411480" y="594360"/>
            <a:ext cx="11338560" cy="329184"/>
          </a:xfrm>
          <a:prstGeom prst="rect">
            <a:avLst/>
          </a:prstGeom>
          <a:noFill/>
          <a:ln/>
        </p:spPr>
        <p:txBody>
          <a:bodyPr wrap="square" lIns="0" tIns="0" rIns="0" bIns="0" rtlCol="0" anchor="ctr"/>
          <a:lstStyle/>
          <a:p>
            <a:pPr algn="l" indent="0" marL="0">
              <a:buNone/>
            </a:pPr>
            <a:r>
              <a:rPr lang="en-US" sz="1250" i="1" dirty="0">
                <a:solidFill>
                  <a:srgbClr val="64748B"/>
                </a:solidFill>
                <a:latin typeface="Arial" pitchFamily="34" charset="0"/>
                <a:ea typeface="Arial" pitchFamily="34" charset="-122"/>
                <a:cs typeface="Arial" pitchFamily="34" charset="-120"/>
              </a:rPr>
              <a:t>URL tác động: https://vnexpress.net/the-thao/du-lieu-bong-da (1 URL duy nhất đón bộ từ khóa 4.6 triệu lượt tìm kiếm/tháng)</a:t>
            </a:r>
            <a:endParaRPr lang="en-US" sz="1250" dirty="0"/>
          </a:p>
        </p:txBody>
      </p:sp>
      <p:sp>
        <p:nvSpPr>
          <p:cNvPr id="8" name="Shape 6"/>
          <p:cNvSpPr/>
          <p:nvPr/>
        </p:nvSpPr>
        <p:spPr>
          <a:xfrm>
            <a:off x="0" y="6510528"/>
            <a:ext cx="12191695" cy="347472"/>
          </a:xfrm>
          <a:prstGeom prst="rect">
            <a:avLst/>
          </a:prstGeom>
          <a:solidFill>
            <a:srgbClr val="1E293B"/>
          </a:solidFill>
          <a:ln w="12700">
            <a:solidFill>
              <a:srgbClr val="1E293B"/>
            </a:solidFill>
            <a:prstDash val="solid"/>
          </a:ln>
        </p:spPr>
      </p:sp>
      <p:sp>
        <p:nvSpPr>
          <p:cNvPr id="9" name="Text 7"/>
          <p:cNvSpPr/>
          <p:nvPr/>
        </p:nvSpPr>
        <p:spPr>
          <a:xfrm>
            <a:off x="411480" y="6510528"/>
            <a:ext cx="8686800" cy="347472"/>
          </a:xfrm>
          <a:prstGeom prst="rect">
            <a:avLst/>
          </a:prstGeom>
          <a:noFill/>
          <a:ln/>
        </p:spPr>
        <p:txBody>
          <a:bodyPr wrap="square" lIns="0" tIns="0" rIns="0" bIns="0" rtlCol="0" anchor="ctr"/>
          <a:lstStyle/>
          <a:p>
            <a:pPr algn="l" indent="0" marL="0">
              <a:buNone/>
            </a:pPr>
            <a:r>
              <a:rPr lang="en-US" sz="1000" dirty="0">
                <a:solidFill>
                  <a:srgbClr val="CBD5E1"/>
                </a:solidFill>
                <a:latin typeface="Arial" pitchFamily="34" charset="0"/>
                <a:ea typeface="Arial" pitchFamily="34" charset="-122"/>
                <a:cs typeface="Arial" pitchFamily="34" charset="-120"/>
              </a:rPr>
              <a:t>VnExpress Thể Thao  |  Báo cáo Phân tích Vấn đề &amp; Giải pháp Cải tiến Trang Lịch Thi Đấu Bóng Đá</a:t>
            </a:r>
            <a:endParaRPr lang="en-US" sz="1000" dirty="0"/>
          </a:p>
        </p:txBody>
      </p:sp>
      <p:sp>
        <p:nvSpPr>
          <p:cNvPr id="10" name="Text 8"/>
          <p:cNvSpPr/>
          <p:nvPr/>
        </p:nvSpPr>
        <p:spPr>
          <a:xfrm>
            <a:off x="10058400" y="6510528"/>
            <a:ext cx="1719072"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Trang 6 / 19</a:t>
            </a:r>
            <a:endParaRPr lang="en-US" sz="1000" dirty="0"/>
          </a:p>
        </p:txBody>
      </p:sp>
      <p:sp>
        <p:nvSpPr>
          <p:cNvPr id="11" name="Shape 9"/>
          <p:cNvSpPr/>
          <p:nvPr/>
        </p:nvSpPr>
        <p:spPr>
          <a:xfrm>
            <a:off x="411480" y="1143000"/>
            <a:ext cx="11365992" cy="5193792"/>
          </a:xfrm>
          <a:prstGeom prst="roundRect">
            <a:avLst>
              <a:gd name="adj" fmla="val 1408"/>
            </a:avLst>
          </a:prstGeom>
          <a:solidFill>
            <a:srgbClr val="FFFFFF"/>
          </a:solidFill>
          <a:ln w="15240">
            <a:solidFill>
              <a:srgbClr val="CBD5E1"/>
            </a:solidFill>
            <a:prstDash val="solid"/>
          </a:ln>
        </p:spPr>
      </p:sp>
      <p:sp>
        <p:nvSpPr>
          <p:cNvPr id="12" name="Shape 10"/>
          <p:cNvSpPr/>
          <p:nvPr/>
        </p:nvSpPr>
        <p:spPr>
          <a:xfrm>
            <a:off x="411480" y="1143000"/>
            <a:ext cx="11365992" cy="475488"/>
          </a:xfrm>
          <a:prstGeom prst="roundRect">
            <a:avLst>
              <a:gd name="adj" fmla="val 15385"/>
            </a:avLst>
          </a:prstGeom>
          <a:solidFill>
            <a:srgbClr val="1E293B"/>
          </a:solidFill>
          <a:ln w="12700">
            <a:solidFill>
              <a:srgbClr val="1E293B"/>
            </a:solidFill>
            <a:prstDash val="solid"/>
          </a:ln>
        </p:spPr>
      </p:sp>
      <p:sp>
        <p:nvSpPr>
          <p:cNvPr id="13" name="Text 11"/>
          <p:cNvSpPr/>
          <p:nvPr/>
        </p:nvSpPr>
        <p:spPr>
          <a:xfrm>
            <a:off x="621792" y="1143000"/>
            <a:ext cx="10972800" cy="475488"/>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1. SỐ LIỆU HIỆN TẠI &amp; ĐÁNH GIÁ THỨ HẠNG THỰC TẾ TRÊN GOOGLE SERP</a:t>
            </a:r>
            <a:endParaRPr lang="en-US" sz="1450" dirty="0"/>
          </a:p>
        </p:txBody>
      </p:sp>
      <p:sp>
        <p:nvSpPr>
          <p:cNvPr id="14" name="Shape 12"/>
          <p:cNvSpPr/>
          <p:nvPr/>
        </p:nvSpPr>
        <p:spPr>
          <a:xfrm>
            <a:off x="640080" y="1783080"/>
            <a:ext cx="2615184" cy="1572768"/>
          </a:xfrm>
          <a:prstGeom prst="roundRect">
            <a:avLst>
              <a:gd name="adj" fmla="val 4070"/>
            </a:avLst>
          </a:prstGeom>
          <a:solidFill>
            <a:srgbClr val="FDF2F6"/>
          </a:solidFill>
          <a:ln w="15240">
            <a:solidFill>
              <a:srgbClr val="E2A8BC"/>
            </a:solidFill>
            <a:prstDash val="solid"/>
          </a:ln>
        </p:spPr>
      </p:sp>
      <p:sp>
        <p:nvSpPr>
          <p:cNvPr id="15" name="Text 13"/>
          <p:cNvSpPr/>
          <p:nvPr/>
        </p:nvSpPr>
        <p:spPr>
          <a:xfrm>
            <a:off x="749808" y="1874520"/>
            <a:ext cx="2395728" cy="256032"/>
          </a:xfrm>
          <a:prstGeom prst="rect">
            <a:avLst/>
          </a:prstGeom>
          <a:noFill/>
          <a:ln/>
        </p:spPr>
        <p:txBody>
          <a:bodyPr wrap="square" lIns="0" tIns="0" rIns="0" bIns="0" rtlCol="0" anchor="ctr"/>
          <a:lstStyle/>
          <a:p>
            <a:pPr algn="ctr" indent="0" marL="0">
              <a:buNone/>
            </a:pPr>
            <a:r>
              <a:rPr lang="en-US" sz="1050" b="1" dirty="0">
                <a:solidFill>
                  <a:srgbClr val="64748B"/>
                </a:solidFill>
                <a:latin typeface="Arial" pitchFamily="34" charset="0"/>
                <a:ea typeface="Arial" pitchFamily="34" charset="-122"/>
                <a:cs typeface="Arial" pitchFamily="34" charset="-120"/>
              </a:rPr>
              <a:t>SEARCH CLICKS (15 THÁNG)</a:t>
            </a:r>
            <a:endParaRPr lang="en-US" sz="1050" dirty="0"/>
          </a:p>
        </p:txBody>
      </p:sp>
      <p:sp>
        <p:nvSpPr>
          <p:cNvPr id="16" name="Text 14"/>
          <p:cNvSpPr/>
          <p:nvPr/>
        </p:nvSpPr>
        <p:spPr>
          <a:xfrm>
            <a:off x="749808" y="2176272"/>
            <a:ext cx="2395728" cy="457200"/>
          </a:xfrm>
          <a:prstGeom prst="rect">
            <a:avLst/>
          </a:prstGeom>
          <a:noFill/>
          <a:ln/>
        </p:spPr>
        <p:txBody>
          <a:bodyPr wrap="square" lIns="0" tIns="0" rIns="0" bIns="0" rtlCol="0" anchor="ctr"/>
          <a:lstStyle/>
          <a:p>
            <a:pPr algn="ctr" indent="0" marL="0">
              <a:buNone/>
            </a:pPr>
            <a:r>
              <a:rPr lang="en-US" sz="2100" b="1" dirty="0">
                <a:solidFill>
                  <a:srgbClr val="9F224E"/>
                </a:solidFill>
                <a:latin typeface="Arial" pitchFamily="34" charset="0"/>
                <a:ea typeface="Arial" pitchFamily="34" charset="-122"/>
                <a:cs typeface="Arial" pitchFamily="34" charset="-120"/>
              </a:rPr>
              <a:t>175,917</a:t>
            </a:r>
            <a:endParaRPr lang="en-US" sz="2100" dirty="0"/>
          </a:p>
        </p:txBody>
      </p:sp>
      <p:sp>
        <p:nvSpPr>
          <p:cNvPr id="17" name="Text 15"/>
          <p:cNvSpPr/>
          <p:nvPr/>
        </p:nvSpPr>
        <p:spPr>
          <a:xfrm>
            <a:off x="749808" y="2697480"/>
            <a:ext cx="2395728" cy="548640"/>
          </a:xfrm>
          <a:prstGeom prst="rect">
            <a:avLst/>
          </a:prstGeom>
          <a:noFill/>
          <a:ln/>
        </p:spPr>
        <p:txBody>
          <a:bodyPr wrap="square" lIns="0" tIns="0" rIns="0" bIns="0" rtlCol="0" anchor="ctr"/>
          <a:lstStyle/>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Trung bình ~11,700 clicks/tháng</a:t>
            </a:r>
            <a:endParaRPr lang="en-US" sz="1100" dirty="0"/>
          </a:p>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(Chiếm 13.48% toàn trang)</a:t>
            </a:r>
            <a:endParaRPr lang="en-US" sz="1100" dirty="0"/>
          </a:p>
        </p:txBody>
      </p:sp>
      <p:sp>
        <p:nvSpPr>
          <p:cNvPr id="18" name="Shape 16"/>
          <p:cNvSpPr/>
          <p:nvPr/>
        </p:nvSpPr>
        <p:spPr>
          <a:xfrm>
            <a:off x="3401568" y="1783080"/>
            <a:ext cx="2615184" cy="1572768"/>
          </a:xfrm>
          <a:prstGeom prst="roundRect">
            <a:avLst>
              <a:gd name="adj" fmla="val 4070"/>
            </a:avLst>
          </a:prstGeom>
          <a:solidFill>
            <a:srgbClr val="F1F5F9"/>
          </a:solidFill>
          <a:ln w="15240">
            <a:solidFill>
              <a:srgbClr val="CBD5E1"/>
            </a:solidFill>
            <a:prstDash val="solid"/>
          </a:ln>
        </p:spPr>
      </p:sp>
      <p:sp>
        <p:nvSpPr>
          <p:cNvPr id="19" name="Text 17"/>
          <p:cNvSpPr/>
          <p:nvPr/>
        </p:nvSpPr>
        <p:spPr>
          <a:xfrm>
            <a:off x="3511296" y="1874520"/>
            <a:ext cx="2395728" cy="256032"/>
          </a:xfrm>
          <a:prstGeom prst="rect">
            <a:avLst/>
          </a:prstGeom>
          <a:noFill/>
          <a:ln/>
        </p:spPr>
        <p:txBody>
          <a:bodyPr wrap="square" lIns="0" tIns="0" rIns="0" bIns="0" rtlCol="0" anchor="ctr"/>
          <a:lstStyle/>
          <a:p>
            <a:pPr algn="ctr" indent="0" marL="0">
              <a:buNone/>
            </a:pPr>
            <a:r>
              <a:rPr lang="en-US" sz="1050" b="1" dirty="0">
                <a:solidFill>
                  <a:srgbClr val="64748B"/>
                </a:solidFill>
                <a:latin typeface="Arial" pitchFamily="34" charset="0"/>
                <a:ea typeface="Arial" pitchFamily="34" charset="-122"/>
                <a:cs typeface="Arial" pitchFamily="34" charset="-120"/>
              </a:rPr>
              <a:t>PAGEVIEWS (21 THÁNG)</a:t>
            </a:r>
            <a:endParaRPr lang="en-US" sz="1050" dirty="0"/>
          </a:p>
        </p:txBody>
      </p:sp>
      <p:sp>
        <p:nvSpPr>
          <p:cNvPr id="20" name="Text 18"/>
          <p:cNvSpPr/>
          <p:nvPr/>
        </p:nvSpPr>
        <p:spPr>
          <a:xfrm>
            <a:off x="3511296" y="2176272"/>
            <a:ext cx="2395728" cy="457200"/>
          </a:xfrm>
          <a:prstGeom prst="rect">
            <a:avLst/>
          </a:prstGeom>
          <a:noFill/>
          <a:ln/>
        </p:spPr>
        <p:txBody>
          <a:bodyPr wrap="square" lIns="0" tIns="0" rIns="0" bIns="0" rtlCol="0" anchor="ctr"/>
          <a:lstStyle/>
          <a:p>
            <a:pPr algn="ctr" indent="0" marL="0">
              <a:buNone/>
            </a:pPr>
            <a:r>
              <a:rPr lang="en-US" sz="2100" b="1" dirty="0">
                <a:solidFill>
                  <a:srgbClr val="1E293B"/>
                </a:solidFill>
                <a:latin typeface="Arial" pitchFamily="34" charset="0"/>
                <a:ea typeface="Arial" pitchFamily="34" charset="-122"/>
                <a:cs typeface="Arial" pitchFamily="34" charset="-120"/>
              </a:rPr>
              <a:t>1,088,809</a:t>
            </a:r>
            <a:endParaRPr lang="en-US" sz="2100" dirty="0"/>
          </a:p>
        </p:txBody>
      </p:sp>
      <p:sp>
        <p:nvSpPr>
          <p:cNvPr id="21" name="Text 19"/>
          <p:cNvSpPr/>
          <p:nvPr/>
        </p:nvSpPr>
        <p:spPr>
          <a:xfrm>
            <a:off x="3511296" y="2697480"/>
            <a:ext cx="2395728" cy="548640"/>
          </a:xfrm>
          <a:prstGeom prst="rect">
            <a:avLst/>
          </a:prstGeom>
          <a:noFill/>
          <a:ln/>
        </p:spPr>
        <p:txBody>
          <a:bodyPr wrap="square" lIns="0" tIns="0" rIns="0" bIns="0" rtlCol="0" anchor="ctr"/>
          <a:lstStyle/>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Chỉ 1 URL duy nhất</a:t>
            </a:r>
            <a:endParaRPr lang="en-US" sz="1100" dirty="0"/>
          </a:p>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(Chiếm 12.32% toàn trang)</a:t>
            </a:r>
            <a:endParaRPr lang="en-US" sz="1100" dirty="0"/>
          </a:p>
        </p:txBody>
      </p:sp>
      <p:sp>
        <p:nvSpPr>
          <p:cNvPr id="22" name="Shape 20"/>
          <p:cNvSpPr/>
          <p:nvPr/>
        </p:nvSpPr>
        <p:spPr>
          <a:xfrm>
            <a:off x="6163056" y="1783080"/>
            <a:ext cx="2615184" cy="1572768"/>
          </a:xfrm>
          <a:prstGeom prst="roundRect">
            <a:avLst>
              <a:gd name="adj" fmla="val 4070"/>
            </a:avLst>
          </a:prstGeom>
          <a:solidFill>
            <a:srgbClr val="F1F5F9"/>
          </a:solidFill>
          <a:ln w="15240">
            <a:solidFill>
              <a:srgbClr val="CBD5E1"/>
            </a:solidFill>
            <a:prstDash val="solid"/>
          </a:ln>
        </p:spPr>
      </p:sp>
      <p:sp>
        <p:nvSpPr>
          <p:cNvPr id="23" name="Text 21"/>
          <p:cNvSpPr/>
          <p:nvPr/>
        </p:nvSpPr>
        <p:spPr>
          <a:xfrm>
            <a:off x="6272784" y="1874520"/>
            <a:ext cx="2395728" cy="256032"/>
          </a:xfrm>
          <a:prstGeom prst="rect">
            <a:avLst/>
          </a:prstGeom>
          <a:noFill/>
          <a:ln/>
        </p:spPr>
        <p:txBody>
          <a:bodyPr wrap="square" lIns="0" tIns="0" rIns="0" bIns="0" rtlCol="0" anchor="ctr"/>
          <a:lstStyle/>
          <a:p>
            <a:pPr algn="ctr" indent="0" marL="0">
              <a:buNone/>
            </a:pPr>
            <a:r>
              <a:rPr lang="en-US" sz="1050" b="1" dirty="0">
                <a:solidFill>
                  <a:srgbClr val="64748B"/>
                </a:solidFill>
                <a:latin typeface="Arial" pitchFamily="34" charset="0"/>
                <a:ea typeface="Arial" pitchFamily="34" charset="-122"/>
                <a:cs typeface="Arial" pitchFamily="34" charset="-120"/>
              </a:rPr>
              <a:t>QUY MÔ THỊ TRƯỜNG</a:t>
            </a:r>
            <a:endParaRPr lang="en-US" sz="1050" dirty="0"/>
          </a:p>
        </p:txBody>
      </p:sp>
      <p:sp>
        <p:nvSpPr>
          <p:cNvPr id="24" name="Text 22"/>
          <p:cNvSpPr/>
          <p:nvPr/>
        </p:nvSpPr>
        <p:spPr>
          <a:xfrm>
            <a:off x="6272784" y="2176272"/>
            <a:ext cx="2395728" cy="457200"/>
          </a:xfrm>
          <a:prstGeom prst="rect">
            <a:avLst/>
          </a:prstGeom>
          <a:noFill/>
          <a:ln/>
        </p:spPr>
        <p:txBody>
          <a:bodyPr wrap="square" lIns="0" tIns="0" rIns="0" bIns="0" rtlCol="0" anchor="ctr"/>
          <a:lstStyle/>
          <a:p>
            <a:pPr algn="ctr" indent="0" marL="0">
              <a:buNone/>
            </a:pPr>
            <a:r>
              <a:rPr lang="en-US" sz="2100" b="1" dirty="0">
                <a:solidFill>
                  <a:srgbClr val="1E293B"/>
                </a:solidFill>
                <a:latin typeface="Arial" pitchFamily="34" charset="0"/>
                <a:ea typeface="Arial" pitchFamily="34" charset="-122"/>
                <a:cs typeface="Arial" pitchFamily="34" charset="-120"/>
              </a:rPr>
              <a:t>4.6 Triệu / tháng</a:t>
            </a:r>
            <a:endParaRPr lang="en-US" sz="2100" dirty="0"/>
          </a:p>
        </p:txBody>
      </p:sp>
      <p:sp>
        <p:nvSpPr>
          <p:cNvPr id="25" name="Text 23"/>
          <p:cNvSpPr/>
          <p:nvPr/>
        </p:nvSpPr>
        <p:spPr>
          <a:xfrm>
            <a:off x="6272784" y="2697480"/>
            <a:ext cx="2395728" cy="548640"/>
          </a:xfrm>
          <a:prstGeom prst="rect">
            <a:avLst/>
          </a:prstGeom>
          <a:noFill/>
          <a:ln/>
        </p:spPr>
        <p:txBody>
          <a:bodyPr wrap="square" lIns="0" tIns="0" rIns="0" bIns="0" rtlCol="0" anchor="ctr"/>
          <a:lstStyle/>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92.5% trên Mobile</a:t>
            </a:r>
            <a:endParaRPr lang="en-US" sz="1100" dirty="0"/>
          </a:p>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100% KHÔNG có Google OneBox</a:t>
            </a:r>
            <a:endParaRPr lang="en-US" sz="1100" dirty="0"/>
          </a:p>
        </p:txBody>
      </p:sp>
      <p:sp>
        <p:nvSpPr>
          <p:cNvPr id="26" name="Shape 24"/>
          <p:cNvSpPr/>
          <p:nvPr/>
        </p:nvSpPr>
        <p:spPr>
          <a:xfrm>
            <a:off x="8924544" y="1783080"/>
            <a:ext cx="2615184" cy="1572768"/>
          </a:xfrm>
          <a:prstGeom prst="roundRect">
            <a:avLst>
              <a:gd name="adj" fmla="val 4070"/>
            </a:avLst>
          </a:prstGeom>
          <a:solidFill>
            <a:srgbClr val="FDF2F6"/>
          </a:solidFill>
          <a:ln w="15240">
            <a:solidFill>
              <a:srgbClr val="E2A8BC"/>
            </a:solidFill>
            <a:prstDash val="solid"/>
          </a:ln>
        </p:spPr>
      </p:sp>
      <p:sp>
        <p:nvSpPr>
          <p:cNvPr id="27" name="Text 25"/>
          <p:cNvSpPr/>
          <p:nvPr/>
        </p:nvSpPr>
        <p:spPr>
          <a:xfrm>
            <a:off x="9034272" y="1874520"/>
            <a:ext cx="2395728" cy="256032"/>
          </a:xfrm>
          <a:prstGeom prst="rect">
            <a:avLst/>
          </a:prstGeom>
          <a:noFill/>
          <a:ln/>
        </p:spPr>
        <p:txBody>
          <a:bodyPr wrap="square" lIns="0" tIns="0" rIns="0" bIns="0" rtlCol="0" anchor="ctr"/>
          <a:lstStyle/>
          <a:p>
            <a:pPr algn="ctr" indent="0" marL="0">
              <a:buNone/>
            </a:pPr>
            <a:r>
              <a:rPr lang="en-US" sz="1050" b="1" dirty="0">
                <a:solidFill>
                  <a:srgbClr val="64748B"/>
                </a:solidFill>
                <a:latin typeface="Arial" pitchFamily="34" charset="0"/>
                <a:ea typeface="Arial" pitchFamily="34" charset="-122"/>
                <a:cs typeface="Arial" pitchFamily="34" charset="-120"/>
              </a:rPr>
              <a:t>THỊ PHẦN HIỆN TẠI CỦA VNE</a:t>
            </a:r>
            <a:endParaRPr lang="en-US" sz="1050" dirty="0"/>
          </a:p>
        </p:txBody>
      </p:sp>
      <p:sp>
        <p:nvSpPr>
          <p:cNvPr id="28" name="Text 26"/>
          <p:cNvSpPr/>
          <p:nvPr/>
        </p:nvSpPr>
        <p:spPr>
          <a:xfrm>
            <a:off x="9034272" y="2176272"/>
            <a:ext cx="2395728" cy="457200"/>
          </a:xfrm>
          <a:prstGeom prst="rect">
            <a:avLst/>
          </a:prstGeom>
          <a:noFill/>
          <a:ln/>
        </p:spPr>
        <p:txBody>
          <a:bodyPr wrap="square" lIns="0" tIns="0" rIns="0" bIns="0" rtlCol="0" anchor="ctr"/>
          <a:lstStyle/>
          <a:p>
            <a:pPr algn="ctr" indent="0" marL="0">
              <a:buNone/>
            </a:pPr>
            <a:r>
              <a:rPr lang="en-US" sz="2100" b="1" dirty="0">
                <a:solidFill>
                  <a:srgbClr val="9F224E"/>
                </a:solidFill>
                <a:latin typeface="Arial" pitchFamily="34" charset="0"/>
                <a:ea typeface="Arial" pitchFamily="34" charset="-122"/>
                <a:cs typeface="Arial" pitchFamily="34" charset="-120"/>
              </a:rPr>
              <a:t>Chỉ đạt ~3.8%</a:t>
            </a:r>
            <a:endParaRPr lang="en-US" sz="2100" dirty="0"/>
          </a:p>
        </p:txBody>
      </p:sp>
      <p:sp>
        <p:nvSpPr>
          <p:cNvPr id="29" name="Text 27"/>
          <p:cNvSpPr/>
          <p:nvPr/>
        </p:nvSpPr>
        <p:spPr>
          <a:xfrm>
            <a:off x="9034272" y="2697480"/>
            <a:ext cx="2395728" cy="548640"/>
          </a:xfrm>
          <a:prstGeom prst="rect">
            <a:avLst/>
          </a:prstGeom>
          <a:noFill/>
          <a:ln/>
        </p:spPr>
        <p:txBody>
          <a:bodyPr wrap="square" lIns="0" tIns="0" rIns="0" bIns="0" rtlCol="0" anchor="ctr"/>
          <a:lstStyle/>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Đang bị kẹt ở Hạng 6 – 10</a:t>
            </a:r>
            <a:endParaRPr lang="en-US" sz="1100" dirty="0"/>
          </a:p>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(Nửa dưới trang 1 Mobile)</a:t>
            </a:r>
            <a:endParaRPr lang="en-US" sz="1100" dirty="0"/>
          </a:p>
        </p:txBody>
      </p:sp>
      <p:sp>
        <p:nvSpPr>
          <p:cNvPr id="30" name="Shape 28"/>
          <p:cNvSpPr/>
          <p:nvPr/>
        </p:nvSpPr>
        <p:spPr>
          <a:xfrm>
            <a:off x="640080" y="3520440"/>
            <a:ext cx="10908792" cy="2606040"/>
          </a:xfrm>
          <a:prstGeom prst="roundRect">
            <a:avLst>
              <a:gd name="adj" fmla="val 2456"/>
            </a:avLst>
          </a:prstGeom>
          <a:solidFill>
            <a:srgbClr val="F1F5F9"/>
          </a:solidFill>
          <a:ln w="15240">
            <a:solidFill>
              <a:srgbClr val="CBD5E1"/>
            </a:solidFill>
            <a:prstDash val="solid"/>
          </a:ln>
        </p:spPr>
      </p:sp>
      <p:sp>
        <p:nvSpPr>
          <p:cNvPr id="31" name="Text 29"/>
          <p:cNvSpPr/>
          <p:nvPr/>
        </p:nvSpPr>
        <p:spPr>
          <a:xfrm>
            <a:off x="822960" y="3621024"/>
            <a:ext cx="10515600" cy="320040"/>
          </a:xfrm>
          <a:prstGeom prst="rect">
            <a:avLst/>
          </a:prstGeom>
          <a:noFill/>
          <a:ln/>
        </p:spPr>
        <p:txBody>
          <a:bodyPr wrap="square" lIns="0" tIns="0" rIns="0" bIns="0" rtlCol="0" anchor="ctr"/>
          <a:lstStyle/>
          <a:p>
            <a:pPr indent="0" marL="0">
              <a:buNone/>
            </a:pPr>
            <a:r>
              <a:rPr lang="en-US" sz="1400" b="1" dirty="0">
                <a:solidFill>
                  <a:srgbClr val="9F224E"/>
                </a:solidFill>
                <a:latin typeface="Arial" pitchFamily="34" charset="0"/>
                <a:ea typeface="Arial" pitchFamily="34" charset="-122"/>
                <a:cs typeface="Arial" pitchFamily="34" charset="-120"/>
              </a:rPr>
              <a:t>KẾT QUẢ KIỂM TRA SERP THỰC TẾ (LIVE SERP AUDIT) VỚI TỪ KHÓA CHỦ LỰC:</a:t>
            </a:r>
            <a:endParaRPr lang="en-US" sz="1400" dirty="0"/>
          </a:p>
        </p:txBody>
      </p:sp>
      <p:sp>
        <p:nvSpPr>
          <p:cNvPr id="32" name="Text 30"/>
          <p:cNvSpPr/>
          <p:nvPr/>
        </p:nvSpPr>
        <p:spPr>
          <a:xfrm>
            <a:off x="822960" y="3977640"/>
            <a:ext cx="10515600" cy="2057400"/>
          </a:xfrm>
          <a:prstGeom prst="rect">
            <a:avLst/>
          </a:prstGeom>
          <a:noFill/>
          <a:ln/>
        </p:spPr>
        <p:txBody>
          <a:bodyPr wrap="square" lIns="0" tIns="0" rIns="0" bIns="0" rtlCol="0" anchor="t"/>
          <a:lstStyle/>
          <a:p>
            <a:pPr indent="0" marL="0">
              <a:lnSpc>
                <a:spcPct val="120000"/>
              </a:lnSpc>
              <a:buNone/>
            </a:pPr>
            <a:r>
              <a:rPr lang="en-US" sz="1320" b="1" dirty="0">
                <a:solidFill>
                  <a:srgbClr val="1E293B"/>
                </a:solidFill>
                <a:latin typeface="Arial" pitchFamily="34" charset="0"/>
                <a:ea typeface="Arial" pitchFamily="34" charset="-122"/>
                <a:cs typeface="Arial" pitchFamily="34" charset="-120"/>
              </a:rPr>
              <a:t>• Top 1 – 4 hiện đang bị thống trị bởi các đối thủ chuyên biệt:
</a:t>
            </a:r>
            <a:pPr indent="0" marL="0">
              <a:lnSpc>
                <a:spcPct val="120000"/>
              </a:lnSpc>
              <a:buNone/>
            </a:pPr>
            <a:r>
              <a:rPr lang="en-US" sz="1320" b="1" dirty="0">
                <a:solidFill>
                  <a:srgbClr val="1E293B"/>
                </a:solidFill>
                <a:latin typeface="Arial" pitchFamily="34" charset="0"/>
                <a:ea typeface="Arial" pitchFamily="34" charset="-122"/>
                <a:cs typeface="Arial" pitchFamily="34" charset="-120"/>
              </a:rPr>
              <a:t>   1. BongdaPlus (Top 1–2): </a:t>
            </a:r>
            <a:pPr indent="0" marL="0">
              <a:lnSpc>
                <a:spcPct val="120000"/>
              </a:lnSpc>
              <a:buNone/>
            </a:pPr>
            <a:r>
              <a:rPr lang="en-US" sz="1320" dirty="0">
                <a:solidFill>
                  <a:srgbClr val="334155"/>
                </a:solidFill>
                <a:latin typeface="Arial" pitchFamily="34" charset="0"/>
                <a:ea typeface="Arial" pitchFamily="34" charset="-122"/>
                <a:cs typeface="Arial" pitchFamily="34" charset="-120"/>
              </a:rPr>
              <a:t>Bảng tổng hợp mọi giải đấu trong ngày kèm kênh phát sóng trực tiếp (FPT Play, MyTV, ON Football) và dữ liệu tỷ lệ.
</a:t>
            </a:r>
            <a:pPr indent="0" marL="0">
              <a:lnSpc>
                <a:spcPct val="120000"/>
              </a:lnSpc>
              <a:buNone/>
            </a:pPr>
            <a:r>
              <a:rPr lang="en-US" sz="1320" b="1" dirty="0">
                <a:solidFill>
                  <a:srgbClr val="1E293B"/>
                </a:solidFill>
                <a:latin typeface="Arial" pitchFamily="34" charset="0"/>
                <a:ea typeface="Arial" pitchFamily="34" charset="-122"/>
                <a:cs typeface="Arial" pitchFamily="34" charset="-120"/>
              </a:rPr>
              <a:t>   2. Thể Thao 247 (Top 2–3): </a:t>
            </a:r>
            <a:pPr indent="0" marL="0">
              <a:lnSpc>
                <a:spcPct val="120000"/>
              </a:lnSpc>
              <a:buNone/>
            </a:pPr>
            <a:r>
              <a:rPr lang="en-US" sz="1320" dirty="0">
                <a:solidFill>
                  <a:srgbClr val="334155"/>
                </a:solidFill>
                <a:latin typeface="Arial" pitchFamily="34" charset="0"/>
                <a:ea typeface="Arial" pitchFamily="34" charset="-122"/>
                <a:cs typeface="Arial" pitchFamily="34" charset="-120"/>
              </a:rPr>
              <a:t>Cấu trúc Title đánh trúng tâm lý thời gian thực: "Lịch thi đấu bóng đá hôm nay và sáng mai (MỚI NHẤT)".
</a:t>
            </a:r>
            <a:pPr indent="0" marL="0">
              <a:lnSpc>
                <a:spcPct val="120000"/>
              </a:lnSpc>
              <a:buNone/>
            </a:pPr>
            <a:r>
              <a:rPr lang="en-US" sz="1320" b="1" dirty="0">
                <a:solidFill>
                  <a:srgbClr val="1E293B"/>
                </a:solidFill>
                <a:latin typeface="Arial" pitchFamily="34" charset="0"/>
                <a:ea typeface="Arial" pitchFamily="34" charset="-122"/>
                <a:cs typeface="Arial" pitchFamily="34" charset="-120"/>
              </a:rPr>
              <a:t>   3. Bóng Đá 24h, Lichthidau.com.vn, Báo Mới (Top 3–5): </a:t>
            </a:r>
            <a:pPr indent="0" marL="0">
              <a:lnSpc>
                <a:spcPct val="120000"/>
              </a:lnSpc>
              <a:buNone/>
            </a:pPr>
            <a:r>
              <a:rPr lang="en-US" sz="1320" dirty="0">
                <a:solidFill>
                  <a:srgbClr val="334155"/>
                </a:solidFill>
                <a:latin typeface="Arial" pitchFamily="34" charset="0"/>
                <a:ea typeface="Arial" pitchFamily="34" charset="-122"/>
                <a:cs typeface="Arial" pitchFamily="34" charset="-120"/>
              </a:rPr>
              <a:t>Thống trị nhóm từ khóa viết tắt (ltd bd hom nay, ltđ bđ).
</a:t>
            </a:r>
            <a:pPr indent="0" marL="0">
              <a:lnSpc>
                <a:spcPct val="120000"/>
              </a:lnSpc>
              <a:buNone/>
            </a:pPr>
            <a:r>
              <a:rPr lang="en-US" sz="1320" b="1" dirty="0">
                <a:solidFill>
                  <a:srgbClr val="9F224E"/>
                </a:solidFill>
                <a:latin typeface="Arial" pitchFamily="34" charset="0"/>
                <a:ea typeface="Arial" pitchFamily="34" charset="-122"/>
                <a:cs typeface="Arial" pitchFamily="34" charset="-120"/>
              </a:rPr>
              <a:t>• Vị trí của VnExpress (/the-thao/du-lieu-bong-da): </a:t>
            </a:r>
            <a:pPr indent="0" marL="0">
              <a:lnSpc>
                <a:spcPct val="120000"/>
              </a:lnSpc>
              <a:buNone/>
            </a:pPr>
            <a:r>
              <a:rPr lang="en-US" sz="1320" b="1" dirty="0">
                <a:solidFill>
                  <a:srgbClr val="1E293B"/>
                </a:solidFill>
                <a:latin typeface="Arial" pitchFamily="34" charset="0"/>
                <a:ea typeface="Arial" pitchFamily="34" charset="-122"/>
                <a:cs typeface="Arial" pitchFamily="34" charset="-120"/>
              </a:rPr>
              <a:t>Bị kẹt ở nửa dưới trang 1 (Hạng 6–10) hoặc rớt sang trang 2 với từ khóa ngắn ➜ Người dùng Mobile (92.5%) đã click hết vào Top 1–3 trước khi cuộn tới VnExpress.</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9F224E"/>
          </a:solidFill>
          <a:ln w="12700">
            <a:solidFill>
              <a:srgbClr val="9F224E"/>
            </a:solidFill>
            <a:prstDash val="solid"/>
          </a:ln>
        </p:spPr>
      </p:sp>
      <p:sp>
        <p:nvSpPr>
          <p:cNvPr id="3" name="Shape 1"/>
          <p:cNvSpPr/>
          <p:nvPr/>
        </p:nvSpPr>
        <p:spPr>
          <a:xfrm>
            <a:off x="0" y="82296"/>
            <a:ext cx="12191695" cy="914400"/>
          </a:xfrm>
          <a:prstGeom prst="rect">
            <a:avLst/>
          </a:prstGeom>
          <a:solidFill>
            <a:srgbClr val="FFFFFF"/>
          </a:solidFill>
          <a:ln w="10160">
            <a:solidFill>
              <a:srgbClr val="E2E8F0"/>
            </a:solidFill>
            <a:prstDash val="solid"/>
          </a:ln>
        </p:spPr>
      </p:sp>
      <p:sp>
        <p:nvSpPr>
          <p:cNvPr id="4" name="Shape 2"/>
          <p:cNvSpPr/>
          <p:nvPr/>
        </p:nvSpPr>
        <p:spPr>
          <a:xfrm>
            <a:off x="411480" y="201168"/>
            <a:ext cx="2834640" cy="329184"/>
          </a:xfrm>
          <a:prstGeom prst="roundRect">
            <a:avLst>
              <a:gd name="adj" fmla="val 16667"/>
            </a:avLst>
          </a:prstGeom>
          <a:solidFill>
            <a:srgbClr val="9F224E"/>
          </a:solidFill>
          <a:ln w="12700">
            <a:solidFill>
              <a:srgbClr val="9F224E"/>
            </a:solidFill>
            <a:prstDash val="solid"/>
          </a:ln>
        </p:spPr>
      </p:sp>
      <p:sp>
        <p:nvSpPr>
          <p:cNvPr id="5" name="Text 3"/>
          <p:cNvSpPr/>
          <p:nvPr/>
        </p:nvSpPr>
        <p:spPr>
          <a:xfrm>
            <a:off x="411480" y="201168"/>
            <a:ext cx="2834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HÀNH ĐỘNG 1 • KHỐI 2 / 4</a:t>
            </a:r>
            <a:endParaRPr lang="en-US" sz="1150" dirty="0"/>
          </a:p>
        </p:txBody>
      </p:sp>
      <p:sp>
        <p:nvSpPr>
          <p:cNvPr id="6" name="Text 4"/>
          <p:cNvSpPr/>
          <p:nvPr/>
        </p:nvSpPr>
        <p:spPr>
          <a:xfrm>
            <a:off x="3383280" y="146304"/>
            <a:ext cx="8412480" cy="420624"/>
          </a:xfrm>
          <a:prstGeom prst="rect">
            <a:avLst/>
          </a:prstGeom>
          <a:noFill/>
          <a:ln/>
        </p:spPr>
        <p:txBody>
          <a:bodyPr wrap="square" lIns="0" tIns="0" rIns="0" bIns="0" rtlCol="0" anchor="ctr"/>
          <a:lstStyle/>
          <a:p>
            <a:pPr algn="l" indent="0" marL="0">
              <a:buNone/>
            </a:pPr>
            <a:r>
              <a:rPr lang="en-US" sz="2000" b="1" dirty="0">
                <a:solidFill>
                  <a:srgbClr val="1E293B"/>
                </a:solidFill>
                <a:latin typeface="Arial" pitchFamily="34" charset="0"/>
                <a:ea typeface="Arial" pitchFamily="34" charset="-122"/>
                <a:cs typeface="Arial" pitchFamily="34" charset="-120"/>
              </a:rPr>
              <a:t>Hành động 1 (Tối ưu Trang Lịch Thi Đấu Hôm Nay): Vấn đề &amp; Nguyên nhân</a:t>
            </a:r>
            <a:endParaRPr lang="en-US" sz="2000" dirty="0"/>
          </a:p>
        </p:txBody>
      </p:sp>
      <p:sp>
        <p:nvSpPr>
          <p:cNvPr id="7" name="Text 5"/>
          <p:cNvSpPr/>
          <p:nvPr/>
        </p:nvSpPr>
        <p:spPr>
          <a:xfrm>
            <a:off x="411480" y="594360"/>
            <a:ext cx="11338560" cy="329184"/>
          </a:xfrm>
          <a:prstGeom prst="rect">
            <a:avLst/>
          </a:prstGeom>
          <a:noFill/>
          <a:ln/>
        </p:spPr>
        <p:txBody>
          <a:bodyPr wrap="square" lIns="0" tIns="0" rIns="0" bIns="0" rtlCol="0" anchor="ctr"/>
          <a:lstStyle/>
          <a:p>
            <a:pPr algn="l" indent="0" marL="0">
              <a:buNone/>
            </a:pPr>
            <a:r>
              <a:rPr lang="en-US" sz="1250" i="1" dirty="0">
                <a:solidFill>
                  <a:srgbClr val="64748B"/>
                </a:solidFill>
                <a:latin typeface="Arial" pitchFamily="34" charset="0"/>
                <a:ea typeface="Arial" pitchFamily="34" charset="-122"/>
                <a:cs typeface="Arial" pitchFamily="34" charset="-120"/>
              </a:rPr>
              <a:t>3 nguyên nhân gốc rễ khiến VnExpress chưa bứt phá vào Top 1–3 dù sở hữu uy tín Domain số 1 Việt Nam</a:t>
            </a:r>
            <a:endParaRPr lang="en-US" sz="1250" dirty="0"/>
          </a:p>
        </p:txBody>
      </p:sp>
      <p:sp>
        <p:nvSpPr>
          <p:cNvPr id="8" name="Shape 6"/>
          <p:cNvSpPr/>
          <p:nvPr/>
        </p:nvSpPr>
        <p:spPr>
          <a:xfrm>
            <a:off x="0" y="6510528"/>
            <a:ext cx="12191695" cy="347472"/>
          </a:xfrm>
          <a:prstGeom prst="rect">
            <a:avLst/>
          </a:prstGeom>
          <a:solidFill>
            <a:srgbClr val="1E293B"/>
          </a:solidFill>
          <a:ln w="12700">
            <a:solidFill>
              <a:srgbClr val="1E293B"/>
            </a:solidFill>
            <a:prstDash val="solid"/>
          </a:ln>
        </p:spPr>
      </p:sp>
      <p:sp>
        <p:nvSpPr>
          <p:cNvPr id="9" name="Text 7"/>
          <p:cNvSpPr/>
          <p:nvPr/>
        </p:nvSpPr>
        <p:spPr>
          <a:xfrm>
            <a:off x="411480" y="6510528"/>
            <a:ext cx="8686800" cy="347472"/>
          </a:xfrm>
          <a:prstGeom prst="rect">
            <a:avLst/>
          </a:prstGeom>
          <a:noFill/>
          <a:ln/>
        </p:spPr>
        <p:txBody>
          <a:bodyPr wrap="square" lIns="0" tIns="0" rIns="0" bIns="0" rtlCol="0" anchor="ctr"/>
          <a:lstStyle/>
          <a:p>
            <a:pPr algn="l" indent="0" marL="0">
              <a:buNone/>
            </a:pPr>
            <a:r>
              <a:rPr lang="en-US" sz="1000" dirty="0">
                <a:solidFill>
                  <a:srgbClr val="CBD5E1"/>
                </a:solidFill>
                <a:latin typeface="Arial" pitchFamily="34" charset="0"/>
                <a:ea typeface="Arial" pitchFamily="34" charset="-122"/>
                <a:cs typeface="Arial" pitchFamily="34" charset="-120"/>
              </a:rPr>
              <a:t>VnExpress Thể Thao  |  Báo cáo Phân tích Vấn đề &amp; Giải pháp Cải tiến Trang Lịch Thi Đấu Bóng Đá</a:t>
            </a:r>
            <a:endParaRPr lang="en-US" sz="1000" dirty="0"/>
          </a:p>
        </p:txBody>
      </p:sp>
      <p:sp>
        <p:nvSpPr>
          <p:cNvPr id="10" name="Text 8"/>
          <p:cNvSpPr/>
          <p:nvPr/>
        </p:nvSpPr>
        <p:spPr>
          <a:xfrm>
            <a:off x="10058400" y="6510528"/>
            <a:ext cx="1719072"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Trang 7 / 19</a:t>
            </a:r>
            <a:endParaRPr lang="en-US" sz="1000" dirty="0"/>
          </a:p>
        </p:txBody>
      </p:sp>
      <p:sp>
        <p:nvSpPr>
          <p:cNvPr id="11" name="Shape 9"/>
          <p:cNvSpPr/>
          <p:nvPr/>
        </p:nvSpPr>
        <p:spPr>
          <a:xfrm>
            <a:off x="411480" y="1143000"/>
            <a:ext cx="11365992" cy="5193792"/>
          </a:xfrm>
          <a:prstGeom prst="roundRect">
            <a:avLst>
              <a:gd name="adj" fmla="val 1408"/>
            </a:avLst>
          </a:prstGeom>
          <a:solidFill>
            <a:srgbClr val="FFFFFF"/>
          </a:solidFill>
          <a:ln w="15240">
            <a:solidFill>
              <a:srgbClr val="CBD5E1"/>
            </a:solidFill>
            <a:prstDash val="solid"/>
          </a:ln>
        </p:spPr>
      </p:sp>
      <p:sp>
        <p:nvSpPr>
          <p:cNvPr id="12" name="Shape 10"/>
          <p:cNvSpPr/>
          <p:nvPr/>
        </p:nvSpPr>
        <p:spPr>
          <a:xfrm>
            <a:off x="411480" y="1143000"/>
            <a:ext cx="11365992" cy="475488"/>
          </a:xfrm>
          <a:prstGeom prst="roundRect">
            <a:avLst>
              <a:gd name="adj" fmla="val 15385"/>
            </a:avLst>
          </a:prstGeom>
          <a:solidFill>
            <a:srgbClr val="1E293B"/>
          </a:solidFill>
          <a:ln w="12700">
            <a:solidFill>
              <a:srgbClr val="1E293B"/>
            </a:solidFill>
            <a:prstDash val="solid"/>
          </a:ln>
        </p:spPr>
      </p:sp>
      <p:sp>
        <p:nvSpPr>
          <p:cNvPr id="13" name="Text 11"/>
          <p:cNvSpPr/>
          <p:nvPr/>
        </p:nvSpPr>
        <p:spPr>
          <a:xfrm>
            <a:off x="621792" y="1143000"/>
            <a:ext cx="10972800" cy="475488"/>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2. VẤN ĐỀ &amp; 3 NGUYÊN NHÂN GỐC RỄ KHIẾN TRANG LỊCH THI ĐẤU CHƯA ĐẠT TOP 1–3</a:t>
            </a:r>
            <a:endParaRPr lang="en-US" sz="1450" dirty="0"/>
          </a:p>
        </p:txBody>
      </p:sp>
      <p:sp>
        <p:nvSpPr>
          <p:cNvPr id="14" name="Shape 12"/>
          <p:cNvSpPr/>
          <p:nvPr/>
        </p:nvSpPr>
        <p:spPr>
          <a:xfrm>
            <a:off x="640080" y="1755648"/>
            <a:ext cx="10908792" cy="1353312"/>
          </a:xfrm>
          <a:prstGeom prst="roundRect">
            <a:avLst>
              <a:gd name="adj" fmla="val 4730"/>
            </a:avLst>
          </a:prstGeom>
          <a:solidFill>
            <a:srgbClr val="F1F5F9"/>
          </a:solidFill>
          <a:ln w="15240">
            <a:solidFill>
              <a:srgbClr val="CBD5E1"/>
            </a:solidFill>
            <a:prstDash val="solid"/>
          </a:ln>
        </p:spPr>
      </p:sp>
      <p:sp>
        <p:nvSpPr>
          <p:cNvPr id="15" name="Shape 13"/>
          <p:cNvSpPr/>
          <p:nvPr/>
        </p:nvSpPr>
        <p:spPr>
          <a:xfrm>
            <a:off x="640080" y="1755648"/>
            <a:ext cx="10908792" cy="365760"/>
          </a:xfrm>
          <a:prstGeom prst="roundRect">
            <a:avLst>
              <a:gd name="adj" fmla="val 17500"/>
            </a:avLst>
          </a:prstGeom>
          <a:solidFill>
            <a:srgbClr val="F9E2EA"/>
          </a:solidFill>
          <a:ln w="10160">
            <a:solidFill>
              <a:srgbClr val="E2A8BC"/>
            </a:solidFill>
            <a:prstDash val="solid"/>
          </a:ln>
        </p:spPr>
      </p:sp>
      <p:sp>
        <p:nvSpPr>
          <p:cNvPr id="16" name="Text 14"/>
          <p:cNvSpPr/>
          <p:nvPr/>
        </p:nvSpPr>
        <p:spPr>
          <a:xfrm>
            <a:off x="822960" y="1755648"/>
            <a:ext cx="10515600" cy="365760"/>
          </a:xfrm>
          <a:prstGeom prst="rect">
            <a:avLst/>
          </a:prstGeom>
          <a:noFill/>
          <a:ln/>
        </p:spPr>
        <p:txBody>
          <a:bodyPr wrap="square" lIns="0" tIns="0" rIns="0" bIns="0" rtlCol="0" anchor="ctr"/>
          <a:lstStyle/>
          <a:p>
            <a:pPr indent="0" marL="0">
              <a:buNone/>
            </a:pPr>
            <a:r>
              <a:rPr lang="en-US" sz="1350" b="1" dirty="0">
                <a:solidFill>
                  <a:srgbClr val="9F224E"/>
                </a:solidFill>
                <a:latin typeface="Arial" pitchFamily="34" charset="0"/>
                <a:ea typeface="Arial" pitchFamily="34" charset="-122"/>
                <a:cs typeface="Arial" pitchFamily="34" charset="-120"/>
              </a:rPr>
              <a:t>NGUYÊN NHÂN 1: LỆCH KHỚP NGỮ NGHĨA ON-PAGE (SEMANTIC MISMATCH)</a:t>
            </a:r>
            <a:endParaRPr lang="en-US" sz="1350" dirty="0"/>
          </a:p>
        </p:txBody>
      </p:sp>
      <p:sp>
        <p:nvSpPr>
          <p:cNvPr id="17" name="Text 15"/>
          <p:cNvSpPr/>
          <p:nvPr/>
        </p:nvSpPr>
        <p:spPr>
          <a:xfrm>
            <a:off x="822960" y="2157984"/>
            <a:ext cx="10515600" cy="914400"/>
          </a:xfrm>
          <a:prstGeom prst="rect">
            <a:avLst/>
          </a:prstGeom>
          <a:noFill/>
          <a:ln/>
        </p:spPr>
        <p:txBody>
          <a:bodyPr wrap="square" lIns="0" tIns="0" rIns="0" bIns="0" rtlCol="0" anchor="t"/>
          <a:lstStyle/>
          <a:p>
            <a:pPr indent="0" marL="0">
              <a:lnSpc>
                <a:spcPct val="118000"/>
              </a:lnSpc>
              <a:buNone/>
            </a:pPr>
            <a:r>
              <a:rPr lang="en-US" sz="1300" dirty="0">
                <a:solidFill>
                  <a:srgbClr val="1E293B"/>
                </a:solidFill>
                <a:latin typeface="Arial" pitchFamily="34" charset="0"/>
                <a:ea typeface="Arial" pitchFamily="34" charset="-122"/>
                <a:cs typeface="Arial" pitchFamily="34" charset="-120"/>
              </a:rPr>
              <a:t>• Định danh URL và tiêu đề của VnExpress đang thiên về thuật ngữ sản phẩm "Dữ liệu bóng đá" (/the-thao/du-lieu-bong-da), trong khi phần lớn người dùng tìm kiếm bằng cụm "Lịch thi đấu bóng đá hôm nay / tối nay / rạng sáng mai".</a:t>
            </a:r>
            <a:endParaRPr lang="en-US" sz="1300" dirty="0"/>
          </a:p>
          <a:p>
            <a:pPr indent="0" marL="0">
              <a:lnSpc>
                <a:spcPct val="118000"/>
              </a:lnSpc>
              <a:buNone/>
            </a:pPr>
            <a:r>
              <a:rPr lang="en-US" sz="1300" dirty="0">
                <a:solidFill>
                  <a:srgbClr val="1E293B"/>
                </a:solidFill>
                <a:latin typeface="Arial" pitchFamily="34" charset="0"/>
                <a:ea typeface="Arial" pitchFamily="34" charset="-122"/>
                <a:cs typeface="Arial" pitchFamily="34" charset="-120"/>
              </a:rPr>
              <a:t>• Trang chủ đang thiếu sự hiện diện của các cụm từ khóa mục tiêu trong thẻ &lt;title&gt;, &lt;h1&gt;, &lt;h2&gt; và đoạn văn bản mô tả tĩnh so với đối thủ.</a:t>
            </a:r>
            <a:endParaRPr lang="en-US" sz="1300" dirty="0"/>
          </a:p>
        </p:txBody>
      </p:sp>
      <p:sp>
        <p:nvSpPr>
          <p:cNvPr id="18" name="Shape 16"/>
          <p:cNvSpPr/>
          <p:nvPr/>
        </p:nvSpPr>
        <p:spPr>
          <a:xfrm>
            <a:off x="640080" y="3236976"/>
            <a:ext cx="10908792" cy="1536192"/>
          </a:xfrm>
          <a:prstGeom prst="roundRect">
            <a:avLst>
              <a:gd name="adj" fmla="val 4167"/>
            </a:avLst>
          </a:prstGeom>
          <a:solidFill>
            <a:srgbClr val="F1F5F9"/>
          </a:solidFill>
          <a:ln w="15240">
            <a:solidFill>
              <a:srgbClr val="CBD5E1"/>
            </a:solidFill>
            <a:prstDash val="solid"/>
          </a:ln>
        </p:spPr>
      </p:sp>
      <p:sp>
        <p:nvSpPr>
          <p:cNvPr id="19" name="Shape 17"/>
          <p:cNvSpPr/>
          <p:nvPr/>
        </p:nvSpPr>
        <p:spPr>
          <a:xfrm>
            <a:off x="640080" y="3236976"/>
            <a:ext cx="10908792" cy="365760"/>
          </a:xfrm>
          <a:prstGeom prst="roundRect">
            <a:avLst>
              <a:gd name="adj" fmla="val 17500"/>
            </a:avLst>
          </a:prstGeom>
          <a:solidFill>
            <a:srgbClr val="F9E2EA"/>
          </a:solidFill>
          <a:ln w="10160">
            <a:solidFill>
              <a:srgbClr val="E2A8BC"/>
            </a:solidFill>
            <a:prstDash val="solid"/>
          </a:ln>
        </p:spPr>
      </p:sp>
      <p:sp>
        <p:nvSpPr>
          <p:cNvPr id="20" name="Text 18"/>
          <p:cNvSpPr/>
          <p:nvPr/>
        </p:nvSpPr>
        <p:spPr>
          <a:xfrm>
            <a:off x="822960" y="3236976"/>
            <a:ext cx="10515600" cy="365760"/>
          </a:xfrm>
          <a:prstGeom prst="rect">
            <a:avLst/>
          </a:prstGeom>
          <a:noFill/>
          <a:ln/>
        </p:spPr>
        <p:txBody>
          <a:bodyPr wrap="square" lIns="0" tIns="0" rIns="0" bIns="0" rtlCol="0" anchor="ctr"/>
          <a:lstStyle/>
          <a:p>
            <a:pPr indent="0" marL="0">
              <a:buNone/>
            </a:pPr>
            <a:r>
              <a:rPr lang="en-US" sz="1350" b="1" dirty="0">
                <a:solidFill>
                  <a:srgbClr val="9F224E"/>
                </a:solidFill>
                <a:latin typeface="Arial" pitchFamily="34" charset="0"/>
                <a:ea typeface="Arial" pitchFamily="34" charset="-122"/>
                <a:cs typeface="Arial" pitchFamily="34" charset="-120"/>
              </a:rPr>
              <a:t>NGUYÊN NHÂN 2: THIẾU TÍN HIỆU "HÔM NAY" (CẬP NHẬT HÀNG NGÀY) CHO CẢ USER LẪN GOOGLEBOT</a:t>
            </a:r>
            <a:endParaRPr lang="en-US" sz="1350" dirty="0"/>
          </a:p>
        </p:txBody>
      </p:sp>
      <p:sp>
        <p:nvSpPr>
          <p:cNvPr id="21" name="Text 19"/>
          <p:cNvSpPr/>
          <p:nvPr/>
        </p:nvSpPr>
        <p:spPr>
          <a:xfrm>
            <a:off x="822960" y="3639312"/>
            <a:ext cx="10515600" cy="1097280"/>
          </a:xfrm>
          <a:prstGeom prst="rect">
            <a:avLst/>
          </a:prstGeom>
          <a:noFill/>
          <a:ln/>
        </p:spPr>
        <p:txBody>
          <a:bodyPr wrap="square" lIns="0" tIns="0" rIns="0" bIns="0" rtlCol="0" anchor="t"/>
          <a:lstStyle/>
          <a:p>
            <a:pPr indent="0" marL="0">
              <a:lnSpc>
                <a:spcPct val="118000"/>
              </a:lnSpc>
              <a:buNone/>
            </a:pPr>
            <a:r>
              <a:rPr lang="en-US" sz="1300" dirty="0">
                <a:solidFill>
                  <a:srgbClr val="1E293B"/>
                </a:solidFill>
                <a:latin typeface="Arial" pitchFamily="34" charset="0"/>
                <a:ea typeface="Arial" pitchFamily="34" charset="-122"/>
                <a:cs typeface="Arial" pitchFamily="34" charset="-120"/>
              </a:rPr>
              <a:t>• Các trang Top 1–2 (như BongdaPlus, Thethao247) hiển thị trực tiếp danh sách toàn bộ trận đấu diễn ra Hôm nay &amp; Rạng sáng mai. Mỗi ngày Googlebot vào crawl đều thấy danh sách trận đấu và ngày tháng mới.</a:t>
            </a:r>
            <a:endParaRPr lang="en-US" sz="1300" dirty="0"/>
          </a:p>
          <a:p>
            <a:pPr indent="0" marL="0">
              <a:lnSpc>
                <a:spcPct val="118000"/>
              </a:lnSpc>
              <a:buNone/>
            </a:pPr>
            <a:r>
              <a:rPr lang="en-US" sz="1300" dirty="0">
                <a:solidFill>
                  <a:srgbClr val="1E293B"/>
                </a:solidFill>
                <a:latin typeface="Arial" pitchFamily="34" charset="0"/>
                <a:ea typeface="Arial" pitchFamily="34" charset="-122"/>
                <a:cs typeface="Arial" pitchFamily="34" charset="-120"/>
              </a:rPr>
              <a:t>• Trang /the-thao/du-lieu-bong-da chỉ hiển thị khung giao diện chung hoặc ưu tiên hiển thị theo từng giải đơn lẻ thay vì một Bảng tổng hợp tất cả trận đấu hôm nay được render sẵn ➜ Google đánh giá trang kém phù hợp hơn với từ khóa "hôm nay".</a:t>
            </a:r>
            <a:endParaRPr lang="en-US" sz="1300" dirty="0"/>
          </a:p>
        </p:txBody>
      </p:sp>
      <p:sp>
        <p:nvSpPr>
          <p:cNvPr id="22" name="Shape 20"/>
          <p:cNvSpPr/>
          <p:nvPr/>
        </p:nvSpPr>
        <p:spPr>
          <a:xfrm>
            <a:off x="640080" y="4901184"/>
            <a:ext cx="10908792" cy="1353312"/>
          </a:xfrm>
          <a:prstGeom prst="roundRect">
            <a:avLst>
              <a:gd name="adj" fmla="val 4730"/>
            </a:avLst>
          </a:prstGeom>
          <a:solidFill>
            <a:srgbClr val="F1F5F9"/>
          </a:solidFill>
          <a:ln w="15240">
            <a:solidFill>
              <a:srgbClr val="CBD5E1"/>
            </a:solidFill>
            <a:prstDash val="solid"/>
          </a:ln>
        </p:spPr>
      </p:sp>
      <p:sp>
        <p:nvSpPr>
          <p:cNvPr id="23" name="Shape 21"/>
          <p:cNvSpPr/>
          <p:nvPr/>
        </p:nvSpPr>
        <p:spPr>
          <a:xfrm>
            <a:off x="640080" y="4901184"/>
            <a:ext cx="10908792" cy="365760"/>
          </a:xfrm>
          <a:prstGeom prst="roundRect">
            <a:avLst>
              <a:gd name="adj" fmla="val 17500"/>
            </a:avLst>
          </a:prstGeom>
          <a:solidFill>
            <a:srgbClr val="F9E2EA"/>
          </a:solidFill>
          <a:ln w="10160">
            <a:solidFill>
              <a:srgbClr val="E2A8BC"/>
            </a:solidFill>
            <a:prstDash val="solid"/>
          </a:ln>
        </p:spPr>
      </p:sp>
      <p:sp>
        <p:nvSpPr>
          <p:cNvPr id="24" name="Text 22"/>
          <p:cNvSpPr/>
          <p:nvPr/>
        </p:nvSpPr>
        <p:spPr>
          <a:xfrm>
            <a:off x="822960" y="4901184"/>
            <a:ext cx="10515600" cy="365760"/>
          </a:xfrm>
          <a:prstGeom prst="rect">
            <a:avLst/>
          </a:prstGeom>
          <a:noFill/>
          <a:ln/>
        </p:spPr>
        <p:txBody>
          <a:bodyPr wrap="square" lIns="0" tIns="0" rIns="0" bIns="0" rtlCol="0" anchor="ctr"/>
          <a:lstStyle/>
          <a:p>
            <a:pPr indent="0" marL="0">
              <a:buNone/>
            </a:pPr>
            <a:r>
              <a:rPr lang="en-US" sz="1350" b="1" dirty="0">
                <a:solidFill>
                  <a:srgbClr val="9F224E"/>
                </a:solidFill>
                <a:latin typeface="Arial" pitchFamily="34" charset="0"/>
                <a:ea typeface="Arial" pitchFamily="34" charset="-122"/>
                <a:cs typeface="Arial" pitchFamily="34" charset="-120"/>
              </a:rPr>
              <a:t>NGUYÊN NHÂN 3: THIẾU THÔNG TIN "KÊNH PHÁT SÓNG / TRỰC TIẾP" &amp; PHÂN NHÓM "TỐI NAY / ĐÊM NAY"</a:t>
            </a:r>
            <a:endParaRPr lang="en-US" sz="1350" dirty="0"/>
          </a:p>
        </p:txBody>
      </p:sp>
      <p:sp>
        <p:nvSpPr>
          <p:cNvPr id="25" name="Text 23"/>
          <p:cNvSpPr/>
          <p:nvPr/>
        </p:nvSpPr>
        <p:spPr>
          <a:xfrm>
            <a:off x="822960" y="5303520"/>
            <a:ext cx="10515600" cy="914400"/>
          </a:xfrm>
          <a:prstGeom prst="rect">
            <a:avLst/>
          </a:prstGeom>
          <a:noFill/>
          <a:ln/>
        </p:spPr>
        <p:txBody>
          <a:bodyPr wrap="square" lIns="0" tIns="0" rIns="0" bIns="0" rtlCol="0" anchor="t"/>
          <a:lstStyle/>
          <a:p>
            <a:pPr indent="0" marL="0">
              <a:lnSpc>
                <a:spcPct val="118000"/>
              </a:lnSpc>
              <a:buNone/>
            </a:pPr>
            <a:r>
              <a:rPr lang="en-US" sz="1300" dirty="0">
                <a:solidFill>
                  <a:srgbClr val="1E293B"/>
                </a:solidFill>
                <a:latin typeface="Arial" pitchFamily="34" charset="0"/>
                <a:ea typeface="Arial" pitchFamily="34" charset="-122"/>
                <a:cs typeface="Arial" pitchFamily="34" charset="-120"/>
              </a:rPr>
              <a:t>• Người dùng tìm kiếm lịch hôm nay luôn đi kèm nhu cầu "Đá mấy giờ, chiếu kênh nào?" (thể hiện qua từ khóa "vtv6 trực tiếp bóng đá hôm nay" đạt 110,000 volume, tăng +308%; hay "tối nay ai đá" tăng +817%).</a:t>
            </a:r>
            <a:endParaRPr lang="en-US" sz="1300" dirty="0"/>
          </a:p>
          <a:p>
            <a:pPr indent="0" marL="0">
              <a:lnSpc>
                <a:spcPct val="118000"/>
              </a:lnSpc>
              <a:buNone/>
            </a:pPr>
            <a:r>
              <a:rPr lang="en-US" sz="1300" dirty="0">
                <a:solidFill>
                  <a:srgbClr val="1E293B"/>
                </a:solidFill>
                <a:latin typeface="Arial" pitchFamily="34" charset="0"/>
                <a:ea typeface="Arial" pitchFamily="34" charset="-122"/>
                <a:cs typeface="Arial" pitchFamily="34" charset="-120"/>
              </a:rPr>
              <a:t>• Việc thiếu thông tin kênh phát sóng (FPT Play, VTV, TV360, K+...) trong bảng lịch thi đấu làm giảm điểm chất lượng nội dung trên SERP.</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9F224E"/>
          </a:solidFill>
          <a:ln w="12700">
            <a:solidFill>
              <a:srgbClr val="9F224E"/>
            </a:solidFill>
            <a:prstDash val="solid"/>
          </a:ln>
        </p:spPr>
      </p:sp>
      <p:sp>
        <p:nvSpPr>
          <p:cNvPr id="3" name="Shape 1"/>
          <p:cNvSpPr/>
          <p:nvPr/>
        </p:nvSpPr>
        <p:spPr>
          <a:xfrm>
            <a:off x="0" y="82296"/>
            <a:ext cx="12191695" cy="914400"/>
          </a:xfrm>
          <a:prstGeom prst="rect">
            <a:avLst/>
          </a:prstGeom>
          <a:solidFill>
            <a:srgbClr val="FFFFFF"/>
          </a:solidFill>
          <a:ln w="10160">
            <a:solidFill>
              <a:srgbClr val="E2E8F0"/>
            </a:solidFill>
            <a:prstDash val="solid"/>
          </a:ln>
        </p:spPr>
      </p:sp>
      <p:sp>
        <p:nvSpPr>
          <p:cNvPr id="4" name="Shape 2"/>
          <p:cNvSpPr/>
          <p:nvPr/>
        </p:nvSpPr>
        <p:spPr>
          <a:xfrm>
            <a:off x="411480" y="201168"/>
            <a:ext cx="2834640" cy="329184"/>
          </a:xfrm>
          <a:prstGeom prst="roundRect">
            <a:avLst>
              <a:gd name="adj" fmla="val 16667"/>
            </a:avLst>
          </a:prstGeom>
          <a:solidFill>
            <a:srgbClr val="9F224E"/>
          </a:solidFill>
          <a:ln w="12700">
            <a:solidFill>
              <a:srgbClr val="9F224E"/>
            </a:solidFill>
            <a:prstDash val="solid"/>
          </a:ln>
        </p:spPr>
      </p:sp>
      <p:sp>
        <p:nvSpPr>
          <p:cNvPr id="5" name="Text 3"/>
          <p:cNvSpPr/>
          <p:nvPr/>
        </p:nvSpPr>
        <p:spPr>
          <a:xfrm>
            <a:off x="411480" y="201168"/>
            <a:ext cx="2834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HÀNH ĐỘNG 1 • KHỐI 3 / 4</a:t>
            </a:r>
            <a:endParaRPr lang="en-US" sz="1150" dirty="0"/>
          </a:p>
        </p:txBody>
      </p:sp>
      <p:sp>
        <p:nvSpPr>
          <p:cNvPr id="6" name="Text 4"/>
          <p:cNvSpPr/>
          <p:nvPr/>
        </p:nvSpPr>
        <p:spPr>
          <a:xfrm>
            <a:off x="3383280" y="146304"/>
            <a:ext cx="8412480" cy="420624"/>
          </a:xfrm>
          <a:prstGeom prst="rect">
            <a:avLst/>
          </a:prstGeom>
          <a:noFill/>
          <a:ln/>
        </p:spPr>
        <p:txBody>
          <a:bodyPr wrap="square" lIns="0" tIns="0" rIns="0" bIns="0" rtlCol="0" anchor="ctr"/>
          <a:lstStyle/>
          <a:p>
            <a:pPr algn="l" indent="0" marL="0">
              <a:buNone/>
            </a:pPr>
            <a:r>
              <a:rPr lang="en-US" sz="2000" b="1" dirty="0">
                <a:solidFill>
                  <a:srgbClr val="1E293B"/>
                </a:solidFill>
                <a:latin typeface="Arial" pitchFamily="34" charset="0"/>
                <a:ea typeface="Arial" pitchFamily="34" charset="-122"/>
                <a:cs typeface="Arial" pitchFamily="34" charset="-120"/>
              </a:rPr>
              <a:t>Hành động 1 (Tối ưu Trang Lịch Thi Đấu Hôm Nay): Giải pháp Đề xuất</a:t>
            </a:r>
            <a:endParaRPr lang="en-US" sz="2000" dirty="0"/>
          </a:p>
        </p:txBody>
      </p:sp>
      <p:sp>
        <p:nvSpPr>
          <p:cNvPr id="7" name="Text 5"/>
          <p:cNvSpPr/>
          <p:nvPr/>
        </p:nvSpPr>
        <p:spPr>
          <a:xfrm>
            <a:off x="411480" y="594360"/>
            <a:ext cx="11338560" cy="329184"/>
          </a:xfrm>
          <a:prstGeom prst="rect">
            <a:avLst/>
          </a:prstGeom>
          <a:noFill/>
          <a:ln/>
        </p:spPr>
        <p:txBody>
          <a:bodyPr wrap="square" lIns="0" tIns="0" rIns="0" bIns="0" rtlCol="0" anchor="ctr"/>
          <a:lstStyle/>
          <a:p>
            <a:pPr algn="l" indent="0" marL="0">
              <a:buNone/>
            </a:pPr>
            <a:r>
              <a:rPr lang="en-US" sz="1250" i="1" dirty="0">
                <a:solidFill>
                  <a:srgbClr val="64748B"/>
                </a:solidFill>
                <a:latin typeface="Arial" pitchFamily="34" charset="0"/>
                <a:ea typeface="Arial" pitchFamily="34" charset="-122"/>
                <a:cs typeface="Arial" pitchFamily="34" charset="-120"/>
              </a:rPr>
              <a:t>Tối ưu cấu trúc On-page &amp; Dynamic Meta theo ngày + Thiết kế giao diện mặc định là "Tất cả trận đấu Hôm nay" (SSR)</a:t>
            </a:r>
            <a:endParaRPr lang="en-US" sz="1250" dirty="0"/>
          </a:p>
        </p:txBody>
      </p:sp>
      <p:sp>
        <p:nvSpPr>
          <p:cNvPr id="8" name="Shape 6"/>
          <p:cNvSpPr/>
          <p:nvPr/>
        </p:nvSpPr>
        <p:spPr>
          <a:xfrm>
            <a:off x="0" y="6510528"/>
            <a:ext cx="12191695" cy="347472"/>
          </a:xfrm>
          <a:prstGeom prst="rect">
            <a:avLst/>
          </a:prstGeom>
          <a:solidFill>
            <a:srgbClr val="1E293B"/>
          </a:solidFill>
          <a:ln w="12700">
            <a:solidFill>
              <a:srgbClr val="1E293B"/>
            </a:solidFill>
            <a:prstDash val="solid"/>
          </a:ln>
        </p:spPr>
      </p:sp>
      <p:sp>
        <p:nvSpPr>
          <p:cNvPr id="9" name="Text 7"/>
          <p:cNvSpPr/>
          <p:nvPr/>
        </p:nvSpPr>
        <p:spPr>
          <a:xfrm>
            <a:off x="411480" y="6510528"/>
            <a:ext cx="8686800" cy="347472"/>
          </a:xfrm>
          <a:prstGeom prst="rect">
            <a:avLst/>
          </a:prstGeom>
          <a:noFill/>
          <a:ln/>
        </p:spPr>
        <p:txBody>
          <a:bodyPr wrap="square" lIns="0" tIns="0" rIns="0" bIns="0" rtlCol="0" anchor="ctr"/>
          <a:lstStyle/>
          <a:p>
            <a:pPr algn="l" indent="0" marL="0">
              <a:buNone/>
            </a:pPr>
            <a:r>
              <a:rPr lang="en-US" sz="1000" dirty="0">
                <a:solidFill>
                  <a:srgbClr val="CBD5E1"/>
                </a:solidFill>
                <a:latin typeface="Arial" pitchFamily="34" charset="0"/>
                <a:ea typeface="Arial" pitchFamily="34" charset="-122"/>
                <a:cs typeface="Arial" pitchFamily="34" charset="-120"/>
              </a:rPr>
              <a:t>VnExpress Thể Thao  |  Báo cáo Phân tích Vấn đề &amp; Giải pháp Cải tiến Trang Lịch Thi Đấu Bóng Đá</a:t>
            </a:r>
            <a:endParaRPr lang="en-US" sz="1000" dirty="0"/>
          </a:p>
        </p:txBody>
      </p:sp>
      <p:sp>
        <p:nvSpPr>
          <p:cNvPr id="10" name="Text 8"/>
          <p:cNvSpPr/>
          <p:nvPr/>
        </p:nvSpPr>
        <p:spPr>
          <a:xfrm>
            <a:off x="10058400" y="6510528"/>
            <a:ext cx="1719072"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Trang 8 / 19</a:t>
            </a:r>
            <a:endParaRPr lang="en-US" sz="1000" dirty="0"/>
          </a:p>
        </p:txBody>
      </p:sp>
      <p:sp>
        <p:nvSpPr>
          <p:cNvPr id="11" name="Shape 9"/>
          <p:cNvSpPr/>
          <p:nvPr/>
        </p:nvSpPr>
        <p:spPr>
          <a:xfrm>
            <a:off x="411480" y="1143000"/>
            <a:ext cx="11365992" cy="5193792"/>
          </a:xfrm>
          <a:prstGeom prst="roundRect">
            <a:avLst>
              <a:gd name="adj" fmla="val 1408"/>
            </a:avLst>
          </a:prstGeom>
          <a:solidFill>
            <a:srgbClr val="FFFFFF"/>
          </a:solidFill>
          <a:ln w="15240">
            <a:solidFill>
              <a:srgbClr val="CBD5E1"/>
            </a:solidFill>
            <a:prstDash val="solid"/>
          </a:ln>
        </p:spPr>
      </p:sp>
      <p:sp>
        <p:nvSpPr>
          <p:cNvPr id="12" name="Shape 10"/>
          <p:cNvSpPr/>
          <p:nvPr/>
        </p:nvSpPr>
        <p:spPr>
          <a:xfrm>
            <a:off x="411480" y="1143000"/>
            <a:ext cx="11365992" cy="475488"/>
          </a:xfrm>
          <a:prstGeom prst="roundRect">
            <a:avLst>
              <a:gd name="adj" fmla="val 15385"/>
            </a:avLst>
          </a:prstGeom>
          <a:solidFill>
            <a:srgbClr val="1E293B"/>
          </a:solidFill>
          <a:ln w="12700">
            <a:solidFill>
              <a:srgbClr val="1E293B"/>
            </a:solidFill>
            <a:prstDash val="solid"/>
          </a:ln>
        </p:spPr>
      </p:sp>
      <p:sp>
        <p:nvSpPr>
          <p:cNvPr id="13" name="Text 11"/>
          <p:cNvSpPr/>
          <p:nvPr/>
        </p:nvSpPr>
        <p:spPr>
          <a:xfrm>
            <a:off x="621792" y="1143000"/>
            <a:ext cx="10972800" cy="475488"/>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3. GIẢI PHÁP ĐỀ XUẤT TRIỂN KHAI CHO TRANG /THE-THAO/DU-LIEU-BONG-DA</a:t>
            </a:r>
            <a:endParaRPr lang="en-US" sz="1450" dirty="0"/>
          </a:p>
        </p:txBody>
      </p:sp>
      <p:sp>
        <p:nvSpPr>
          <p:cNvPr id="14" name="Text 12"/>
          <p:cNvSpPr/>
          <p:nvPr/>
        </p:nvSpPr>
        <p:spPr>
          <a:xfrm>
            <a:off x="640080" y="1737360"/>
            <a:ext cx="5989320" cy="3840480"/>
          </a:xfrm>
          <a:prstGeom prst="rect">
            <a:avLst/>
          </a:prstGeom>
          <a:noFill/>
          <a:ln/>
        </p:spPr>
        <p:txBody>
          <a:bodyPr wrap="square" lIns="0" tIns="0" rIns="0" bIns="0" rtlCol="0" anchor="t"/>
          <a:lstStyle/>
          <a:p>
            <a:pPr indent="0" marL="0">
              <a:lnSpc>
                <a:spcPct val="116000"/>
              </a:lnSpc>
              <a:buNone/>
            </a:pPr>
            <a:r>
              <a:rPr lang="en-US" sz="1450" b="1" dirty="0">
                <a:solidFill>
                  <a:srgbClr val="9F224E"/>
                </a:solidFill>
                <a:latin typeface="Arial" pitchFamily="34" charset="0"/>
                <a:ea typeface="Arial" pitchFamily="34" charset="-122"/>
                <a:cs typeface="Arial" pitchFamily="34" charset="-120"/>
              </a:rPr>
              <a:t>1. Tối ưu cấu trúc On-page &amp; Dynamic Meta theo ngày:
</a:t>
            </a:r>
            <a:pPr indent="0" marL="0">
              <a:lnSpc>
                <a:spcPct val="116000"/>
              </a:lnSpc>
              <a:buNone/>
            </a:pPr>
            <a:r>
              <a:rPr lang="en-US" sz="1300" b="1" dirty="0">
                <a:solidFill>
                  <a:srgbClr val="1E293B"/>
                </a:solidFill>
                <a:latin typeface="Arial" pitchFamily="34" charset="0"/>
                <a:ea typeface="Arial" pitchFamily="34" charset="-122"/>
                <a:cs typeface="Arial" pitchFamily="34" charset="-120"/>
              </a:rPr>
              <a:t>• Cập nhật Title Tag động theo ngày:
</a:t>
            </a:r>
            <a:pPr indent="0" marL="0">
              <a:lnSpc>
                <a:spcPct val="116000"/>
              </a:lnSpc>
              <a:buNone/>
            </a:pPr>
            <a:r>
              <a:rPr lang="en-US" sz="1300" b="1" i="1" dirty="0">
                <a:solidFill>
                  <a:srgbClr val="9F224E"/>
                </a:solidFill>
                <a:latin typeface="Arial" pitchFamily="34" charset="0"/>
                <a:ea typeface="Arial" pitchFamily="34" charset="-122"/>
                <a:cs typeface="Arial" pitchFamily="34" charset="-120"/>
              </a:rPr>
              <a:t>   "Lịch thi đấu bóng đá hôm nay [DD/MM], tối và rạng sáng mai mới nhất - VnExpress"
</a:t>
            </a:r>
            <a:pPr indent="0" marL="0">
              <a:lnSpc>
                <a:spcPct val="116000"/>
              </a:lnSpc>
              <a:buNone/>
            </a:pPr>
            <a:r>
              <a:rPr lang="en-US" sz="1300" b="1" dirty="0">
                <a:solidFill>
                  <a:srgbClr val="1E293B"/>
                </a:solidFill>
                <a:latin typeface="Arial" pitchFamily="34" charset="0"/>
                <a:ea typeface="Arial" pitchFamily="34" charset="-122"/>
                <a:cs typeface="Arial" pitchFamily="34" charset="-120"/>
              </a:rPr>
              <a:t>• Cập nhật thẻ H1:
</a:t>
            </a:r>
            <a:pPr indent="0" marL="0">
              <a:lnSpc>
                <a:spcPct val="116000"/>
              </a:lnSpc>
              <a:buNone/>
            </a:pPr>
            <a:r>
              <a:rPr lang="en-US" sz="1300" b="1" i="1" dirty="0">
                <a:solidFill>
                  <a:srgbClr val="9F224E"/>
                </a:solidFill>
                <a:latin typeface="Arial" pitchFamily="34" charset="0"/>
                <a:ea typeface="Arial" pitchFamily="34" charset="-122"/>
                <a:cs typeface="Arial" pitchFamily="34" charset="-120"/>
              </a:rPr>
              <a:t>   "Lịch thi đấu bóng đá hôm nay và rạng sáng mai"
</a:t>
            </a:r>
            <a:pPr indent="0" marL="0">
              <a:lnSpc>
                <a:spcPct val="116000"/>
              </a:lnSpc>
              <a:buNone/>
            </a:pPr>
            <a:r>
              <a:rPr lang="en-US" sz="1300" b="1" dirty="0">
                <a:solidFill>
                  <a:srgbClr val="1E293B"/>
                </a:solidFill>
                <a:latin typeface="Arial" pitchFamily="34" charset="0"/>
                <a:ea typeface="Arial" pitchFamily="34" charset="-122"/>
                <a:cs typeface="Arial" pitchFamily="34" charset="-120"/>
              </a:rPr>
              <a:t>• Bổ sung khối Dynamic Summary (Tóm tắt tự động đầu trang bằng SSR):
</a:t>
            </a:r>
            <a:pPr indent="0" marL="0">
              <a:lnSpc>
                <a:spcPct val="116000"/>
              </a:lnSpc>
              <a:buNone/>
            </a:pPr>
            <a:r>
              <a:rPr lang="en-US" sz="1280" dirty="0">
                <a:solidFill>
                  <a:srgbClr val="334155"/>
                </a:solidFill>
                <a:latin typeface="Arial" pitchFamily="34" charset="0"/>
                <a:ea typeface="Arial" pitchFamily="34" charset="-122"/>
                <a:cs typeface="Arial" pitchFamily="34" charset="-120"/>
              </a:rPr>
              <a:t>   Tự động trích xuất từ API dữ liệu bóng đá để render một đoạn văn bản ngắn 3–4 dòng ngay dưới H1 mỗi ngày.
</a:t>
            </a:r>
            <a:pPr indent="0" marL="0">
              <a:lnSpc>
                <a:spcPct val="116000"/>
              </a:lnSpc>
              <a:buNone/>
            </a:pPr>
            <a:r>
              <a:rPr lang="en-US" sz="1450" b="1" dirty="0">
                <a:solidFill>
                  <a:srgbClr val="9F224E"/>
                </a:solidFill>
                <a:latin typeface="Arial" pitchFamily="34" charset="0"/>
                <a:ea typeface="Arial" pitchFamily="34" charset="-122"/>
                <a:cs typeface="Arial" pitchFamily="34" charset="-120"/>
              </a:rPr>
              <a:t>2. Thiết kế giao diện mặc định là "Tất cả trận đấu Hôm nay":
</a:t>
            </a:r>
            <a:pPr indent="0" marL="0">
              <a:lnSpc>
                <a:spcPct val="116000"/>
              </a:lnSpc>
              <a:buNone/>
            </a:pPr>
            <a:r>
              <a:rPr lang="en-US" sz="1300" dirty="0">
                <a:solidFill>
                  <a:srgbClr val="334155"/>
                </a:solidFill>
                <a:latin typeface="Arial" pitchFamily="34" charset="0"/>
                <a:ea typeface="Arial" pitchFamily="34" charset="-122"/>
                <a:cs typeface="Arial" pitchFamily="34" charset="-120"/>
              </a:rPr>
              <a:t>• Luồng hiển thị mặc định đầu tiên là </a:t>
            </a:r>
            <a:pPr indent="0" marL="0">
              <a:lnSpc>
                <a:spcPct val="116000"/>
              </a:lnSpc>
              <a:buNone/>
            </a:pPr>
            <a:r>
              <a:rPr lang="en-US" sz="1300" b="1" dirty="0">
                <a:solidFill>
                  <a:srgbClr val="1E293B"/>
                </a:solidFill>
                <a:latin typeface="Arial" pitchFamily="34" charset="0"/>
                <a:ea typeface="Arial" pitchFamily="34" charset="-122"/>
                <a:cs typeface="Arial" pitchFamily="34" charset="-120"/>
              </a:rPr>
              <a:t>Lịch thi đấu &amp; Kết quả các trận diễn ra Hôm nay / Rạng sáng mai</a:t>
            </a:r>
            <a:pPr indent="0" marL="0">
              <a:lnSpc>
                <a:spcPct val="116000"/>
              </a:lnSpc>
              <a:buNone/>
            </a:pPr>
            <a:r>
              <a:rPr lang="en-US" sz="1280" dirty="0">
                <a:solidFill>
                  <a:srgbClr val="334155"/>
                </a:solidFill>
                <a:latin typeface="Arial" pitchFamily="34" charset="0"/>
                <a:ea typeface="Arial" pitchFamily="34" charset="-122"/>
                <a:cs typeface="Arial" pitchFamily="34" charset="-120"/>
              </a:rPr>
              <a:t>, gom nhóm theo các giải được quan tâm nhất (V-League, ĐT Việt Nam, Ngoại hạng Anh, C1, La Liga, Serie A, Bundesliga...) thay vì bắt bấm chọn từng giải.
</a:t>
            </a:r>
            <a:pPr indent="0" marL="0">
              <a:lnSpc>
                <a:spcPct val="116000"/>
              </a:lnSpc>
              <a:buNone/>
            </a:pPr>
            <a:r>
              <a:rPr lang="en-US" sz="1300" b="1" dirty="0">
                <a:solidFill>
                  <a:srgbClr val="9F224E"/>
                </a:solidFill>
                <a:latin typeface="Arial" pitchFamily="34" charset="0"/>
                <a:ea typeface="Arial" pitchFamily="34" charset="-122"/>
                <a:cs typeface="Arial" pitchFamily="34" charset="-120"/>
              </a:rPr>
              <a:t>• Server-Side Render (SSR) 100% </a:t>
            </a:r>
            <a:pPr indent="0" marL="0">
              <a:lnSpc>
                <a:spcPct val="116000"/>
              </a:lnSpc>
              <a:buNone/>
            </a:pPr>
            <a:r>
              <a:rPr lang="en-US" sz="1280" dirty="0">
                <a:solidFill>
                  <a:srgbClr val="334155"/>
                </a:solidFill>
                <a:latin typeface="Arial" pitchFamily="34" charset="0"/>
                <a:ea typeface="Arial" pitchFamily="34" charset="-122"/>
                <a:cs typeface="Arial" pitchFamily="34" charset="-120"/>
              </a:rPr>
              <a:t>bảng lịch thi đấu hôm nay và ngày mai trong HTML.
</a:t>
            </a:r>
            <a:pPr indent="0" marL="0">
              <a:lnSpc>
                <a:spcPct val="116000"/>
              </a:lnSpc>
              <a:buNone/>
            </a:pPr>
            <a:r>
              <a:rPr lang="en-US" sz="1300" b="1" dirty="0">
                <a:solidFill>
                  <a:srgbClr val="1E293B"/>
                </a:solidFill>
                <a:latin typeface="Arial" pitchFamily="34" charset="0"/>
                <a:ea typeface="Arial" pitchFamily="34" charset="-122"/>
                <a:cs typeface="Arial" pitchFamily="34" charset="-120"/>
              </a:rPr>
              <a:t>• Bổ sung cột/nhãn Kênh phát sóng </a:t>
            </a:r>
            <a:pPr indent="0" marL="0">
              <a:lnSpc>
                <a:spcPct val="116000"/>
              </a:lnSpc>
              <a:buNone/>
            </a:pPr>
            <a:r>
              <a:rPr lang="en-US" sz="1280" dirty="0">
                <a:solidFill>
                  <a:srgbClr val="334155"/>
                </a:solidFill>
                <a:latin typeface="Arial" pitchFamily="34" charset="0"/>
                <a:ea typeface="Arial" pitchFamily="34" charset="-122"/>
                <a:cs typeface="Arial" pitchFamily="34" charset="-120"/>
              </a:rPr>
              <a:t>bên cạnh giờ thi đấu để chiếm lĩnh nhóm từ khóa lịch trực tiếp / phát sóng.</a:t>
            </a:r>
            <a:endParaRPr lang="en-US" sz="1450" dirty="0"/>
          </a:p>
        </p:txBody>
      </p:sp>
      <p:sp>
        <p:nvSpPr>
          <p:cNvPr id="15" name="Shape 13"/>
          <p:cNvSpPr/>
          <p:nvPr/>
        </p:nvSpPr>
        <p:spPr>
          <a:xfrm>
            <a:off x="640080" y="5650992"/>
            <a:ext cx="5989320" cy="512064"/>
          </a:xfrm>
          <a:prstGeom prst="roundRect">
            <a:avLst>
              <a:gd name="adj" fmla="val 12500"/>
            </a:avLst>
          </a:prstGeom>
          <a:solidFill>
            <a:srgbClr val="FDF2F6"/>
          </a:solidFill>
          <a:ln w="15240">
            <a:solidFill>
              <a:srgbClr val="E2A8BC"/>
            </a:solidFill>
            <a:prstDash val="solid"/>
          </a:ln>
        </p:spPr>
      </p:sp>
      <p:sp>
        <p:nvSpPr>
          <p:cNvPr id="16" name="Text 14"/>
          <p:cNvSpPr/>
          <p:nvPr/>
        </p:nvSpPr>
        <p:spPr>
          <a:xfrm>
            <a:off x="804672" y="5650992"/>
            <a:ext cx="5669280" cy="512064"/>
          </a:xfrm>
          <a:prstGeom prst="rect">
            <a:avLst/>
          </a:prstGeom>
          <a:noFill/>
          <a:ln/>
        </p:spPr>
        <p:txBody>
          <a:bodyPr wrap="square" lIns="0" tIns="0" rIns="0" bIns="0" rtlCol="0" anchor="ctr"/>
          <a:lstStyle/>
          <a:p>
            <a:pPr indent="0" marL="0">
              <a:buNone/>
            </a:pPr>
            <a:r>
              <a:rPr lang="en-US" sz="1300" b="1" dirty="0">
                <a:solidFill>
                  <a:srgbClr val="9F224E"/>
                </a:solidFill>
                <a:latin typeface="Arial" pitchFamily="34" charset="0"/>
                <a:ea typeface="Arial" pitchFamily="34" charset="-122"/>
                <a:cs typeface="Arial" pitchFamily="34" charset="-120"/>
              </a:rPr>
              <a:t>🔗 Demo: </a:t>
            </a:r>
            <a:pPr indent="0" marL="0">
              <a:buNone/>
            </a:pPr>
            <a:r>
              <a:rPr lang="en-US" sz="1300" b="1" u="sng" dirty="0">
                <a:solidFill>
                  <a:srgbClr val="9F224E"/>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https://brand-new-lich-thi-dau.vercel.app/?mode=future</a:t>
            </a:r>
            <a:endParaRPr lang="en-US" sz="1300" dirty="0"/>
          </a:p>
        </p:txBody>
      </p:sp>
      <p:sp>
        <p:nvSpPr>
          <p:cNvPr id="17" name="Shape 15"/>
          <p:cNvSpPr/>
          <p:nvPr/>
        </p:nvSpPr>
        <p:spPr>
          <a:xfrm>
            <a:off x="6812280" y="1737360"/>
            <a:ext cx="4754880" cy="4425696"/>
          </a:xfrm>
          <a:prstGeom prst="roundRect">
            <a:avLst>
              <a:gd name="adj" fmla="val 1446"/>
            </a:avLst>
          </a:prstGeom>
          <a:solidFill>
            <a:srgbClr val="F1F5F9"/>
          </a:solidFill>
          <a:ln w="12700">
            <a:solidFill>
              <a:srgbClr val="CBD5E1"/>
            </a:solidFill>
            <a:prstDash val="solid"/>
          </a:ln>
        </p:spPr>
      </p:sp>
      <p:pic>
        <p:nvPicPr>
          <p:cNvPr id="18" name="Image 0" descr="c:\Antigravity\final-ltd\pc_capture.png">    </p:cNvPr>
          <p:cNvPicPr>
            <a:picLocks noChangeAspect="1"/>
          </p:cNvPicPr>
          <p:nvPr/>
        </p:nvPicPr>
        <p:blipFill>
          <a:blip r:embed="rId2"/>
          <a:stretch>
            <a:fillRect/>
          </a:stretch>
        </p:blipFill>
        <p:spPr>
          <a:xfrm>
            <a:off x="6903720" y="1828800"/>
            <a:ext cx="4572000" cy="42428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9F224E"/>
          </a:solidFill>
          <a:ln w="12700">
            <a:solidFill>
              <a:srgbClr val="9F224E"/>
            </a:solidFill>
            <a:prstDash val="solid"/>
          </a:ln>
        </p:spPr>
      </p:sp>
      <p:sp>
        <p:nvSpPr>
          <p:cNvPr id="3" name="Shape 1"/>
          <p:cNvSpPr/>
          <p:nvPr/>
        </p:nvSpPr>
        <p:spPr>
          <a:xfrm>
            <a:off x="0" y="82296"/>
            <a:ext cx="12191695" cy="914400"/>
          </a:xfrm>
          <a:prstGeom prst="rect">
            <a:avLst/>
          </a:prstGeom>
          <a:solidFill>
            <a:srgbClr val="FFFFFF"/>
          </a:solidFill>
          <a:ln w="10160">
            <a:solidFill>
              <a:srgbClr val="E2E8F0"/>
            </a:solidFill>
            <a:prstDash val="solid"/>
          </a:ln>
        </p:spPr>
      </p:sp>
      <p:sp>
        <p:nvSpPr>
          <p:cNvPr id="4" name="Shape 2"/>
          <p:cNvSpPr/>
          <p:nvPr/>
        </p:nvSpPr>
        <p:spPr>
          <a:xfrm>
            <a:off x="411480" y="201168"/>
            <a:ext cx="2834640" cy="329184"/>
          </a:xfrm>
          <a:prstGeom prst="roundRect">
            <a:avLst>
              <a:gd name="adj" fmla="val 16667"/>
            </a:avLst>
          </a:prstGeom>
          <a:solidFill>
            <a:srgbClr val="9F224E"/>
          </a:solidFill>
          <a:ln w="12700">
            <a:solidFill>
              <a:srgbClr val="9F224E"/>
            </a:solidFill>
            <a:prstDash val="solid"/>
          </a:ln>
        </p:spPr>
      </p:sp>
      <p:sp>
        <p:nvSpPr>
          <p:cNvPr id="5" name="Text 3"/>
          <p:cNvSpPr/>
          <p:nvPr/>
        </p:nvSpPr>
        <p:spPr>
          <a:xfrm>
            <a:off x="411480" y="201168"/>
            <a:ext cx="2834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HÀNH ĐỘNG 1 • KHỐI 4 / 4</a:t>
            </a:r>
            <a:endParaRPr lang="en-US" sz="1150" dirty="0"/>
          </a:p>
        </p:txBody>
      </p:sp>
      <p:sp>
        <p:nvSpPr>
          <p:cNvPr id="6" name="Text 4"/>
          <p:cNvSpPr/>
          <p:nvPr/>
        </p:nvSpPr>
        <p:spPr>
          <a:xfrm>
            <a:off x="3383280" y="146304"/>
            <a:ext cx="8412480" cy="420624"/>
          </a:xfrm>
          <a:prstGeom prst="rect">
            <a:avLst/>
          </a:prstGeom>
          <a:noFill/>
          <a:ln/>
        </p:spPr>
        <p:txBody>
          <a:bodyPr wrap="square" lIns="0" tIns="0" rIns="0" bIns="0" rtlCol="0" anchor="ctr"/>
          <a:lstStyle/>
          <a:p>
            <a:pPr algn="l" indent="0" marL="0">
              <a:buNone/>
            </a:pPr>
            <a:r>
              <a:rPr lang="en-US" sz="2000" b="1" dirty="0">
                <a:solidFill>
                  <a:srgbClr val="1E293B"/>
                </a:solidFill>
                <a:latin typeface="Arial" pitchFamily="34" charset="0"/>
                <a:ea typeface="Arial" pitchFamily="34" charset="-122"/>
                <a:cs typeface="Arial" pitchFamily="34" charset="-120"/>
              </a:rPr>
              <a:t>Hành động 1 (Tối ưu Trang Lịch Thi Đấu Hôm Nay): KPI Mục tiêu</a:t>
            </a:r>
            <a:endParaRPr lang="en-US" sz="2000" dirty="0"/>
          </a:p>
        </p:txBody>
      </p:sp>
      <p:sp>
        <p:nvSpPr>
          <p:cNvPr id="7" name="Text 5"/>
          <p:cNvSpPr/>
          <p:nvPr/>
        </p:nvSpPr>
        <p:spPr>
          <a:xfrm>
            <a:off x="411480" y="594360"/>
            <a:ext cx="11338560" cy="329184"/>
          </a:xfrm>
          <a:prstGeom prst="rect">
            <a:avLst/>
          </a:prstGeom>
          <a:noFill/>
          <a:ln/>
        </p:spPr>
        <p:txBody>
          <a:bodyPr wrap="square" lIns="0" tIns="0" rIns="0" bIns="0" rtlCol="0" anchor="ctr"/>
          <a:lstStyle/>
          <a:p>
            <a:pPr algn="l" indent="0" marL="0">
              <a:buNone/>
            </a:pPr>
            <a:r>
              <a:rPr lang="en-US" sz="1250" i="1" dirty="0">
                <a:solidFill>
                  <a:srgbClr val="64748B"/>
                </a:solidFill>
                <a:latin typeface="Arial" pitchFamily="34" charset="0"/>
                <a:ea typeface="Arial" pitchFamily="34" charset="-122"/>
                <a:cs typeface="Arial" pitchFamily="34" charset="-120"/>
              </a:rPr>
              <a:t>Cam kết tăng trưởng +100% Search Clicks tại Trang chủ Dữ liệu (/the-thao/du-lieu-bong-da) sau 12 tháng</a:t>
            </a:r>
            <a:endParaRPr lang="en-US" sz="1250" dirty="0"/>
          </a:p>
        </p:txBody>
      </p:sp>
      <p:sp>
        <p:nvSpPr>
          <p:cNvPr id="8" name="Shape 6"/>
          <p:cNvSpPr/>
          <p:nvPr/>
        </p:nvSpPr>
        <p:spPr>
          <a:xfrm>
            <a:off x="0" y="6510528"/>
            <a:ext cx="12191695" cy="347472"/>
          </a:xfrm>
          <a:prstGeom prst="rect">
            <a:avLst/>
          </a:prstGeom>
          <a:solidFill>
            <a:srgbClr val="1E293B"/>
          </a:solidFill>
          <a:ln w="12700">
            <a:solidFill>
              <a:srgbClr val="1E293B"/>
            </a:solidFill>
            <a:prstDash val="solid"/>
          </a:ln>
        </p:spPr>
      </p:sp>
      <p:sp>
        <p:nvSpPr>
          <p:cNvPr id="9" name="Text 7"/>
          <p:cNvSpPr/>
          <p:nvPr/>
        </p:nvSpPr>
        <p:spPr>
          <a:xfrm>
            <a:off x="411480" y="6510528"/>
            <a:ext cx="8686800" cy="347472"/>
          </a:xfrm>
          <a:prstGeom prst="rect">
            <a:avLst/>
          </a:prstGeom>
          <a:noFill/>
          <a:ln/>
        </p:spPr>
        <p:txBody>
          <a:bodyPr wrap="square" lIns="0" tIns="0" rIns="0" bIns="0" rtlCol="0" anchor="ctr"/>
          <a:lstStyle/>
          <a:p>
            <a:pPr algn="l" indent="0" marL="0">
              <a:buNone/>
            </a:pPr>
            <a:r>
              <a:rPr lang="en-US" sz="1000" dirty="0">
                <a:solidFill>
                  <a:srgbClr val="CBD5E1"/>
                </a:solidFill>
                <a:latin typeface="Arial" pitchFamily="34" charset="0"/>
                <a:ea typeface="Arial" pitchFamily="34" charset="-122"/>
                <a:cs typeface="Arial" pitchFamily="34" charset="-120"/>
              </a:rPr>
              <a:t>VnExpress Thể Thao  |  Báo cáo Phân tích Vấn đề &amp; Giải pháp Cải tiến Trang Lịch Thi Đấu Bóng Đá</a:t>
            </a:r>
            <a:endParaRPr lang="en-US" sz="1000" dirty="0"/>
          </a:p>
        </p:txBody>
      </p:sp>
      <p:sp>
        <p:nvSpPr>
          <p:cNvPr id="10" name="Text 8"/>
          <p:cNvSpPr/>
          <p:nvPr/>
        </p:nvSpPr>
        <p:spPr>
          <a:xfrm>
            <a:off x="10058400" y="6510528"/>
            <a:ext cx="1719072"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Trang 9 / 19</a:t>
            </a:r>
            <a:endParaRPr lang="en-US" sz="1000" dirty="0"/>
          </a:p>
        </p:txBody>
      </p:sp>
      <p:sp>
        <p:nvSpPr>
          <p:cNvPr id="11" name="Shape 9"/>
          <p:cNvSpPr/>
          <p:nvPr/>
        </p:nvSpPr>
        <p:spPr>
          <a:xfrm>
            <a:off x="411480" y="1143000"/>
            <a:ext cx="11365992" cy="5193792"/>
          </a:xfrm>
          <a:prstGeom prst="roundRect">
            <a:avLst>
              <a:gd name="adj" fmla="val 1408"/>
            </a:avLst>
          </a:prstGeom>
          <a:solidFill>
            <a:srgbClr val="FFFFFF"/>
          </a:solidFill>
          <a:ln w="15240">
            <a:solidFill>
              <a:srgbClr val="CBD5E1"/>
            </a:solidFill>
            <a:prstDash val="solid"/>
          </a:ln>
        </p:spPr>
      </p:sp>
      <p:sp>
        <p:nvSpPr>
          <p:cNvPr id="12" name="Shape 10"/>
          <p:cNvSpPr/>
          <p:nvPr/>
        </p:nvSpPr>
        <p:spPr>
          <a:xfrm>
            <a:off x="411480" y="1143000"/>
            <a:ext cx="11365992" cy="475488"/>
          </a:xfrm>
          <a:prstGeom prst="roundRect">
            <a:avLst>
              <a:gd name="adj" fmla="val 15385"/>
            </a:avLst>
          </a:prstGeom>
          <a:solidFill>
            <a:srgbClr val="1E293B"/>
          </a:solidFill>
          <a:ln w="12700">
            <a:solidFill>
              <a:srgbClr val="1E293B"/>
            </a:solidFill>
            <a:prstDash val="solid"/>
          </a:ln>
        </p:spPr>
      </p:sp>
      <p:sp>
        <p:nvSpPr>
          <p:cNvPr id="13" name="Text 11"/>
          <p:cNvSpPr/>
          <p:nvPr/>
        </p:nvSpPr>
        <p:spPr>
          <a:xfrm>
            <a:off x="621792" y="1143000"/>
            <a:ext cx="10972800" cy="475488"/>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4. KPI DỰ KIẾN CỦA HÀNH ĐỘNG 1 (SAU 12 THÁNG TRIỂN KHAI)</a:t>
            </a:r>
            <a:endParaRPr lang="en-US" sz="1450" dirty="0"/>
          </a:p>
        </p:txBody>
      </p:sp>
      <p:sp>
        <p:nvSpPr>
          <p:cNvPr id="14" name="Shape 12"/>
          <p:cNvSpPr/>
          <p:nvPr/>
        </p:nvSpPr>
        <p:spPr>
          <a:xfrm>
            <a:off x="640080" y="1828800"/>
            <a:ext cx="3520440" cy="2057400"/>
          </a:xfrm>
          <a:prstGeom prst="roundRect">
            <a:avLst>
              <a:gd name="adj" fmla="val 3556"/>
            </a:avLst>
          </a:prstGeom>
          <a:solidFill>
            <a:srgbClr val="F1F5F9"/>
          </a:solidFill>
          <a:ln w="19050">
            <a:solidFill>
              <a:srgbClr val="CBD5E1"/>
            </a:solidFill>
            <a:prstDash val="solid"/>
          </a:ln>
        </p:spPr>
      </p:sp>
      <p:sp>
        <p:nvSpPr>
          <p:cNvPr id="15" name="Text 13"/>
          <p:cNvSpPr/>
          <p:nvPr/>
        </p:nvSpPr>
        <p:spPr>
          <a:xfrm>
            <a:off x="777240" y="1993392"/>
            <a:ext cx="3246120" cy="320040"/>
          </a:xfrm>
          <a:prstGeom prst="rect">
            <a:avLst/>
          </a:prstGeom>
          <a:noFill/>
          <a:ln/>
        </p:spPr>
        <p:txBody>
          <a:bodyPr wrap="square" lIns="0" tIns="0" rIns="0" bIns="0" rtlCol="0" anchor="ctr"/>
          <a:lstStyle/>
          <a:p>
            <a:pPr algn="ctr" indent="0" marL="0">
              <a:buNone/>
            </a:pPr>
            <a:r>
              <a:rPr lang="en-US" sz="1200" b="1" dirty="0">
                <a:solidFill>
                  <a:srgbClr val="64748B"/>
                </a:solidFill>
                <a:latin typeface="Arial" pitchFamily="34" charset="0"/>
                <a:ea typeface="Arial" pitchFamily="34" charset="-122"/>
                <a:cs typeface="Arial" pitchFamily="34" charset="-120"/>
              </a:rPr>
              <a:t>HIỆN TRẠNG BASELINE (15 THÁNG)</a:t>
            </a:r>
            <a:endParaRPr lang="en-US" sz="1200" dirty="0"/>
          </a:p>
        </p:txBody>
      </p:sp>
      <p:sp>
        <p:nvSpPr>
          <p:cNvPr id="16" name="Text 14"/>
          <p:cNvSpPr/>
          <p:nvPr/>
        </p:nvSpPr>
        <p:spPr>
          <a:xfrm>
            <a:off x="777240" y="2423160"/>
            <a:ext cx="3246120" cy="594360"/>
          </a:xfrm>
          <a:prstGeom prst="rect">
            <a:avLst/>
          </a:prstGeom>
          <a:noFill/>
          <a:ln/>
        </p:spPr>
        <p:txBody>
          <a:bodyPr wrap="square" lIns="0" tIns="0" rIns="0" bIns="0" rtlCol="0" anchor="ctr"/>
          <a:lstStyle/>
          <a:p>
            <a:pPr algn="ctr" indent="0" marL="0">
              <a:buNone/>
            </a:pPr>
            <a:r>
              <a:rPr lang="en-US" sz="2400" b="1" dirty="0">
                <a:solidFill>
                  <a:srgbClr val="1E293B"/>
                </a:solidFill>
                <a:latin typeface="Arial" pitchFamily="34" charset="0"/>
                <a:ea typeface="Arial" pitchFamily="34" charset="-122"/>
                <a:cs typeface="Arial" pitchFamily="34" charset="-120"/>
              </a:rPr>
              <a:t>11,700 / tháng</a:t>
            </a:r>
            <a:endParaRPr lang="en-US" sz="2400" dirty="0"/>
          </a:p>
        </p:txBody>
      </p:sp>
      <p:sp>
        <p:nvSpPr>
          <p:cNvPr id="17" name="Text 15"/>
          <p:cNvSpPr/>
          <p:nvPr/>
        </p:nvSpPr>
        <p:spPr>
          <a:xfrm>
            <a:off x="777240" y="3154680"/>
            <a:ext cx="3246120" cy="502920"/>
          </a:xfrm>
          <a:prstGeom prst="rect">
            <a:avLst/>
          </a:prstGeom>
          <a:noFill/>
          <a:ln/>
        </p:spPr>
        <p:txBody>
          <a:bodyPr wrap="square" lIns="0" tIns="0" rIns="0" bIns="0"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Tổng 175,917 Clicks trong 15 tháng</a:t>
            </a:r>
            <a:endParaRPr lang="en-US" sz="1300" dirty="0"/>
          </a:p>
        </p:txBody>
      </p:sp>
      <p:sp>
        <p:nvSpPr>
          <p:cNvPr id="18" name="Shape 16"/>
          <p:cNvSpPr/>
          <p:nvPr/>
        </p:nvSpPr>
        <p:spPr>
          <a:xfrm>
            <a:off x="4334256" y="1828800"/>
            <a:ext cx="3520440" cy="2057400"/>
          </a:xfrm>
          <a:prstGeom prst="roundRect">
            <a:avLst>
              <a:gd name="adj" fmla="val 3556"/>
            </a:avLst>
          </a:prstGeom>
          <a:solidFill>
            <a:srgbClr val="FDF2F6"/>
          </a:solidFill>
          <a:ln w="19050">
            <a:solidFill>
              <a:srgbClr val="E2A8BC"/>
            </a:solidFill>
            <a:prstDash val="solid"/>
          </a:ln>
        </p:spPr>
      </p:sp>
      <p:sp>
        <p:nvSpPr>
          <p:cNvPr id="19" name="Text 17"/>
          <p:cNvSpPr/>
          <p:nvPr/>
        </p:nvSpPr>
        <p:spPr>
          <a:xfrm>
            <a:off x="4471416" y="1993392"/>
            <a:ext cx="3246120" cy="320040"/>
          </a:xfrm>
          <a:prstGeom prst="rect">
            <a:avLst/>
          </a:prstGeom>
          <a:noFill/>
          <a:ln/>
        </p:spPr>
        <p:txBody>
          <a:bodyPr wrap="square" lIns="0" tIns="0" rIns="0" bIns="0" rtlCol="0" anchor="ctr"/>
          <a:lstStyle/>
          <a:p>
            <a:pPr algn="ctr" indent="0" marL="0">
              <a:buNone/>
            </a:pPr>
            <a:r>
              <a:rPr lang="en-US" sz="1200" b="1" dirty="0">
                <a:solidFill>
                  <a:srgbClr val="64748B"/>
                </a:solidFill>
                <a:latin typeface="Arial" pitchFamily="34" charset="0"/>
                <a:ea typeface="Arial" pitchFamily="34" charset="-122"/>
                <a:cs typeface="Arial" pitchFamily="34" charset="-120"/>
              </a:rPr>
              <a:t>DỰ BÁO ĐẠT ĐƯỢC SAU 12 THÁNG</a:t>
            </a:r>
            <a:endParaRPr lang="en-US" sz="1200" dirty="0"/>
          </a:p>
        </p:txBody>
      </p:sp>
      <p:sp>
        <p:nvSpPr>
          <p:cNvPr id="20" name="Text 18"/>
          <p:cNvSpPr/>
          <p:nvPr/>
        </p:nvSpPr>
        <p:spPr>
          <a:xfrm>
            <a:off x="4471416" y="2423160"/>
            <a:ext cx="3246120" cy="594360"/>
          </a:xfrm>
          <a:prstGeom prst="rect">
            <a:avLst/>
          </a:prstGeom>
          <a:noFill/>
          <a:ln/>
        </p:spPr>
        <p:txBody>
          <a:bodyPr wrap="square" lIns="0" tIns="0" rIns="0" bIns="0" rtlCol="0" anchor="ctr"/>
          <a:lstStyle/>
          <a:p>
            <a:pPr algn="ctr" indent="0" marL="0">
              <a:buNone/>
            </a:pPr>
            <a:r>
              <a:rPr lang="en-US" sz="2400" b="1" dirty="0">
                <a:solidFill>
                  <a:srgbClr val="9F224E"/>
                </a:solidFill>
                <a:latin typeface="Arial" pitchFamily="34" charset="0"/>
                <a:ea typeface="Arial" pitchFamily="34" charset="-122"/>
                <a:cs typeface="Arial" pitchFamily="34" charset="-120"/>
              </a:rPr>
              <a:t>23,500 / tháng</a:t>
            </a:r>
            <a:endParaRPr lang="en-US" sz="2400" dirty="0"/>
          </a:p>
        </p:txBody>
      </p:sp>
      <p:sp>
        <p:nvSpPr>
          <p:cNvPr id="21" name="Text 19"/>
          <p:cNvSpPr/>
          <p:nvPr/>
        </p:nvSpPr>
        <p:spPr>
          <a:xfrm>
            <a:off x="4471416" y="3154680"/>
            <a:ext cx="3246120" cy="502920"/>
          </a:xfrm>
          <a:prstGeom prst="rect">
            <a:avLst/>
          </a:prstGeom>
          <a:noFill/>
          <a:ln/>
        </p:spPr>
        <p:txBody>
          <a:bodyPr wrap="square" lIns="0" tIns="0" rIns="0" bIns="0"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Nhân đôi lưu lượng truy cập từ Google</a:t>
            </a:r>
            <a:endParaRPr lang="en-US" sz="1300" dirty="0"/>
          </a:p>
        </p:txBody>
      </p:sp>
      <p:sp>
        <p:nvSpPr>
          <p:cNvPr id="22" name="Shape 20"/>
          <p:cNvSpPr/>
          <p:nvPr/>
        </p:nvSpPr>
        <p:spPr>
          <a:xfrm>
            <a:off x="8028432" y="1828800"/>
            <a:ext cx="3520440" cy="2057400"/>
          </a:xfrm>
          <a:prstGeom prst="roundRect">
            <a:avLst>
              <a:gd name="adj" fmla="val 3556"/>
            </a:avLst>
          </a:prstGeom>
          <a:solidFill>
            <a:srgbClr val="FDF2F6"/>
          </a:solidFill>
          <a:ln w="19050">
            <a:solidFill>
              <a:srgbClr val="E2A8BC"/>
            </a:solidFill>
            <a:prstDash val="solid"/>
          </a:ln>
        </p:spPr>
      </p:sp>
      <p:sp>
        <p:nvSpPr>
          <p:cNvPr id="23" name="Text 21"/>
          <p:cNvSpPr/>
          <p:nvPr/>
        </p:nvSpPr>
        <p:spPr>
          <a:xfrm>
            <a:off x="8165592" y="1993392"/>
            <a:ext cx="3246120" cy="320040"/>
          </a:xfrm>
          <a:prstGeom prst="rect">
            <a:avLst/>
          </a:prstGeom>
          <a:noFill/>
          <a:ln/>
        </p:spPr>
        <p:txBody>
          <a:bodyPr wrap="square" lIns="0" tIns="0" rIns="0" bIns="0" rtlCol="0" anchor="ctr"/>
          <a:lstStyle/>
          <a:p>
            <a:pPr algn="ctr" indent="0" marL="0">
              <a:buNone/>
            </a:pPr>
            <a:r>
              <a:rPr lang="en-US" sz="1200" b="1" dirty="0">
                <a:solidFill>
                  <a:srgbClr val="64748B"/>
                </a:solidFill>
                <a:latin typeface="Arial" pitchFamily="34" charset="0"/>
                <a:ea typeface="Arial" pitchFamily="34" charset="-122"/>
                <a:cs typeface="Arial" pitchFamily="34" charset="-120"/>
              </a:rPr>
              <a:t>LƯỢNG CLICKS TĂNG THÊM &amp; % TĂNG</a:t>
            </a:r>
            <a:endParaRPr lang="en-US" sz="1200" dirty="0"/>
          </a:p>
        </p:txBody>
      </p:sp>
      <p:sp>
        <p:nvSpPr>
          <p:cNvPr id="24" name="Text 22"/>
          <p:cNvSpPr/>
          <p:nvPr/>
        </p:nvSpPr>
        <p:spPr>
          <a:xfrm>
            <a:off x="8165592" y="2423160"/>
            <a:ext cx="3246120" cy="594360"/>
          </a:xfrm>
          <a:prstGeom prst="rect">
            <a:avLst/>
          </a:prstGeom>
          <a:noFill/>
          <a:ln/>
        </p:spPr>
        <p:txBody>
          <a:bodyPr wrap="square" lIns="0" tIns="0" rIns="0" bIns="0" rtlCol="0" anchor="ctr"/>
          <a:lstStyle/>
          <a:p>
            <a:pPr algn="ctr" indent="0" marL="0">
              <a:buNone/>
            </a:pPr>
            <a:r>
              <a:rPr lang="en-US" sz="2400" b="1" dirty="0">
                <a:solidFill>
                  <a:srgbClr val="9F224E"/>
                </a:solidFill>
                <a:latin typeface="Arial" pitchFamily="34" charset="0"/>
                <a:ea typeface="Arial" pitchFamily="34" charset="-122"/>
                <a:cs typeface="Arial" pitchFamily="34" charset="-120"/>
              </a:rPr>
              <a:t>+11,700 / tháng (+100%)</a:t>
            </a:r>
            <a:endParaRPr lang="en-US" sz="2400" dirty="0"/>
          </a:p>
        </p:txBody>
      </p:sp>
      <p:sp>
        <p:nvSpPr>
          <p:cNvPr id="25" name="Text 23"/>
          <p:cNvSpPr/>
          <p:nvPr/>
        </p:nvSpPr>
        <p:spPr>
          <a:xfrm>
            <a:off x="8165592" y="3154680"/>
            <a:ext cx="3246120" cy="502920"/>
          </a:xfrm>
          <a:prstGeom prst="rect">
            <a:avLst/>
          </a:prstGeom>
          <a:noFill/>
          <a:ln/>
        </p:spPr>
        <p:txBody>
          <a:bodyPr wrap="square" lIns="0" tIns="0" rIns="0" bIns="0"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Đẩy từ khóa chủ lực từ Hạng 6–10 lên Top 2–3</a:t>
            </a:r>
            <a:endParaRPr lang="en-US" sz="1300" dirty="0"/>
          </a:p>
        </p:txBody>
      </p:sp>
      <p:sp>
        <p:nvSpPr>
          <p:cNvPr id="26" name="Shape 24"/>
          <p:cNvSpPr/>
          <p:nvPr/>
        </p:nvSpPr>
        <p:spPr>
          <a:xfrm>
            <a:off x="640080" y="4114800"/>
            <a:ext cx="10908792" cy="1965960"/>
          </a:xfrm>
          <a:prstGeom prst="roundRect">
            <a:avLst>
              <a:gd name="adj" fmla="val 3721"/>
            </a:avLst>
          </a:prstGeom>
          <a:solidFill>
            <a:srgbClr val="F1F5F9"/>
          </a:solidFill>
          <a:ln w="15240">
            <a:solidFill>
              <a:srgbClr val="CBD5E1"/>
            </a:solidFill>
            <a:prstDash val="solid"/>
          </a:ln>
        </p:spPr>
      </p:sp>
      <p:sp>
        <p:nvSpPr>
          <p:cNvPr id="27" name="Text 25"/>
          <p:cNvSpPr/>
          <p:nvPr/>
        </p:nvSpPr>
        <p:spPr>
          <a:xfrm>
            <a:off x="868680" y="4251960"/>
            <a:ext cx="10424160" cy="347472"/>
          </a:xfrm>
          <a:prstGeom prst="rect">
            <a:avLst/>
          </a:prstGeom>
          <a:noFill/>
          <a:ln/>
        </p:spPr>
        <p:txBody>
          <a:bodyPr wrap="square" lIns="0" tIns="0" rIns="0" bIns="0" rtlCol="0" anchor="ctr"/>
          <a:lstStyle/>
          <a:p>
            <a:pPr indent="0" marL="0">
              <a:buNone/>
            </a:pPr>
            <a:r>
              <a:rPr lang="en-US" sz="1500" b="1" dirty="0">
                <a:solidFill>
                  <a:srgbClr val="9F224E"/>
                </a:solidFill>
                <a:latin typeface="Arial" pitchFamily="34" charset="0"/>
                <a:ea typeface="Arial" pitchFamily="34" charset="-122"/>
                <a:cs typeface="Arial" pitchFamily="34" charset="-120"/>
              </a:rPr>
              <a:t>ĐẶC ĐIỂM SERP &amp; ĐỘNG LỰC TĂNG TRƯỞNG CHÍNH CỦA HÀNH ĐỘNG 1:</a:t>
            </a:r>
            <a:endParaRPr lang="en-US" sz="1500" dirty="0"/>
          </a:p>
        </p:txBody>
      </p:sp>
      <p:sp>
        <p:nvSpPr>
          <p:cNvPr id="28" name="Text 26"/>
          <p:cNvSpPr/>
          <p:nvPr/>
        </p:nvSpPr>
        <p:spPr>
          <a:xfrm>
            <a:off x="868680" y="4663440"/>
            <a:ext cx="10424160" cy="1280160"/>
          </a:xfrm>
          <a:prstGeom prst="rect">
            <a:avLst/>
          </a:prstGeom>
          <a:noFill/>
          <a:ln/>
        </p:spPr>
        <p:txBody>
          <a:bodyPr wrap="square" lIns="0" tIns="0" rIns="0" bIns="0" rtlCol="0" anchor="t"/>
          <a:lstStyle/>
          <a:p>
            <a:pPr indent="0" marL="0">
              <a:lnSpc>
                <a:spcPct val="125000"/>
              </a:lnSpc>
              <a:buNone/>
            </a:pPr>
            <a:r>
              <a:rPr lang="en-US" sz="1420" b="1" dirty="0">
                <a:solidFill>
                  <a:srgbClr val="1E293B"/>
                </a:solidFill>
                <a:latin typeface="Arial" pitchFamily="34" charset="0"/>
                <a:ea typeface="Arial" pitchFamily="34" charset="-122"/>
                <a:cs typeface="Arial" pitchFamily="34" charset="-120"/>
              </a:rPr>
              <a:t>• Lớp trang tác động: </a:t>
            </a:r>
            <a:pPr indent="0" marL="0">
              <a:lnSpc>
                <a:spcPct val="125000"/>
              </a:lnSpc>
              <a:buNone/>
            </a:pPr>
            <a:r>
              <a:rPr lang="en-US" sz="1420" dirty="0">
                <a:solidFill>
                  <a:srgbClr val="334155"/>
                </a:solidFill>
                <a:latin typeface="Arial" pitchFamily="34" charset="0"/>
                <a:ea typeface="Arial" pitchFamily="34" charset="-122"/>
                <a:cs typeface="Arial" pitchFamily="34" charset="-120"/>
              </a:rPr>
              <a:t>Trang chủ Dữ liệu https://vnexpress.net/the-thao/du-lieu-bong-da (1 URL).
</a:t>
            </a:r>
            <a:pPr indent="0" marL="0">
              <a:lnSpc>
                <a:spcPct val="125000"/>
              </a:lnSpc>
              <a:buNone/>
            </a:pPr>
            <a:r>
              <a:rPr lang="en-US" sz="1420" b="1" dirty="0">
                <a:solidFill>
                  <a:srgbClr val="1E293B"/>
                </a:solidFill>
                <a:latin typeface="Arial" pitchFamily="34" charset="0"/>
                <a:ea typeface="Arial" pitchFamily="34" charset="-122"/>
                <a:cs typeface="Arial" pitchFamily="34" charset="-120"/>
              </a:rPr>
              <a:t>• Lợi thế SERP: </a:t>
            </a:r>
            <a:pPr indent="0" marL="0">
              <a:lnSpc>
                <a:spcPct val="125000"/>
              </a:lnSpc>
              <a:buNone/>
            </a:pPr>
            <a:r>
              <a:rPr lang="en-US" sz="1420" b="1" dirty="0">
                <a:solidFill>
                  <a:srgbClr val="9F224E"/>
                </a:solidFill>
                <a:latin typeface="Arial" pitchFamily="34" charset="0"/>
                <a:ea typeface="Arial" pitchFamily="34" charset="-122"/>
                <a:cs typeface="Arial" pitchFamily="34" charset="-120"/>
              </a:rPr>
              <a:t>Hoàn toàn KHÔNG có Google OneBox chặn đầu trang (100% Organic Clicks).
</a:t>
            </a:r>
            <a:pPr indent="0" marL="0">
              <a:lnSpc>
                <a:spcPct val="125000"/>
              </a:lnSpc>
              <a:buNone/>
            </a:pPr>
            <a:r>
              <a:rPr lang="en-US" sz="1420" b="1" dirty="0">
                <a:solidFill>
                  <a:srgbClr val="1E293B"/>
                </a:solidFill>
                <a:latin typeface="Arial" pitchFamily="34" charset="0"/>
                <a:ea typeface="Arial" pitchFamily="34" charset="-122"/>
                <a:cs typeface="Arial" pitchFamily="34" charset="-120"/>
              </a:rPr>
              <a:t>• Động lực bứt phá: </a:t>
            </a:r>
            <a:pPr indent="0" marL="0">
              <a:lnSpc>
                <a:spcPct val="125000"/>
              </a:lnSpc>
              <a:buNone/>
            </a:pPr>
            <a:r>
              <a:rPr lang="en-US" sz="1420" dirty="0">
                <a:solidFill>
                  <a:srgbClr val="334155"/>
                </a:solidFill>
                <a:latin typeface="Arial" pitchFamily="34" charset="0"/>
                <a:ea typeface="Arial" pitchFamily="34" charset="-122"/>
                <a:cs typeface="Arial" pitchFamily="34" charset="-120"/>
              </a:rPr>
              <a:t>Đưa bộ từ khóa "lịch thi đấu bóng đá hôm nay / tối nay / rạng sáng mai" (4.6M volume/tháng) từ nửa dưới trang 1 (hạng 6–10) lên nhóm dẫn đầu Top 2–3 trên giao diện Mobile.</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9F224E"/>
          </a:solidFill>
          <a:ln w="12700">
            <a:solidFill>
              <a:srgbClr val="9F224E"/>
            </a:solidFill>
            <a:prstDash val="solid"/>
          </a:ln>
        </p:spPr>
      </p:sp>
      <p:sp>
        <p:nvSpPr>
          <p:cNvPr id="3" name="Shape 1"/>
          <p:cNvSpPr/>
          <p:nvPr/>
        </p:nvSpPr>
        <p:spPr>
          <a:xfrm>
            <a:off x="0" y="82296"/>
            <a:ext cx="12191695" cy="914400"/>
          </a:xfrm>
          <a:prstGeom prst="rect">
            <a:avLst/>
          </a:prstGeom>
          <a:solidFill>
            <a:srgbClr val="FFFFFF"/>
          </a:solidFill>
          <a:ln w="10160">
            <a:solidFill>
              <a:srgbClr val="E2E8F0"/>
            </a:solidFill>
            <a:prstDash val="solid"/>
          </a:ln>
        </p:spPr>
      </p:sp>
      <p:sp>
        <p:nvSpPr>
          <p:cNvPr id="4" name="Shape 2"/>
          <p:cNvSpPr/>
          <p:nvPr/>
        </p:nvSpPr>
        <p:spPr>
          <a:xfrm>
            <a:off x="411480" y="201168"/>
            <a:ext cx="2834640" cy="329184"/>
          </a:xfrm>
          <a:prstGeom prst="roundRect">
            <a:avLst>
              <a:gd name="adj" fmla="val 16667"/>
            </a:avLst>
          </a:prstGeom>
          <a:solidFill>
            <a:srgbClr val="9F224E"/>
          </a:solidFill>
          <a:ln w="12700">
            <a:solidFill>
              <a:srgbClr val="9F224E"/>
            </a:solidFill>
            <a:prstDash val="solid"/>
          </a:ln>
        </p:spPr>
      </p:sp>
      <p:sp>
        <p:nvSpPr>
          <p:cNvPr id="5" name="Text 3"/>
          <p:cNvSpPr/>
          <p:nvPr/>
        </p:nvSpPr>
        <p:spPr>
          <a:xfrm>
            <a:off x="411480" y="201168"/>
            <a:ext cx="2834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HÀNH ĐỘNG 2 • KHỐI 1 / 4</a:t>
            </a:r>
            <a:endParaRPr lang="en-US" sz="1150" dirty="0"/>
          </a:p>
        </p:txBody>
      </p:sp>
      <p:sp>
        <p:nvSpPr>
          <p:cNvPr id="6" name="Text 4"/>
          <p:cNvSpPr/>
          <p:nvPr/>
        </p:nvSpPr>
        <p:spPr>
          <a:xfrm>
            <a:off x="3383280" y="146304"/>
            <a:ext cx="8412480" cy="420624"/>
          </a:xfrm>
          <a:prstGeom prst="rect">
            <a:avLst/>
          </a:prstGeom>
          <a:noFill/>
          <a:ln/>
        </p:spPr>
        <p:txBody>
          <a:bodyPr wrap="square" lIns="0" tIns="0" rIns="0" bIns="0" rtlCol="0" anchor="ctr"/>
          <a:lstStyle/>
          <a:p>
            <a:pPr algn="l" indent="0" marL="0">
              <a:buNone/>
            </a:pPr>
            <a:r>
              <a:rPr lang="en-US" sz="2000" b="1" dirty="0">
                <a:solidFill>
                  <a:srgbClr val="1E293B"/>
                </a:solidFill>
                <a:latin typeface="Arial" pitchFamily="34" charset="0"/>
                <a:ea typeface="Arial" pitchFamily="34" charset="-122"/>
                <a:cs typeface="Arial" pitchFamily="34" charset="-120"/>
              </a:rPr>
              <a:t>Hành động 2 (Tạo mới Trang Kết Quả Bóng Đá): Số liệu Hiện tại</a:t>
            </a:r>
            <a:endParaRPr lang="en-US" sz="2000" dirty="0"/>
          </a:p>
        </p:txBody>
      </p:sp>
      <p:sp>
        <p:nvSpPr>
          <p:cNvPr id="7" name="Text 5"/>
          <p:cNvSpPr/>
          <p:nvPr/>
        </p:nvSpPr>
        <p:spPr>
          <a:xfrm>
            <a:off x="411480" y="594360"/>
            <a:ext cx="11338560" cy="329184"/>
          </a:xfrm>
          <a:prstGeom prst="rect">
            <a:avLst/>
          </a:prstGeom>
          <a:noFill/>
          <a:ln/>
        </p:spPr>
        <p:txBody>
          <a:bodyPr wrap="square" lIns="0" tIns="0" rIns="0" bIns="0" rtlCol="0" anchor="ctr"/>
          <a:lstStyle/>
          <a:p>
            <a:pPr algn="l" indent="0" marL="0">
              <a:buNone/>
            </a:pPr>
            <a:r>
              <a:rPr lang="en-US" sz="1250" i="1" dirty="0">
                <a:solidFill>
                  <a:srgbClr val="64748B"/>
                </a:solidFill>
                <a:latin typeface="Arial" pitchFamily="34" charset="0"/>
                <a:ea typeface="Arial" pitchFamily="34" charset="-122"/>
                <a:cs typeface="Arial" pitchFamily="34" charset="-120"/>
              </a:rPr>
              <a:t>Nhóm từ khóa "Kết quả bóng đá" có dung lượng lớn gấp 2.5 – 3 lần "Lịch thi đấu" nhưng VnExpress chưa có trang đích riêng</a:t>
            </a:r>
            <a:endParaRPr lang="en-US" sz="1250" dirty="0"/>
          </a:p>
        </p:txBody>
      </p:sp>
      <p:sp>
        <p:nvSpPr>
          <p:cNvPr id="8" name="Shape 6"/>
          <p:cNvSpPr/>
          <p:nvPr/>
        </p:nvSpPr>
        <p:spPr>
          <a:xfrm>
            <a:off x="0" y="6510528"/>
            <a:ext cx="12191695" cy="347472"/>
          </a:xfrm>
          <a:prstGeom prst="rect">
            <a:avLst/>
          </a:prstGeom>
          <a:solidFill>
            <a:srgbClr val="1E293B"/>
          </a:solidFill>
          <a:ln w="12700">
            <a:solidFill>
              <a:srgbClr val="1E293B"/>
            </a:solidFill>
            <a:prstDash val="solid"/>
          </a:ln>
        </p:spPr>
      </p:sp>
      <p:sp>
        <p:nvSpPr>
          <p:cNvPr id="9" name="Text 7"/>
          <p:cNvSpPr/>
          <p:nvPr/>
        </p:nvSpPr>
        <p:spPr>
          <a:xfrm>
            <a:off x="411480" y="6510528"/>
            <a:ext cx="8686800" cy="347472"/>
          </a:xfrm>
          <a:prstGeom prst="rect">
            <a:avLst/>
          </a:prstGeom>
          <a:noFill/>
          <a:ln/>
        </p:spPr>
        <p:txBody>
          <a:bodyPr wrap="square" lIns="0" tIns="0" rIns="0" bIns="0" rtlCol="0" anchor="ctr"/>
          <a:lstStyle/>
          <a:p>
            <a:pPr algn="l" indent="0" marL="0">
              <a:buNone/>
            </a:pPr>
            <a:r>
              <a:rPr lang="en-US" sz="1000" dirty="0">
                <a:solidFill>
                  <a:srgbClr val="CBD5E1"/>
                </a:solidFill>
                <a:latin typeface="Arial" pitchFamily="34" charset="0"/>
                <a:ea typeface="Arial" pitchFamily="34" charset="-122"/>
                <a:cs typeface="Arial" pitchFamily="34" charset="-120"/>
              </a:rPr>
              <a:t>VnExpress Thể Thao  |  Báo cáo Phân tích Vấn đề &amp; Giải pháp Cải tiến Trang Lịch Thi Đấu Bóng Đá</a:t>
            </a:r>
            <a:endParaRPr lang="en-US" sz="1000" dirty="0"/>
          </a:p>
        </p:txBody>
      </p:sp>
      <p:sp>
        <p:nvSpPr>
          <p:cNvPr id="10" name="Text 8"/>
          <p:cNvSpPr/>
          <p:nvPr/>
        </p:nvSpPr>
        <p:spPr>
          <a:xfrm>
            <a:off x="10058400" y="6510528"/>
            <a:ext cx="1719072"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Trang 10 / 19</a:t>
            </a:r>
            <a:endParaRPr lang="en-US" sz="1000" dirty="0"/>
          </a:p>
        </p:txBody>
      </p:sp>
      <p:sp>
        <p:nvSpPr>
          <p:cNvPr id="11" name="Shape 9"/>
          <p:cNvSpPr/>
          <p:nvPr/>
        </p:nvSpPr>
        <p:spPr>
          <a:xfrm>
            <a:off x="411480" y="1143000"/>
            <a:ext cx="11365992" cy="5193792"/>
          </a:xfrm>
          <a:prstGeom prst="roundRect">
            <a:avLst>
              <a:gd name="adj" fmla="val 1408"/>
            </a:avLst>
          </a:prstGeom>
          <a:solidFill>
            <a:srgbClr val="FFFFFF"/>
          </a:solidFill>
          <a:ln w="15240">
            <a:solidFill>
              <a:srgbClr val="CBD5E1"/>
            </a:solidFill>
            <a:prstDash val="solid"/>
          </a:ln>
        </p:spPr>
      </p:sp>
      <p:sp>
        <p:nvSpPr>
          <p:cNvPr id="12" name="Shape 10"/>
          <p:cNvSpPr/>
          <p:nvPr/>
        </p:nvSpPr>
        <p:spPr>
          <a:xfrm>
            <a:off x="411480" y="1143000"/>
            <a:ext cx="11365992" cy="475488"/>
          </a:xfrm>
          <a:prstGeom prst="roundRect">
            <a:avLst>
              <a:gd name="adj" fmla="val 15385"/>
            </a:avLst>
          </a:prstGeom>
          <a:solidFill>
            <a:srgbClr val="1E293B"/>
          </a:solidFill>
          <a:ln w="12700">
            <a:solidFill>
              <a:srgbClr val="1E293B"/>
            </a:solidFill>
            <a:prstDash val="solid"/>
          </a:ln>
        </p:spPr>
      </p:sp>
      <p:sp>
        <p:nvSpPr>
          <p:cNvPr id="13" name="Text 11"/>
          <p:cNvSpPr/>
          <p:nvPr/>
        </p:nvSpPr>
        <p:spPr>
          <a:xfrm>
            <a:off x="621792" y="1143000"/>
            <a:ext cx="10972800" cy="475488"/>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1. SỐ LIỆU HIỆN TẠI &amp; PHÂN TÍCH DUNG LƯỢNG THỊ TRƯỜNG "KẾT QUẢ BÓNG ĐÁ"</a:t>
            </a:r>
            <a:endParaRPr lang="en-US" sz="1450" dirty="0"/>
          </a:p>
        </p:txBody>
      </p:sp>
      <p:sp>
        <p:nvSpPr>
          <p:cNvPr id="14" name="Shape 12"/>
          <p:cNvSpPr/>
          <p:nvPr/>
        </p:nvSpPr>
        <p:spPr>
          <a:xfrm>
            <a:off x="640080" y="1783080"/>
            <a:ext cx="2615184" cy="1572768"/>
          </a:xfrm>
          <a:prstGeom prst="roundRect">
            <a:avLst>
              <a:gd name="adj" fmla="val 4070"/>
            </a:avLst>
          </a:prstGeom>
          <a:solidFill>
            <a:srgbClr val="FDF2F6"/>
          </a:solidFill>
          <a:ln w="15240">
            <a:solidFill>
              <a:srgbClr val="E2A8BC"/>
            </a:solidFill>
            <a:prstDash val="solid"/>
          </a:ln>
        </p:spPr>
      </p:sp>
      <p:sp>
        <p:nvSpPr>
          <p:cNvPr id="15" name="Text 13"/>
          <p:cNvSpPr/>
          <p:nvPr/>
        </p:nvSpPr>
        <p:spPr>
          <a:xfrm>
            <a:off x="731520" y="1874520"/>
            <a:ext cx="2432304" cy="256032"/>
          </a:xfrm>
          <a:prstGeom prst="rect">
            <a:avLst/>
          </a:prstGeom>
          <a:noFill/>
          <a:ln/>
        </p:spPr>
        <p:txBody>
          <a:bodyPr wrap="square" lIns="0" tIns="0" rIns="0" bIns="0" rtlCol="0" anchor="ctr"/>
          <a:lstStyle/>
          <a:p>
            <a:pPr algn="ctr" indent="0" marL="0">
              <a:buNone/>
            </a:pPr>
            <a:r>
              <a:rPr lang="en-US" sz="1020" b="1" dirty="0">
                <a:solidFill>
                  <a:srgbClr val="64748B"/>
                </a:solidFill>
                <a:latin typeface="Arial" pitchFamily="34" charset="0"/>
                <a:ea typeface="Arial" pitchFamily="34" charset="-122"/>
                <a:cs typeface="Arial" pitchFamily="34" charset="-120"/>
              </a:rPr>
              <a:t>HIỆN TRẠNG VNEXPRESS</a:t>
            </a:r>
            <a:endParaRPr lang="en-US" sz="1020" dirty="0"/>
          </a:p>
        </p:txBody>
      </p:sp>
      <p:sp>
        <p:nvSpPr>
          <p:cNvPr id="16" name="Text 14"/>
          <p:cNvSpPr/>
          <p:nvPr/>
        </p:nvSpPr>
        <p:spPr>
          <a:xfrm>
            <a:off x="731520" y="2176272"/>
            <a:ext cx="2432304" cy="457200"/>
          </a:xfrm>
          <a:prstGeom prst="rect">
            <a:avLst/>
          </a:prstGeom>
          <a:noFill/>
          <a:ln/>
        </p:spPr>
        <p:txBody>
          <a:bodyPr wrap="square" lIns="0" tIns="0" rIns="0" bIns="0" rtlCol="0" anchor="ctr"/>
          <a:lstStyle/>
          <a:p>
            <a:pPr algn="ctr" indent="0" marL="0">
              <a:buNone/>
            </a:pPr>
            <a:r>
              <a:rPr lang="en-US" sz="2100" b="1" dirty="0">
                <a:solidFill>
                  <a:srgbClr val="9F224E"/>
                </a:solidFill>
                <a:latin typeface="Arial" pitchFamily="34" charset="0"/>
                <a:ea typeface="Arial" pitchFamily="34" charset="-122"/>
                <a:cs typeface="Arial" pitchFamily="34" charset="-120"/>
              </a:rPr>
              <a:t>0 Clicks</a:t>
            </a:r>
            <a:endParaRPr lang="en-US" sz="2100" dirty="0"/>
          </a:p>
        </p:txBody>
      </p:sp>
      <p:sp>
        <p:nvSpPr>
          <p:cNvPr id="17" name="Text 15"/>
          <p:cNvSpPr/>
          <p:nvPr/>
        </p:nvSpPr>
        <p:spPr>
          <a:xfrm>
            <a:off x="731520" y="2697480"/>
            <a:ext cx="2432304" cy="548640"/>
          </a:xfrm>
          <a:prstGeom prst="rect">
            <a:avLst/>
          </a:prstGeom>
          <a:noFill/>
          <a:ln/>
        </p:spPr>
        <p:txBody>
          <a:bodyPr wrap="square" lIns="0" tIns="0" rIns="0" bIns="0" rtlCol="0" anchor="ctr"/>
          <a:lstStyle/>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Chưa có URL trang đích riêng</a:t>
            </a:r>
            <a:endParaRPr lang="en-US" sz="1100" dirty="0"/>
          </a:p>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cho nhóm Kết quả bóng đá</a:t>
            </a:r>
            <a:endParaRPr lang="en-US" sz="1100" dirty="0"/>
          </a:p>
        </p:txBody>
      </p:sp>
      <p:sp>
        <p:nvSpPr>
          <p:cNvPr id="18" name="Shape 16"/>
          <p:cNvSpPr/>
          <p:nvPr/>
        </p:nvSpPr>
        <p:spPr>
          <a:xfrm>
            <a:off x="3401568" y="1783080"/>
            <a:ext cx="2615184" cy="1572768"/>
          </a:xfrm>
          <a:prstGeom prst="roundRect">
            <a:avLst>
              <a:gd name="adj" fmla="val 4070"/>
            </a:avLst>
          </a:prstGeom>
          <a:solidFill>
            <a:srgbClr val="FDF2F6"/>
          </a:solidFill>
          <a:ln w="15240">
            <a:solidFill>
              <a:srgbClr val="E2A8BC"/>
            </a:solidFill>
            <a:prstDash val="solid"/>
          </a:ln>
        </p:spPr>
      </p:sp>
      <p:sp>
        <p:nvSpPr>
          <p:cNvPr id="19" name="Text 17"/>
          <p:cNvSpPr/>
          <p:nvPr/>
        </p:nvSpPr>
        <p:spPr>
          <a:xfrm>
            <a:off x="3493008" y="1874520"/>
            <a:ext cx="2432304" cy="256032"/>
          </a:xfrm>
          <a:prstGeom prst="rect">
            <a:avLst/>
          </a:prstGeom>
          <a:noFill/>
          <a:ln/>
        </p:spPr>
        <p:txBody>
          <a:bodyPr wrap="square" lIns="0" tIns="0" rIns="0" bIns="0" rtlCol="0" anchor="ctr"/>
          <a:lstStyle/>
          <a:p>
            <a:pPr algn="ctr" indent="0" marL="0">
              <a:buNone/>
            </a:pPr>
            <a:r>
              <a:rPr lang="en-US" sz="1020" b="1" dirty="0">
                <a:solidFill>
                  <a:srgbClr val="64748B"/>
                </a:solidFill>
                <a:latin typeface="Arial" pitchFamily="34" charset="0"/>
                <a:ea typeface="Arial" pitchFamily="34" charset="-122"/>
                <a:cs typeface="Arial" pitchFamily="34" charset="-120"/>
              </a:rPr>
              <a:t>DUNG LƯỢNG TÌM KIẾM / THÁNG</a:t>
            </a:r>
            <a:endParaRPr lang="en-US" sz="1020" dirty="0"/>
          </a:p>
        </p:txBody>
      </p:sp>
      <p:sp>
        <p:nvSpPr>
          <p:cNvPr id="20" name="Text 18"/>
          <p:cNvSpPr/>
          <p:nvPr/>
        </p:nvSpPr>
        <p:spPr>
          <a:xfrm>
            <a:off x="3493008" y="2176272"/>
            <a:ext cx="2432304" cy="457200"/>
          </a:xfrm>
          <a:prstGeom prst="rect">
            <a:avLst/>
          </a:prstGeom>
          <a:noFill/>
          <a:ln/>
        </p:spPr>
        <p:txBody>
          <a:bodyPr wrap="square" lIns="0" tIns="0" rIns="0" bIns="0" rtlCol="0" anchor="ctr"/>
          <a:lstStyle/>
          <a:p>
            <a:pPr algn="ctr" indent="0" marL="0">
              <a:buNone/>
            </a:pPr>
            <a:r>
              <a:rPr lang="en-US" sz="2100" b="1" dirty="0">
                <a:solidFill>
                  <a:srgbClr val="9F224E"/>
                </a:solidFill>
                <a:latin typeface="Arial" pitchFamily="34" charset="0"/>
                <a:ea typeface="Arial" pitchFamily="34" charset="-122"/>
                <a:cs typeface="Arial" pitchFamily="34" charset="-120"/>
              </a:rPr>
              <a:t>11.5M – 13.8M</a:t>
            </a:r>
            <a:endParaRPr lang="en-US" sz="2100" dirty="0"/>
          </a:p>
        </p:txBody>
      </p:sp>
      <p:sp>
        <p:nvSpPr>
          <p:cNvPr id="21" name="Text 19"/>
          <p:cNvSpPr/>
          <p:nvPr/>
        </p:nvSpPr>
        <p:spPr>
          <a:xfrm>
            <a:off x="3493008" y="2697480"/>
            <a:ext cx="2432304" cy="548640"/>
          </a:xfrm>
          <a:prstGeom prst="rect">
            <a:avLst/>
          </a:prstGeom>
          <a:noFill/>
          <a:ln/>
        </p:spPr>
        <p:txBody>
          <a:bodyPr wrap="square" lIns="0" tIns="0" rIns="0" bIns="0" rtlCol="0" anchor="ctr"/>
          <a:lstStyle/>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Lớn gấp 2.5 – 3 lần Lịch thi đấu</a:t>
            </a:r>
            <a:endParaRPr lang="en-US" sz="1100" dirty="0"/>
          </a:p>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(Cao điểm đạt 18M – 22M/tháng)</a:t>
            </a:r>
            <a:endParaRPr lang="en-US" sz="1100" dirty="0"/>
          </a:p>
        </p:txBody>
      </p:sp>
      <p:sp>
        <p:nvSpPr>
          <p:cNvPr id="22" name="Shape 20"/>
          <p:cNvSpPr/>
          <p:nvPr/>
        </p:nvSpPr>
        <p:spPr>
          <a:xfrm>
            <a:off x="6163056" y="1783080"/>
            <a:ext cx="2615184" cy="1572768"/>
          </a:xfrm>
          <a:prstGeom prst="roundRect">
            <a:avLst>
              <a:gd name="adj" fmla="val 4070"/>
            </a:avLst>
          </a:prstGeom>
          <a:solidFill>
            <a:srgbClr val="F1F5F9"/>
          </a:solidFill>
          <a:ln w="15240">
            <a:solidFill>
              <a:srgbClr val="CBD5E1"/>
            </a:solidFill>
            <a:prstDash val="solid"/>
          </a:ln>
        </p:spPr>
      </p:sp>
      <p:sp>
        <p:nvSpPr>
          <p:cNvPr id="23" name="Text 21"/>
          <p:cNvSpPr/>
          <p:nvPr/>
        </p:nvSpPr>
        <p:spPr>
          <a:xfrm>
            <a:off x="6254496" y="1874520"/>
            <a:ext cx="2432304" cy="256032"/>
          </a:xfrm>
          <a:prstGeom prst="rect">
            <a:avLst/>
          </a:prstGeom>
          <a:noFill/>
          <a:ln/>
        </p:spPr>
        <p:txBody>
          <a:bodyPr wrap="square" lIns="0" tIns="0" rIns="0" bIns="0" rtlCol="0" anchor="ctr"/>
          <a:lstStyle/>
          <a:p>
            <a:pPr algn="ctr" indent="0" marL="0">
              <a:buNone/>
            </a:pPr>
            <a:r>
              <a:rPr lang="en-US" sz="1020" b="1" dirty="0">
                <a:solidFill>
                  <a:srgbClr val="64748B"/>
                </a:solidFill>
                <a:latin typeface="Arial" pitchFamily="34" charset="0"/>
                <a:ea typeface="Arial" pitchFamily="34" charset="-122"/>
                <a:cs typeface="Arial" pitchFamily="34" charset="-120"/>
              </a:rPr>
              <a:t>TỶ LỆ TÌM KIẾM TRÊN MOBILE</a:t>
            </a:r>
            <a:endParaRPr lang="en-US" sz="1020" dirty="0"/>
          </a:p>
        </p:txBody>
      </p:sp>
      <p:sp>
        <p:nvSpPr>
          <p:cNvPr id="24" name="Text 22"/>
          <p:cNvSpPr/>
          <p:nvPr/>
        </p:nvSpPr>
        <p:spPr>
          <a:xfrm>
            <a:off x="6254496" y="2176272"/>
            <a:ext cx="2432304" cy="457200"/>
          </a:xfrm>
          <a:prstGeom prst="rect">
            <a:avLst/>
          </a:prstGeom>
          <a:noFill/>
          <a:ln/>
        </p:spPr>
        <p:txBody>
          <a:bodyPr wrap="square" lIns="0" tIns="0" rIns="0" bIns="0" rtlCol="0" anchor="ctr"/>
          <a:lstStyle/>
          <a:p>
            <a:pPr algn="ctr" indent="0" marL="0">
              <a:buNone/>
            </a:pPr>
            <a:r>
              <a:rPr lang="en-US" sz="2100" b="1" dirty="0">
                <a:solidFill>
                  <a:srgbClr val="1E293B"/>
                </a:solidFill>
                <a:latin typeface="Arial" pitchFamily="34" charset="0"/>
                <a:ea typeface="Arial" pitchFamily="34" charset="-122"/>
                <a:cs typeface="Arial" pitchFamily="34" charset="-120"/>
              </a:rPr>
              <a:t>93.8% Mobile</a:t>
            </a:r>
            <a:endParaRPr lang="en-US" sz="2100" dirty="0"/>
          </a:p>
        </p:txBody>
      </p:sp>
      <p:sp>
        <p:nvSpPr>
          <p:cNvPr id="25" name="Text 23"/>
          <p:cNvSpPr/>
          <p:nvPr/>
        </p:nvSpPr>
        <p:spPr>
          <a:xfrm>
            <a:off x="6254496" y="2697480"/>
            <a:ext cx="2432304" cy="548640"/>
          </a:xfrm>
          <a:prstGeom prst="rect">
            <a:avLst/>
          </a:prstGeom>
          <a:noFill/>
          <a:ln/>
        </p:spPr>
        <p:txBody>
          <a:bodyPr wrap="square" lIns="0" tIns="0" rIns="0" bIns="0" rtlCol="0" anchor="ctr"/>
          <a:lstStyle/>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Tần suất lặp lại hàng ngày</a:t>
            </a:r>
            <a:endParaRPr lang="en-US" sz="1100" dirty="0"/>
          </a:p>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cao nhất ngách thể thao</a:t>
            </a:r>
            <a:endParaRPr lang="en-US" sz="1100" dirty="0"/>
          </a:p>
        </p:txBody>
      </p:sp>
      <p:sp>
        <p:nvSpPr>
          <p:cNvPr id="26" name="Shape 24"/>
          <p:cNvSpPr/>
          <p:nvPr/>
        </p:nvSpPr>
        <p:spPr>
          <a:xfrm>
            <a:off x="8924544" y="1783080"/>
            <a:ext cx="2615184" cy="1572768"/>
          </a:xfrm>
          <a:prstGeom prst="roundRect">
            <a:avLst>
              <a:gd name="adj" fmla="val 4070"/>
            </a:avLst>
          </a:prstGeom>
          <a:solidFill>
            <a:srgbClr val="F1F5F9"/>
          </a:solidFill>
          <a:ln w="15240">
            <a:solidFill>
              <a:srgbClr val="CBD5E1"/>
            </a:solidFill>
            <a:prstDash val="solid"/>
          </a:ln>
        </p:spPr>
      </p:sp>
      <p:sp>
        <p:nvSpPr>
          <p:cNvPr id="27" name="Text 25"/>
          <p:cNvSpPr/>
          <p:nvPr/>
        </p:nvSpPr>
        <p:spPr>
          <a:xfrm>
            <a:off x="9015984" y="1874520"/>
            <a:ext cx="2432304" cy="256032"/>
          </a:xfrm>
          <a:prstGeom prst="rect">
            <a:avLst/>
          </a:prstGeom>
          <a:noFill/>
          <a:ln/>
        </p:spPr>
        <p:txBody>
          <a:bodyPr wrap="square" lIns="0" tIns="0" rIns="0" bIns="0" rtlCol="0" anchor="ctr"/>
          <a:lstStyle/>
          <a:p>
            <a:pPr algn="ctr" indent="0" marL="0">
              <a:buNone/>
            </a:pPr>
            <a:r>
              <a:rPr lang="en-US" sz="1020" b="1" dirty="0">
                <a:solidFill>
                  <a:srgbClr val="64748B"/>
                </a:solidFill>
                <a:latin typeface="Arial" pitchFamily="34" charset="0"/>
                <a:ea typeface="Arial" pitchFamily="34" charset="-122"/>
                <a:cs typeface="Arial" pitchFamily="34" charset="-120"/>
              </a:rPr>
              <a:t>TỶ LỆ KHÔNG CÓ GOOGLE ONEBOX</a:t>
            </a:r>
            <a:endParaRPr lang="en-US" sz="1020" dirty="0"/>
          </a:p>
        </p:txBody>
      </p:sp>
      <p:sp>
        <p:nvSpPr>
          <p:cNvPr id="28" name="Text 26"/>
          <p:cNvSpPr/>
          <p:nvPr/>
        </p:nvSpPr>
        <p:spPr>
          <a:xfrm>
            <a:off x="9015984" y="2176272"/>
            <a:ext cx="2432304" cy="457200"/>
          </a:xfrm>
          <a:prstGeom prst="rect">
            <a:avLst/>
          </a:prstGeom>
          <a:noFill/>
          <a:ln/>
        </p:spPr>
        <p:txBody>
          <a:bodyPr wrap="square" lIns="0" tIns="0" rIns="0" bIns="0" rtlCol="0" anchor="ctr"/>
          <a:lstStyle/>
          <a:p>
            <a:pPr algn="ctr" indent="0" marL="0">
              <a:buNone/>
            </a:pPr>
            <a:r>
              <a:rPr lang="en-US" sz="2100" b="1" dirty="0">
                <a:solidFill>
                  <a:srgbClr val="1E293B"/>
                </a:solidFill>
                <a:latin typeface="Arial" pitchFamily="34" charset="0"/>
                <a:ea typeface="Arial" pitchFamily="34" charset="-122"/>
                <a:cs typeface="Arial" pitchFamily="34" charset="-120"/>
              </a:rPr>
              <a:t>98% Volume</a:t>
            </a:r>
            <a:endParaRPr lang="en-US" sz="2100" dirty="0"/>
          </a:p>
        </p:txBody>
      </p:sp>
      <p:sp>
        <p:nvSpPr>
          <p:cNvPr id="29" name="Text 27"/>
          <p:cNvSpPr/>
          <p:nvPr/>
        </p:nvSpPr>
        <p:spPr>
          <a:xfrm>
            <a:off x="9015984" y="2697480"/>
            <a:ext cx="2432304" cy="548640"/>
          </a:xfrm>
          <a:prstGeom prst="rect">
            <a:avLst/>
          </a:prstGeom>
          <a:noFill/>
          <a:ln/>
        </p:spPr>
        <p:txBody>
          <a:bodyPr wrap="square" lIns="0" tIns="0" rIns="0" bIns="0" rtlCol="0" anchor="ctr"/>
          <a:lstStyle/>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~10.5M volume khả dụng</a:t>
            </a:r>
            <a:endParaRPr lang="en-US" sz="1100" dirty="0"/>
          </a:p>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100% trả về Organic Blue Links</a:t>
            </a:r>
            <a:endParaRPr lang="en-US" sz="1100" dirty="0"/>
          </a:p>
        </p:txBody>
      </p:sp>
      <p:sp>
        <p:nvSpPr>
          <p:cNvPr id="30" name="Shape 28"/>
          <p:cNvSpPr/>
          <p:nvPr/>
        </p:nvSpPr>
        <p:spPr>
          <a:xfrm>
            <a:off x="640080" y="3520440"/>
            <a:ext cx="10908792" cy="2606040"/>
          </a:xfrm>
          <a:prstGeom prst="roundRect">
            <a:avLst>
              <a:gd name="adj" fmla="val 2456"/>
            </a:avLst>
          </a:prstGeom>
          <a:solidFill>
            <a:srgbClr val="F1F5F9"/>
          </a:solidFill>
          <a:ln w="15240">
            <a:solidFill>
              <a:srgbClr val="CBD5E1"/>
            </a:solidFill>
            <a:prstDash val="solid"/>
          </a:ln>
        </p:spPr>
      </p:sp>
      <p:sp>
        <p:nvSpPr>
          <p:cNvPr id="31" name="Text 29"/>
          <p:cNvSpPr/>
          <p:nvPr/>
        </p:nvSpPr>
        <p:spPr>
          <a:xfrm>
            <a:off x="822960" y="3621024"/>
            <a:ext cx="10515600" cy="320040"/>
          </a:xfrm>
          <a:prstGeom prst="rect">
            <a:avLst/>
          </a:prstGeom>
          <a:noFill/>
          <a:ln/>
        </p:spPr>
        <p:txBody>
          <a:bodyPr wrap="square" lIns="0" tIns="0" rIns="0" bIns="0" rtlCol="0" anchor="ctr"/>
          <a:lstStyle/>
          <a:p>
            <a:pPr indent="0" marL="0">
              <a:buNone/>
            </a:pPr>
            <a:r>
              <a:rPr lang="en-US" sz="1400" b="1" dirty="0">
                <a:solidFill>
                  <a:srgbClr val="9F224E"/>
                </a:solidFill>
                <a:latin typeface="Arial" pitchFamily="34" charset="0"/>
                <a:ea typeface="Arial" pitchFamily="34" charset="-122"/>
                <a:cs typeface="Arial" pitchFamily="34" charset="-120"/>
              </a:rPr>
              <a:t>PHÂN TÍCH HÀNH VI TÌM KIẾM &amp; ĐẶC ĐIỂM HIỂN THỊ SERP CỦA NHÓM "KẾT QUẢ BÓNG ĐÁ":</a:t>
            </a:r>
            <a:endParaRPr lang="en-US" sz="1400" dirty="0"/>
          </a:p>
        </p:txBody>
      </p:sp>
      <p:sp>
        <p:nvSpPr>
          <p:cNvPr id="32" name="Text 30"/>
          <p:cNvSpPr/>
          <p:nvPr/>
        </p:nvSpPr>
        <p:spPr>
          <a:xfrm>
            <a:off x="822960" y="4005072"/>
            <a:ext cx="10515600" cy="2011680"/>
          </a:xfrm>
          <a:prstGeom prst="rect">
            <a:avLst/>
          </a:prstGeom>
          <a:noFill/>
          <a:ln/>
        </p:spPr>
        <p:txBody>
          <a:bodyPr wrap="square" lIns="0" tIns="0" rIns="0" bIns="0" rtlCol="0" anchor="t"/>
          <a:lstStyle/>
          <a:p>
            <a:pPr indent="0" marL="0">
              <a:lnSpc>
                <a:spcPct val="120000"/>
              </a:lnSpc>
              <a:buNone/>
            </a:pPr>
            <a:r>
              <a:rPr lang="en-US" sz="1320" b="1" dirty="0">
                <a:solidFill>
                  <a:srgbClr val="1E293B"/>
                </a:solidFill>
                <a:latin typeface="Arial" pitchFamily="34" charset="0"/>
                <a:ea typeface="Arial" pitchFamily="34" charset="-122"/>
                <a:cs typeface="Arial" pitchFamily="34" charset="-120"/>
              </a:rPr>
              <a:t>• Tại sao Volume "Kết quả" lớn gấp gần 3 lần "Lịch thi đấu"?
</a:t>
            </a:r>
            <a:pPr indent="0" marL="0">
              <a:lnSpc>
                <a:spcPct val="120000"/>
              </a:lnSpc>
              <a:buNone/>
            </a:pPr>
            <a:r>
              <a:rPr lang="en-US" sz="1320" dirty="0">
                <a:solidFill>
                  <a:srgbClr val="334155"/>
                </a:solidFill>
                <a:latin typeface="Arial" pitchFamily="34" charset="0"/>
                <a:ea typeface="Arial" pitchFamily="34" charset="-122"/>
                <a:cs typeface="Arial" pitchFamily="34" charset="-120"/>
              </a:rPr>
              <a:t>   Do múi giờ Việt Nam (GMT+7), các giải hấp dẫn nhất (Ngoại hạng Anh, Champions League, La Liga, Serie A...) diễn ra lúc </a:t>
            </a:r>
            <a:pPr indent="0" marL="0">
              <a:lnSpc>
                <a:spcPct val="120000"/>
              </a:lnSpc>
              <a:buNone/>
            </a:pPr>
            <a:r>
              <a:rPr lang="en-US" sz="1320" b="1" dirty="0">
                <a:solidFill>
                  <a:srgbClr val="9F224E"/>
                </a:solidFill>
                <a:latin typeface="Arial" pitchFamily="34" charset="0"/>
                <a:ea typeface="Arial" pitchFamily="34" charset="-122"/>
                <a:cs typeface="Arial" pitchFamily="34" charset="-120"/>
              </a:rPr>
              <a:t>23h00 đêm đến 04h00 sáng</a:t>
            </a:r>
            <a:pPr indent="0" marL="0">
              <a:lnSpc>
                <a:spcPct val="120000"/>
              </a:lnSpc>
              <a:buNone/>
            </a:pPr>
            <a:r>
              <a:rPr lang="en-US" sz="1320" dirty="0">
                <a:solidFill>
                  <a:srgbClr val="334155"/>
                </a:solidFill>
                <a:latin typeface="Arial" pitchFamily="34" charset="0"/>
                <a:ea typeface="Arial" pitchFamily="34" charset="-122"/>
                <a:cs typeface="Arial" pitchFamily="34" charset="-120"/>
              </a:rPr>
              <a:t>. Đa số độc giả không thể thức xem trực tiếp toàn bộ, dẫn đến tra cứu bùng nổ ở </a:t>
            </a:r>
            <a:pPr indent="0" marL="0">
              <a:lnSpc>
                <a:spcPct val="120000"/>
              </a:lnSpc>
              <a:buNone/>
            </a:pPr>
            <a:r>
              <a:rPr lang="en-US" sz="1320" b="1" dirty="0">
                <a:solidFill>
                  <a:srgbClr val="1E293B"/>
                </a:solidFill>
                <a:latin typeface="Arial" pitchFamily="34" charset="0"/>
                <a:ea typeface="Arial" pitchFamily="34" charset="-122"/>
                <a:cs typeface="Arial" pitchFamily="34" charset="-120"/>
              </a:rPr>
              <a:t>2 khung giờ vàng: (1) 06h00 – 09h00 sáng</a:t>
            </a:r>
            <a:pPr indent="0" marL="0">
              <a:lnSpc>
                <a:spcPct val="120000"/>
              </a:lnSpc>
              <a:buNone/>
            </a:pPr>
            <a:r>
              <a:rPr lang="en-US" sz="1320" dirty="0">
                <a:solidFill>
                  <a:srgbClr val="334155"/>
                </a:solidFill>
                <a:latin typeface="Arial" pitchFamily="34" charset="0"/>
                <a:ea typeface="Arial" pitchFamily="34" charset="-122"/>
                <a:cs typeface="Arial" pitchFamily="34" charset="-120"/>
              </a:rPr>
              <a:t> (xem tỷ số đêm qua) và </a:t>
            </a:r>
            <a:pPr indent="0" marL="0">
              <a:lnSpc>
                <a:spcPct val="120000"/>
              </a:lnSpc>
              <a:buNone/>
            </a:pPr>
            <a:r>
              <a:rPr lang="en-US" sz="1320" b="1" dirty="0">
                <a:solidFill>
                  <a:srgbClr val="1E293B"/>
                </a:solidFill>
                <a:latin typeface="Arial" pitchFamily="34" charset="0"/>
                <a:ea typeface="Arial" pitchFamily="34" charset="-122"/>
                <a:cs typeface="Arial" pitchFamily="34" charset="-120"/>
              </a:rPr>
              <a:t>(2) Trong giờ bóng lăn</a:t>
            </a:r>
            <a:pPr indent="0" marL="0">
              <a:lnSpc>
                <a:spcPct val="120000"/>
              </a:lnSpc>
              <a:buNone/>
            </a:pPr>
            <a:r>
              <a:rPr lang="en-US" sz="1320" dirty="0">
                <a:solidFill>
                  <a:srgbClr val="334155"/>
                </a:solidFill>
                <a:latin typeface="Arial" pitchFamily="34" charset="0"/>
                <a:ea typeface="Arial" pitchFamily="34" charset="-122"/>
                <a:cs typeface="Arial" pitchFamily="34" charset="-120"/>
              </a:rPr>
              <a:t> (xem tỷ số trực tuyến Livescore).
</a:t>
            </a:r>
            <a:pPr indent="0" marL="0">
              <a:lnSpc>
                <a:spcPct val="120000"/>
              </a:lnSpc>
              <a:buNone/>
            </a:pPr>
            <a:r>
              <a:rPr lang="en-US" sz="1320" b="1" dirty="0">
                <a:solidFill>
                  <a:srgbClr val="1E293B"/>
                </a:solidFill>
                <a:latin typeface="Arial" pitchFamily="34" charset="0"/>
                <a:ea typeface="Arial" pitchFamily="34" charset="-122"/>
                <a:cs typeface="Arial" pitchFamily="34" charset="-120"/>
              </a:rPr>
              <a:t>• 98% lượng tìm kiếm KHÔNG CÓ Google Sports OneBox:
</a:t>
            </a:r>
            <a:pPr indent="0" marL="0">
              <a:lnSpc>
                <a:spcPct val="120000"/>
              </a:lnSpc>
              <a:buNone/>
            </a:pPr>
            <a:r>
              <a:rPr lang="en-US" sz="1320" dirty="0">
                <a:solidFill>
                  <a:srgbClr val="334155"/>
                </a:solidFill>
                <a:latin typeface="Arial" pitchFamily="34" charset="0"/>
                <a:ea typeface="Arial" pitchFamily="34" charset="-122"/>
                <a:cs typeface="Arial" pitchFamily="34" charset="-120"/>
              </a:rPr>
              <a:t>   Với các từ khóa chung như "kqbd", "kết quả bóng đá hôm nay", "kết quả bóng đá đêm qua", "kqbd trực tuyến", trong 24h qua có hàng trăm trận thuộc hàng chục giải nên Google không thể chọn 1 giải để bật OneBox ➜ </a:t>
            </a:r>
            <a:pPr indent="0" marL="0">
              <a:lnSpc>
                <a:spcPct val="120000"/>
              </a:lnSpc>
              <a:buNone/>
            </a:pPr>
            <a:r>
              <a:rPr lang="en-US" sz="1320" b="1" dirty="0">
                <a:solidFill>
                  <a:srgbClr val="9F224E"/>
                </a:solidFill>
                <a:latin typeface="Arial" pitchFamily="34" charset="0"/>
                <a:ea typeface="Arial" pitchFamily="34" charset="-122"/>
                <a:cs typeface="Arial" pitchFamily="34" charset="-120"/>
              </a:rPr>
              <a:t>Bắt buộc trả về 100% Organic Blue Links</a:t>
            </a:r>
            <a:pPr indent="0" marL="0">
              <a:lnSpc>
                <a:spcPct val="120000"/>
              </a:lnSpc>
              <a:buNone/>
            </a:pPr>
            <a:r>
              <a:rPr lang="en-US" sz="1320" dirty="0">
                <a:solidFill>
                  <a:srgbClr val="334155"/>
                </a:solidFill>
                <a:latin typeface="Arial" pitchFamily="34" charset="0"/>
                <a:ea typeface="Arial" pitchFamily="34" charset="-122"/>
                <a:cs typeface="Arial" pitchFamily="34" charset="-120"/>
              </a:rPr>
              <a:t> (chỉ 2% từ khóa gắn tên giải cụ thể mới có OneBox).</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9F224E"/>
          </a:solidFill>
          <a:ln w="12700">
            <a:solidFill>
              <a:srgbClr val="9F224E"/>
            </a:solidFill>
            <a:prstDash val="solid"/>
          </a:ln>
        </p:spPr>
      </p:sp>
      <p:sp>
        <p:nvSpPr>
          <p:cNvPr id="3" name="Shape 1"/>
          <p:cNvSpPr/>
          <p:nvPr/>
        </p:nvSpPr>
        <p:spPr>
          <a:xfrm>
            <a:off x="0" y="82296"/>
            <a:ext cx="12191695" cy="914400"/>
          </a:xfrm>
          <a:prstGeom prst="rect">
            <a:avLst/>
          </a:prstGeom>
          <a:solidFill>
            <a:srgbClr val="FFFFFF"/>
          </a:solidFill>
          <a:ln w="10160">
            <a:solidFill>
              <a:srgbClr val="E2E8F0"/>
            </a:solidFill>
            <a:prstDash val="solid"/>
          </a:ln>
        </p:spPr>
      </p:sp>
      <p:sp>
        <p:nvSpPr>
          <p:cNvPr id="4" name="Shape 2"/>
          <p:cNvSpPr/>
          <p:nvPr/>
        </p:nvSpPr>
        <p:spPr>
          <a:xfrm>
            <a:off x="411480" y="201168"/>
            <a:ext cx="2834640" cy="329184"/>
          </a:xfrm>
          <a:prstGeom prst="roundRect">
            <a:avLst>
              <a:gd name="adj" fmla="val 16667"/>
            </a:avLst>
          </a:prstGeom>
          <a:solidFill>
            <a:srgbClr val="9F224E"/>
          </a:solidFill>
          <a:ln w="12700">
            <a:solidFill>
              <a:srgbClr val="9F224E"/>
            </a:solidFill>
            <a:prstDash val="solid"/>
          </a:ln>
        </p:spPr>
      </p:sp>
      <p:sp>
        <p:nvSpPr>
          <p:cNvPr id="5" name="Text 3"/>
          <p:cNvSpPr/>
          <p:nvPr/>
        </p:nvSpPr>
        <p:spPr>
          <a:xfrm>
            <a:off x="411480" y="201168"/>
            <a:ext cx="2834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HÀNH ĐỘNG 2 • KHỐI 2 / 4</a:t>
            </a:r>
            <a:endParaRPr lang="en-US" sz="1150" dirty="0"/>
          </a:p>
        </p:txBody>
      </p:sp>
      <p:sp>
        <p:nvSpPr>
          <p:cNvPr id="6" name="Text 4"/>
          <p:cNvSpPr/>
          <p:nvPr/>
        </p:nvSpPr>
        <p:spPr>
          <a:xfrm>
            <a:off x="3383280" y="146304"/>
            <a:ext cx="8412480" cy="420624"/>
          </a:xfrm>
          <a:prstGeom prst="rect">
            <a:avLst/>
          </a:prstGeom>
          <a:noFill/>
          <a:ln/>
        </p:spPr>
        <p:txBody>
          <a:bodyPr wrap="square" lIns="0" tIns="0" rIns="0" bIns="0" rtlCol="0" anchor="ctr"/>
          <a:lstStyle/>
          <a:p>
            <a:pPr algn="l" indent="0" marL="0">
              <a:buNone/>
            </a:pPr>
            <a:r>
              <a:rPr lang="en-US" sz="2000" b="1" dirty="0">
                <a:solidFill>
                  <a:srgbClr val="1E293B"/>
                </a:solidFill>
                <a:latin typeface="Arial" pitchFamily="34" charset="0"/>
                <a:ea typeface="Arial" pitchFamily="34" charset="-122"/>
                <a:cs typeface="Arial" pitchFamily="34" charset="-120"/>
              </a:rPr>
              <a:t>Hành động 2 (Tạo mới Trang Kết Quả Bóng Đá): Vấn đề &amp; Nguyên nhân</a:t>
            </a:r>
            <a:endParaRPr lang="en-US" sz="2000" dirty="0"/>
          </a:p>
        </p:txBody>
      </p:sp>
      <p:sp>
        <p:nvSpPr>
          <p:cNvPr id="7" name="Text 5"/>
          <p:cNvSpPr/>
          <p:nvPr/>
        </p:nvSpPr>
        <p:spPr>
          <a:xfrm>
            <a:off x="411480" y="594360"/>
            <a:ext cx="11338560" cy="329184"/>
          </a:xfrm>
          <a:prstGeom prst="rect">
            <a:avLst/>
          </a:prstGeom>
          <a:noFill/>
          <a:ln/>
        </p:spPr>
        <p:txBody>
          <a:bodyPr wrap="square" lIns="0" tIns="0" rIns="0" bIns="0" rtlCol="0" anchor="ctr"/>
          <a:lstStyle/>
          <a:p>
            <a:pPr algn="l" indent="0" marL="0">
              <a:buNone/>
            </a:pPr>
            <a:r>
              <a:rPr lang="en-US" sz="1250" i="1" dirty="0">
                <a:solidFill>
                  <a:srgbClr val="64748B"/>
                </a:solidFill>
                <a:latin typeface="Arial" pitchFamily="34" charset="0"/>
                <a:ea typeface="Arial" pitchFamily="34" charset="-122"/>
                <a:cs typeface="Arial" pitchFamily="34" charset="-120"/>
              </a:rPr>
              <a:t>Tại sao VnExpress đang mất trắng lượng traffic khổng lồ 11.5M – 13.8M lượt tìm kiếm/tháng này vào tay đối thủ?</a:t>
            </a:r>
            <a:endParaRPr lang="en-US" sz="1250" dirty="0"/>
          </a:p>
        </p:txBody>
      </p:sp>
      <p:sp>
        <p:nvSpPr>
          <p:cNvPr id="8" name="Shape 6"/>
          <p:cNvSpPr/>
          <p:nvPr/>
        </p:nvSpPr>
        <p:spPr>
          <a:xfrm>
            <a:off x="0" y="6510528"/>
            <a:ext cx="12191695" cy="347472"/>
          </a:xfrm>
          <a:prstGeom prst="rect">
            <a:avLst/>
          </a:prstGeom>
          <a:solidFill>
            <a:srgbClr val="1E293B"/>
          </a:solidFill>
          <a:ln w="12700">
            <a:solidFill>
              <a:srgbClr val="1E293B"/>
            </a:solidFill>
            <a:prstDash val="solid"/>
          </a:ln>
        </p:spPr>
      </p:sp>
      <p:sp>
        <p:nvSpPr>
          <p:cNvPr id="9" name="Text 7"/>
          <p:cNvSpPr/>
          <p:nvPr/>
        </p:nvSpPr>
        <p:spPr>
          <a:xfrm>
            <a:off x="411480" y="6510528"/>
            <a:ext cx="8686800" cy="347472"/>
          </a:xfrm>
          <a:prstGeom prst="rect">
            <a:avLst/>
          </a:prstGeom>
          <a:noFill/>
          <a:ln/>
        </p:spPr>
        <p:txBody>
          <a:bodyPr wrap="square" lIns="0" tIns="0" rIns="0" bIns="0" rtlCol="0" anchor="ctr"/>
          <a:lstStyle/>
          <a:p>
            <a:pPr algn="l" indent="0" marL="0">
              <a:buNone/>
            </a:pPr>
            <a:r>
              <a:rPr lang="en-US" sz="1000" dirty="0">
                <a:solidFill>
                  <a:srgbClr val="CBD5E1"/>
                </a:solidFill>
                <a:latin typeface="Arial" pitchFamily="34" charset="0"/>
                <a:ea typeface="Arial" pitchFamily="34" charset="-122"/>
                <a:cs typeface="Arial" pitchFamily="34" charset="-120"/>
              </a:rPr>
              <a:t>VnExpress Thể Thao  |  Báo cáo Phân tích Vấn đề &amp; Giải pháp Cải tiến Trang Lịch Thi Đấu Bóng Đá</a:t>
            </a:r>
            <a:endParaRPr lang="en-US" sz="1000" dirty="0"/>
          </a:p>
        </p:txBody>
      </p:sp>
      <p:sp>
        <p:nvSpPr>
          <p:cNvPr id="10" name="Text 8"/>
          <p:cNvSpPr/>
          <p:nvPr/>
        </p:nvSpPr>
        <p:spPr>
          <a:xfrm>
            <a:off x="10058400" y="6510528"/>
            <a:ext cx="1719072"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Trang 11 / 19</a:t>
            </a:r>
            <a:endParaRPr lang="en-US" sz="1000" dirty="0"/>
          </a:p>
        </p:txBody>
      </p:sp>
      <p:sp>
        <p:nvSpPr>
          <p:cNvPr id="11" name="Shape 9"/>
          <p:cNvSpPr/>
          <p:nvPr/>
        </p:nvSpPr>
        <p:spPr>
          <a:xfrm>
            <a:off x="411480" y="1143000"/>
            <a:ext cx="11365992" cy="5193792"/>
          </a:xfrm>
          <a:prstGeom prst="roundRect">
            <a:avLst>
              <a:gd name="adj" fmla="val 1408"/>
            </a:avLst>
          </a:prstGeom>
          <a:solidFill>
            <a:srgbClr val="FFFFFF"/>
          </a:solidFill>
          <a:ln w="15240">
            <a:solidFill>
              <a:srgbClr val="CBD5E1"/>
            </a:solidFill>
            <a:prstDash val="solid"/>
          </a:ln>
        </p:spPr>
      </p:sp>
      <p:sp>
        <p:nvSpPr>
          <p:cNvPr id="12" name="Shape 10"/>
          <p:cNvSpPr/>
          <p:nvPr/>
        </p:nvSpPr>
        <p:spPr>
          <a:xfrm>
            <a:off x="411480" y="1143000"/>
            <a:ext cx="11365992" cy="475488"/>
          </a:xfrm>
          <a:prstGeom prst="roundRect">
            <a:avLst>
              <a:gd name="adj" fmla="val 15385"/>
            </a:avLst>
          </a:prstGeom>
          <a:solidFill>
            <a:srgbClr val="1E293B"/>
          </a:solidFill>
          <a:ln w="12700">
            <a:solidFill>
              <a:srgbClr val="1E293B"/>
            </a:solidFill>
            <a:prstDash val="solid"/>
          </a:ln>
        </p:spPr>
      </p:sp>
      <p:sp>
        <p:nvSpPr>
          <p:cNvPr id="13" name="Text 11"/>
          <p:cNvSpPr/>
          <p:nvPr/>
        </p:nvSpPr>
        <p:spPr>
          <a:xfrm>
            <a:off x="621792" y="1143000"/>
            <a:ext cx="10972800" cy="475488"/>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2. VẤN ĐỀ &amp; NGUYÊN NHÂN KHIẾN VNEXPRESS BỎ LỠ THỊ TRƯỜNG KẾT QUẢ BÓNG ĐÁ</a:t>
            </a:r>
            <a:endParaRPr lang="en-US" sz="1450" dirty="0"/>
          </a:p>
        </p:txBody>
      </p:sp>
      <p:sp>
        <p:nvSpPr>
          <p:cNvPr id="14" name="Shape 12"/>
          <p:cNvSpPr/>
          <p:nvPr/>
        </p:nvSpPr>
        <p:spPr>
          <a:xfrm>
            <a:off x="640080" y="1755648"/>
            <a:ext cx="10908792" cy="1408176"/>
          </a:xfrm>
          <a:prstGeom prst="roundRect">
            <a:avLst>
              <a:gd name="adj" fmla="val 4545"/>
            </a:avLst>
          </a:prstGeom>
          <a:solidFill>
            <a:srgbClr val="F1F5F9"/>
          </a:solidFill>
          <a:ln w="15240">
            <a:solidFill>
              <a:srgbClr val="CBD5E1"/>
            </a:solidFill>
            <a:prstDash val="solid"/>
          </a:ln>
        </p:spPr>
      </p:sp>
      <p:sp>
        <p:nvSpPr>
          <p:cNvPr id="15" name="Shape 13"/>
          <p:cNvSpPr/>
          <p:nvPr/>
        </p:nvSpPr>
        <p:spPr>
          <a:xfrm>
            <a:off x="640080" y="1755648"/>
            <a:ext cx="10908792" cy="365760"/>
          </a:xfrm>
          <a:prstGeom prst="roundRect">
            <a:avLst>
              <a:gd name="adj" fmla="val 17500"/>
            </a:avLst>
          </a:prstGeom>
          <a:solidFill>
            <a:srgbClr val="F9E2EA"/>
          </a:solidFill>
          <a:ln w="10160">
            <a:solidFill>
              <a:srgbClr val="E2A8BC"/>
            </a:solidFill>
            <a:prstDash val="solid"/>
          </a:ln>
        </p:spPr>
      </p:sp>
      <p:sp>
        <p:nvSpPr>
          <p:cNvPr id="16" name="Text 14"/>
          <p:cNvSpPr/>
          <p:nvPr/>
        </p:nvSpPr>
        <p:spPr>
          <a:xfrm>
            <a:off x="822960" y="1755648"/>
            <a:ext cx="10515600" cy="365760"/>
          </a:xfrm>
          <a:prstGeom prst="rect">
            <a:avLst/>
          </a:prstGeom>
          <a:noFill/>
          <a:ln/>
        </p:spPr>
        <p:txBody>
          <a:bodyPr wrap="square" lIns="0" tIns="0" rIns="0" bIns="0" rtlCol="0" anchor="ctr"/>
          <a:lstStyle/>
          <a:p>
            <a:pPr indent="0" marL="0">
              <a:buNone/>
            </a:pPr>
            <a:r>
              <a:rPr lang="en-US" sz="1350" b="1" dirty="0">
                <a:solidFill>
                  <a:srgbClr val="9F224E"/>
                </a:solidFill>
                <a:latin typeface="Arial" pitchFamily="34" charset="0"/>
                <a:ea typeface="Arial" pitchFamily="34" charset="-122"/>
                <a:cs typeface="Arial" pitchFamily="34" charset="-120"/>
              </a:rPr>
              <a:t>VẤN ĐỀ 1: ĐỐI THỦ ĐANG THU HÀNG TRIỆU CLICKS/THÁNG NHỜ CÓ URL TRANG ĐÍCH CHUYÊN BIỆT</a:t>
            </a:r>
            <a:endParaRPr lang="en-US" sz="1350" dirty="0"/>
          </a:p>
        </p:txBody>
      </p:sp>
      <p:sp>
        <p:nvSpPr>
          <p:cNvPr id="17" name="Text 15"/>
          <p:cNvSpPr/>
          <p:nvPr/>
        </p:nvSpPr>
        <p:spPr>
          <a:xfrm>
            <a:off x="822960" y="2157984"/>
            <a:ext cx="10515600" cy="969264"/>
          </a:xfrm>
          <a:prstGeom prst="rect">
            <a:avLst/>
          </a:prstGeom>
          <a:noFill/>
          <a:ln/>
        </p:spPr>
        <p:txBody>
          <a:bodyPr wrap="square" lIns="0" tIns="0" rIns="0" bIns="0" rtlCol="0" anchor="t"/>
          <a:lstStyle/>
          <a:p>
            <a:pPr indent="0" marL="0">
              <a:lnSpc>
                <a:spcPct val="118000"/>
              </a:lnSpc>
              <a:buNone/>
            </a:pPr>
            <a:r>
              <a:rPr lang="en-US" sz="1300" dirty="0">
                <a:solidFill>
                  <a:srgbClr val="1E293B"/>
                </a:solidFill>
                <a:latin typeface="Arial" pitchFamily="34" charset="0"/>
                <a:ea typeface="Arial" pitchFamily="34" charset="-122"/>
                <a:cs typeface="Arial" pitchFamily="34" charset="-120"/>
              </a:rPr>
              <a:t>• Vì không có Google OneBox chặn ở đầu trang, cuộc chiến giành hàng triệu clicks mỗi tháng đang diễn ra giữa các báo và chuyên trang có URL trang đích độc lập cho Kết Quả Bóng Đá:</a:t>
            </a:r>
            <a:endParaRPr lang="en-US" sz="1300" dirty="0"/>
          </a:p>
          <a:p>
            <a:pPr indent="0" marL="0">
              <a:lnSpc>
                <a:spcPct val="118000"/>
              </a:lnSpc>
              <a:buNone/>
            </a:pPr>
            <a:r>
              <a:rPr lang="en-US" sz="1300" dirty="0">
                <a:solidFill>
                  <a:srgbClr val="1E293B"/>
                </a:solidFill>
                <a:latin typeface="Arial" pitchFamily="34" charset="0"/>
                <a:ea typeface="Arial" pitchFamily="34" charset="-122"/>
                <a:cs typeface="Arial" pitchFamily="34" charset="-120"/>
              </a:rPr>
              <a:t>   👉 bongda24h.vn/bong-da/ket-qua.html   |   bongdaplus.vn/ket-qua-bong-da   |   24h.com.vn/ket-qua-bong-da-c140.html</a:t>
            </a:r>
            <a:endParaRPr lang="en-US" sz="1300" dirty="0"/>
          </a:p>
          <a:p>
            <a:pPr indent="0" marL="0">
              <a:lnSpc>
                <a:spcPct val="118000"/>
              </a:lnSpc>
              <a:buNone/>
            </a:pPr>
            <a:r>
              <a:rPr lang="en-US" sz="1300" dirty="0">
                <a:solidFill>
                  <a:srgbClr val="1E293B"/>
                </a:solidFill>
                <a:latin typeface="Arial" pitchFamily="34" charset="0"/>
                <a:ea typeface="Arial" pitchFamily="34" charset="-122"/>
                <a:cs typeface="Arial" pitchFamily="34" charset="-120"/>
              </a:rPr>
              <a:t>   👉 vietnamnet.vn/the-thao/ket-qua-bong-da   |   thethao247.vn/ket-qua-bong-da-truc-tuyen/</a:t>
            </a:r>
            <a:endParaRPr lang="en-US" sz="1300" dirty="0"/>
          </a:p>
        </p:txBody>
      </p:sp>
      <p:sp>
        <p:nvSpPr>
          <p:cNvPr id="18" name="Shape 16"/>
          <p:cNvSpPr/>
          <p:nvPr/>
        </p:nvSpPr>
        <p:spPr>
          <a:xfrm>
            <a:off x="640080" y="3291840"/>
            <a:ext cx="10908792" cy="1408176"/>
          </a:xfrm>
          <a:prstGeom prst="roundRect">
            <a:avLst>
              <a:gd name="adj" fmla="val 4545"/>
            </a:avLst>
          </a:prstGeom>
          <a:solidFill>
            <a:srgbClr val="F1F5F9"/>
          </a:solidFill>
          <a:ln w="15240">
            <a:solidFill>
              <a:srgbClr val="CBD5E1"/>
            </a:solidFill>
            <a:prstDash val="solid"/>
          </a:ln>
        </p:spPr>
      </p:sp>
      <p:sp>
        <p:nvSpPr>
          <p:cNvPr id="19" name="Shape 17"/>
          <p:cNvSpPr/>
          <p:nvPr/>
        </p:nvSpPr>
        <p:spPr>
          <a:xfrm>
            <a:off x="640080" y="3291840"/>
            <a:ext cx="10908792" cy="365760"/>
          </a:xfrm>
          <a:prstGeom prst="roundRect">
            <a:avLst>
              <a:gd name="adj" fmla="val 17500"/>
            </a:avLst>
          </a:prstGeom>
          <a:solidFill>
            <a:srgbClr val="F9E2EA"/>
          </a:solidFill>
          <a:ln w="10160">
            <a:solidFill>
              <a:srgbClr val="E2A8BC"/>
            </a:solidFill>
            <a:prstDash val="solid"/>
          </a:ln>
        </p:spPr>
      </p:sp>
      <p:sp>
        <p:nvSpPr>
          <p:cNvPr id="20" name="Text 18"/>
          <p:cNvSpPr/>
          <p:nvPr/>
        </p:nvSpPr>
        <p:spPr>
          <a:xfrm>
            <a:off x="822960" y="3291840"/>
            <a:ext cx="10515600" cy="365760"/>
          </a:xfrm>
          <a:prstGeom prst="rect">
            <a:avLst/>
          </a:prstGeom>
          <a:noFill/>
          <a:ln/>
        </p:spPr>
        <p:txBody>
          <a:bodyPr wrap="square" lIns="0" tIns="0" rIns="0" bIns="0" rtlCol="0" anchor="ctr"/>
          <a:lstStyle/>
          <a:p>
            <a:pPr indent="0" marL="0">
              <a:buNone/>
            </a:pPr>
            <a:r>
              <a:rPr lang="en-US" sz="1350" b="1" dirty="0">
                <a:solidFill>
                  <a:srgbClr val="9F224E"/>
                </a:solidFill>
                <a:latin typeface="Arial" pitchFamily="34" charset="0"/>
                <a:ea typeface="Arial" pitchFamily="34" charset="-122"/>
                <a:cs typeface="Arial" pitchFamily="34" charset="-120"/>
              </a:rPr>
              <a:t>NGUYÊN NHÂN GỐC RỄ: XUNG ĐỘT Ý ĐỊNH TÌM KIẾM (SEARCH INTENT) TRÊN CÙNG 1 URL</a:t>
            </a:r>
            <a:endParaRPr lang="en-US" sz="1350" dirty="0"/>
          </a:p>
        </p:txBody>
      </p:sp>
      <p:sp>
        <p:nvSpPr>
          <p:cNvPr id="21" name="Text 19"/>
          <p:cNvSpPr/>
          <p:nvPr/>
        </p:nvSpPr>
        <p:spPr>
          <a:xfrm>
            <a:off x="822960" y="3694176"/>
            <a:ext cx="10515600" cy="969264"/>
          </a:xfrm>
          <a:prstGeom prst="rect">
            <a:avLst/>
          </a:prstGeom>
          <a:noFill/>
          <a:ln/>
        </p:spPr>
        <p:txBody>
          <a:bodyPr wrap="square" lIns="0" tIns="0" rIns="0" bIns="0" rtlCol="0" anchor="t"/>
          <a:lstStyle/>
          <a:p>
            <a:pPr indent="0" marL="0">
              <a:lnSpc>
                <a:spcPct val="118000"/>
              </a:lnSpc>
              <a:buNone/>
            </a:pPr>
            <a:r>
              <a:rPr lang="en-US" sz="1300" dirty="0">
                <a:solidFill>
                  <a:srgbClr val="1E293B"/>
                </a:solidFill>
                <a:latin typeface="Arial" pitchFamily="34" charset="0"/>
                <a:ea typeface="Arial" pitchFamily="34" charset="-122"/>
                <a:cs typeface="Arial" pitchFamily="34" charset="-120"/>
              </a:rPr>
              <a:t>• Google xem "Lịch thi đấu" (tương lai – xem giờ đá) và "Kết quả bóng đá" (quá khứ/hiện tại – xem tỷ số, người ghi bàn) là 2 ý định tìm kiếm (Search Intent) hoàn toàn tách biệt.</a:t>
            </a:r>
            <a:endParaRPr lang="en-US" sz="1300" dirty="0"/>
          </a:p>
          <a:p>
            <a:pPr indent="0" marL="0">
              <a:lnSpc>
                <a:spcPct val="118000"/>
              </a:lnSpc>
              <a:buNone/>
            </a:pPr>
            <a:r>
              <a:rPr lang="en-US" sz="1300" dirty="0">
                <a:solidFill>
                  <a:srgbClr val="1E293B"/>
                </a:solidFill>
                <a:latin typeface="Arial" pitchFamily="34" charset="0"/>
                <a:ea typeface="Arial" pitchFamily="34" charset="-122"/>
                <a:cs typeface="Arial" pitchFamily="34" charset="-120"/>
              </a:rPr>
              <a:t>• Việc chỉ có duy nhất trang /the-thao/du-lieu-bong-da khiến VnExpress không thể tối ưu sâu cùng lúc cho cả hai nhóm từ khóa đối lập này, trong khi các đối thủ đều tách riêng 2 URL độc lập (/lich-thi-dau và /ket-qua-bong-da).</a:t>
            </a:r>
            <a:endParaRPr lang="en-US" sz="1300" dirty="0"/>
          </a:p>
        </p:txBody>
      </p:sp>
      <p:sp>
        <p:nvSpPr>
          <p:cNvPr id="22" name="Shape 20"/>
          <p:cNvSpPr/>
          <p:nvPr/>
        </p:nvSpPr>
        <p:spPr>
          <a:xfrm>
            <a:off x="640080" y="4828032"/>
            <a:ext cx="10908792" cy="1408176"/>
          </a:xfrm>
          <a:prstGeom prst="roundRect">
            <a:avLst>
              <a:gd name="adj" fmla="val 4545"/>
            </a:avLst>
          </a:prstGeom>
          <a:solidFill>
            <a:srgbClr val="F1F5F9"/>
          </a:solidFill>
          <a:ln w="15240">
            <a:solidFill>
              <a:srgbClr val="CBD5E1"/>
            </a:solidFill>
            <a:prstDash val="solid"/>
          </a:ln>
        </p:spPr>
      </p:sp>
      <p:sp>
        <p:nvSpPr>
          <p:cNvPr id="23" name="Shape 21"/>
          <p:cNvSpPr/>
          <p:nvPr/>
        </p:nvSpPr>
        <p:spPr>
          <a:xfrm>
            <a:off x="640080" y="4828032"/>
            <a:ext cx="10908792" cy="365760"/>
          </a:xfrm>
          <a:prstGeom prst="roundRect">
            <a:avLst>
              <a:gd name="adj" fmla="val 17500"/>
            </a:avLst>
          </a:prstGeom>
          <a:solidFill>
            <a:srgbClr val="F9E2EA"/>
          </a:solidFill>
          <a:ln w="10160">
            <a:solidFill>
              <a:srgbClr val="E2A8BC"/>
            </a:solidFill>
            <a:prstDash val="solid"/>
          </a:ln>
        </p:spPr>
      </p:sp>
      <p:sp>
        <p:nvSpPr>
          <p:cNvPr id="24" name="Text 22"/>
          <p:cNvSpPr/>
          <p:nvPr/>
        </p:nvSpPr>
        <p:spPr>
          <a:xfrm>
            <a:off x="822960" y="4828032"/>
            <a:ext cx="10515600" cy="365760"/>
          </a:xfrm>
          <a:prstGeom prst="rect">
            <a:avLst/>
          </a:prstGeom>
          <a:noFill/>
          <a:ln/>
        </p:spPr>
        <p:txBody>
          <a:bodyPr wrap="square" lIns="0" tIns="0" rIns="0" bIns="0" rtlCol="0" anchor="ctr"/>
          <a:lstStyle/>
          <a:p>
            <a:pPr indent="0" marL="0">
              <a:buNone/>
            </a:pPr>
            <a:r>
              <a:rPr lang="en-US" sz="1350" b="1" dirty="0">
                <a:solidFill>
                  <a:srgbClr val="9F224E"/>
                </a:solidFill>
                <a:latin typeface="Arial" pitchFamily="34" charset="0"/>
                <a:ea typeface="Arial" pitchFamily="34" charset="-122"/>
                <a:cs typeface="Arial" pitchFamily="34" charset="-120"/>
              </a:rPr>
              <a:t>VẤN ĐỀ BỔ SUNG: TRANG KẾT QUẢ NGOẠI HẠNG ANH (/NGOAI-HANG-ANH/KET-QUA) ĐANG RỜI RẠC</a:t>
            </a:r>
            <a:endParaRPr lang="en-US" sz="1350" dirty="0"/>
          </a:p>
        </p:txBody>
      </p:sp>
      <p:sp>
        <p:nvSpPr>
          <p:cNvPr id="25" name="Text 23"/>
          <p:cNvSpPr/>
          <p:nvPr/>
        </p:nvSpPr>
        <p:spPr>
          <a:xfrm>
            <a:off x="822960" y="5230368"/>
            <a:ext cx="10515600" cy="969264"/>
          </a:xfrm>
          <a:prstGeom prst="rect">
            <a:avLst/>
          </a:prstGeom>
          <a:noFill/>
          <a:ln/>
        </p:spPr>
        <p:txBody>
          <a:bodyPr wrap="square" lIns="0" tIns="0" rIns="0" bIns="0" rtlCol="0" anchor="t"/>
          <a:lstStyle/>
          <a:p>
            <a:pPr indent="0" marL="0">
              <a:lnSpc>
                <a:spcPct val="118000"/>
              </a:lnSpc>
              <a:buNone/>
            </a:pPr>
            <a:r>
              <a:rPr lang="en-US" sz="1300" dirty="0">
                <a:solidFill>
                  <a:srgbClr val="1E293B"/>
                </a:solidFill>
                <a:latin typeface="Arial" pitchFamily="34" charset="0"/>
                <a:ea typeface="Arial" pitchFamily="34" charset="-122"/>
                <a:cs typeface="Arial" pitchFamily="34" charset="-120"/>
              </a:rPr>
              <a:t>• Trang /the-thao/ngoai-hang-anh/ket-qua hiện chưa đồng bộ trải nghiệm với trang Lịch thi đấu chung để tạo liên kết chặt chẽ.</a:t>
            </a:r>
            <a:endParaRPr lang="en-US" sz="1300" dirty="0"/>
          </a:p>
          <a:p>
            <a:pPr indent="0" marL="0">
              <a:lnSpc>
                <a:spcPct val="118000"/>
              </a:lnSpc>
              <a:buNone/>
            </a:pPr>
            <a:r>
              <a:rPr lang="en-US" sz="1300" dirty="0">
                <a:solidFill>
                  <a:srgbClr val="1E293B"/>
                </a:solidFill>
                <a:latin typeface="Arial" pitchFamily="34" charset="0"/>
                <a:ea typeface="Arial" pitchFamily="34" charset="-122"/>
                <a:cs typeface="Arial" pitchFamily="34" charset="-120"/>
              </a:rPr>
              <a:t>• Giao diện hiển thị kết quả còn thiếu bộ lọc nhanh theo vòng đấu / thời gian (Đêm qua, Hôm qua, Tuần này), chưa tích hợp icon xem Video Highlight và liên kết đến bài tường thuật/chấm điểm trận đấu ngay trên thẻ trận đấu.</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9F224E"/>
          </a:solidFill>
          <a:ln w="12700">
            <a:solidFill>
              <a:srgbClr val="9F224E"/>
            </a:solidFill>
            <a:prstDash val="solid"/>
          </a:ln>
        </p:spPr>
      </p:sp>
      <p:sp>
        <p:nvSpPr>
          <p:cNvPr id="3" name="Shape 1"/>
          <p:cNvSpPr/>
          <p:nvPr/>
        </p:nvSpPr>
        <p:spPr>
          <a:xfrm>
            <a:off x="0" y="82296"/>
            <a:ext cx="12191695" cy="914400"/>
          </a:xfrm>
          <a:prstGeom prst="rect">
            <a:avLst/>
          </a:prstGeom>
          <a:solidFill>
            <a:srgbClr val="FFFFFF"/>
          </a:solidFill>
          <a:ln w="10160">
            <a:solidFill>
              <a:srgbClr val="E2E8F0"/>
            </a:solidFill>
            <a:prstDash val="solid"/>
          </a:ln>
        </p:spPr>
      </p:sp>
      <p:sp>
        <p:nvSpPr>
          <p:cNvPr id="4" name="Shape 2"/>
          <p:cNvSpPr/>
          <p:nvPr/>
        </p:nvSpPr>
        <p:spPr>
          <a:xfrm>
            <a:off x="411480" y="201168"/>
            <a:ext cx="2834640" cy="329184"/>
          </a:xfrm>
          <a:prstGeom prst="roundRect">
            <a:avLst>
              <a:gd name="adj" fmla="val 16667"/>
            </a:avLst>
          </a:prstGeom>
          <a:solidFill>
            <a:srgbClr val="9F224E"/>
          </a:solidFill>
          <a:ln w="12700">
            <a:solidFill>
              <a:srgbClr val="9F224E"/>
            </a:solidFill>
            <a:prstDash val="solid"/>
          </a:ln>
        </p:spPr>
      </p:sp>
      <p:sp>
        <p:nvSpPr>
          <p:cNvPr id="5" name="Text 3"/>
          <p:cNvSpPr/>
          <p:nvPr/>
        </p:nvSpPr>
        <p:spPr>
          <a:xfrm>
            <a:off x="411480" y="201168"/>
            <a:ext cx="2834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HÀNH ĐỘNG 2 • KHỐI 3 / 4</a:t>
            </a:r>
            <a:endParaRPr lang="en-US" sz="1150" dirty="0"/>
          </a:p>
        </p:txBody>
      </p:sp>
      <p:sp>
        <p:nvSpPr>
          <p:cNvPr id="6" name="Text 4"/>
          <p:cNvSpPr/>
          <p:nvPr/>
        </p:nvSpPr>
        <p:spPr>
          <a:xfrm>
            <a:off x="3383280" y="146304"/>
            <a:ext cx="8412480" cy="420624"/>
          </a:xfrm>
          <a:prstGeom prst="rect">
            <a:avLst/>
          </a:prstGeom>
          <a:noFill/>
          <a:ln/>
        </p:spPr>
        <p:txBody>
          <a:bodyPr wrap="square" lIns="0" tIns="0" rIns="0" bIns="0" rtlCol="0" anchor="ctr"/>
          <a:lstStyle/>
          <a:p>
            <a:pPr algn="l" indent="0" marL="0">
              <a:buNone/>
            </a:pPr>
            <a:r>
              <a:rPr lang="en-US" sz="2000" b="1" dirty="0">
                <a:solidFill>
                  <a:srgbClr val="1E293B"/>
                </a:solidFill>
                <a:latin typeface="Arial" pitchFamily="34" charset="0"/>
                <a:ea typeface="Arial" pitchFamily="34" charset="-122"/>
                <a:cs typeface="Arial" pitchFamily="34" charset="-120"/>
              </a:rPr>
              <a:t>Hành động 2 (Tạo mới Trang Kết Quả Bóng Đá): Giải pháp Đề xuất</a:t>
            </a:r>
            <a:endParaRPr lang="en-US" sz="2000" dirty="0"/>
          </a:p>
        </p:txBody>
      </p:sp>
      <p:sp>
        <p:nvSpPr>
          <p:cNvPr id="7" name="Text 5"/>
          <p:cNvSpPr/>
          <p:nvPr/>
        </p:nvSpPr>
        <p:spPr>
          <a:xfrm>
            <a:off x="411480" y="594360"/>
            <a:ext cx="11338560" cy="329184"/>
          </a:xfrm>
          <a:prstGeom prst="rect">
            <a:avLst/>
          </a:prstGeom>
          <a:noFill/>
          <a:ln/>
        </p:spPr>
        <p:txBody>
          <a:bodyPr wrap="square" lIns="0" tIns="0" rIns="0" bIns="0" rtlCol="0" anchor="ctr"/>
          <a:lstStyle/>
          <a:p>
            <a:pPr algn="l" indent="0" marL="0">
              <a:buNone/>
            </a:pPr>
            <a:r>
              <a:rPr lang="en-US" sz="1250" i="1" dirty="0">
                <a:solidFill>
                  <a:srgbClr val="64748B"/>
                </a:solidFill>
                <a:latin typeface="Arial" pitchFamily="34" charset="0"/>
                <a:ea typeface="Arial" pitchFamily="34" charset="-122"/>
                <a:cs typeface="Arial" pitchFamily="34" charset="-120"/>
              </a:rPr>
              <a:t>Khởi tạo Hub Page /ket-qua-bong-da độc lập, thiết kế UX 3 khối ưu tiên &amp; cải tiến trang Kết quả Ngoại Hạng Anh</a:t>
            </a:r>
            <a:endParaRPr lang="en-US" sz="1250" dirty="0"/>
          </a:p>
        </p:txBody>
      </p:sp>
      <p:sp>
        <p:nvSpPr>
          <p:cNvPr id="8" name="Shape 6"/>
          <p:cNvSpPr/>
          <p:nvPr/>
        </p:nvSpPr>
        <p:spPr>
          <a:xfrm>
            <a:off x="0" y="6510528"/>
            <a:ext cx="12191695" cy="347472"/>
          </a:xfrm>
          <a:prstGeom prst="rect">
            <a:avLst/>
          </a:prstGeom>
          <a:solidFill>
            <a:srgbClr val="1E293B"/>
          </a:solidFill>
          <a:ln w="12700">
            <a:solidFill>
              <a:srgbClr val="1E293B"/>
            </a:solidFill>
            <a:prstDash val="solid"/>
          </a:ln>
        </p:spPr>
      </p:sp>
      <p:sp>
        <p:nvSpPr>
          <p:cNvPr id="9" name="Text 7"/>
          <p:cNvSpPr/>
          <p:nvPr/>
        </p:nvSpPr>
        <p:spPr>
          <a:xfrm>
            <a:off x="411480" y="6510528"/>
            <a:ext cx="8686800" cy="347472"/>
          </a:xfrm>
          <a:prstGeom prst="rect">
            <a:avLst/>
          </a:prstGeom>
          <a:noFill/>
          <a:ln/>
        </p:spPr>
        <p:txBody>
          <a:bodyPr wrap="square" lIns="0" tIns="0" rIns="0" bIns="0" rtlCol="0" anchor="ctr"/>
          <a:lstStyle/>
          <a:p>
            <a:pPr algn="l" indent="0" marL="0">
              <a:buNone/>
            </a:pPr>
            <a:r>
              <a:rPr lang="en-US" sz="1000" dirty="0">
                <a:solidFill>
                  <a:srgbClr val="CBD5E1"/>
                </a:solidFill>
                <a:latin typeface="Arial" pitchFamily="34" charset="0"/>
                <a:ea typeface="Arial" pitchFamily="34" charset="-122"/>
                <a:cs typeface="Arial" pitchFamily="34" charset="-120"/>
              </a:rPr>
              <a:t>VnExpress Thể Thao  |  Báo cáo Phân tích Vấn đề &amp; Giải pháp Cải tiến Trang Lịch Thi Đấu Bóng Đá</a:t>
            </a:r>
            <a:endParaRPr lang="en-US" sz="1000" dirty="0"/>
          </a:p>
        </p:txBody>
      </p:sp>
      <p:sp>
        <p:nvSpPr>
          <p:cNvPr id="10" name="Text 8"/>
          <p:cNvSpPr/>
          <p:nvPr/>
        </p:nvSpPr>
        <p:spPr>
          <a:xfrm>
            <a:off x="10058400" y="6510528"/>
            <a:ext cx="1719072"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Trang 12 / 19</a:t>
            </a:r>
            <a:endParaRPr lang="en-US" sz="1000" dirty="0"/>
          </a:p>
        </p:txBody>
      </p:sp>
      <p:sp>
        <p:nvSpPr>
          <p:cNvPr id="11" name="Shape 9"/>
          <p:cNvSpPr/>
          <p:nvPr/>
        </p:nvSpPr>
        <p:spPr>
          <a:xfrm>
            <a:off x="411480" y="1143000"/>
            <a:ext cx="11365992" cy="5193792"/>
          </a:xfrm>
          <a:prstGeom prst="roundRect">
            <a:avLst>
              <a:gd name="adj" fmla="val 1408"/>
            </a:avLst>
          </a:prstGeom>
          <a:solidFill>
            <a:srgbClr val="FFFFFF"/>
          </a:solidFill>
          <a:ln w="15240">
            <a:solidFill>
              <a:srgbClr val="CBD5E1"/>
            </a:solidFill>
            <a:prstDash val="solid"/>
          </a:ln>
        </p:spPr>
      </p:sp>
      <p:sp>
        <p:nvSpPr>
          <p:cNvPr id="12" name="Shape 10"/>
          <p:cNvSpPr/>
          <p:nvPr/>
        </p:nvSpPr>
        <p:spPr>
          <a:xfrm>
            <a:off x="411480" y="1143000"/>
            <a:ext cx="11365992" cy="475488"/>
          </a:xfrm>
          <a:prstGeom prst="roundRect">
            <a:avLst>
              <a:gd name="adj" fmla="val 15385"/>
            </a:avLst>
          </a:prstGeom>
          <a:solidFill>
            <a:srgbClr val="1E293B"/>
          </a:solidFill>
          <a:ln w="12700">
            <a:solidFill>
              <a:srgbClr val="1E293B"/>
            </a:solidFill>
            <a:prstDash val="solid"/>
          </a:ln>
        </p:spPr>
      </p:sp>
      <p:sp>
        <p:nvSpPr>
          <p:cNvPr id="13" name="Text 11"/>
          <p:cNvSpPr/>
          <p:nvPr/>
        </p:nvSpPr>
        <p:spPr>
          <a:xfrm>
            <a:off x="621792" y="1143000"/>
            <a:ext cx="10972800" cy="475488"/>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3. GIẢI PHÁP KIẾN TRÚC TRANG ĐÍCH /KET-QUA-BONG-DA &amp; ĐỒNG BỘ KẾT QUẢ NGOẠI HẠNG ANH</a:t>
            </a:r>
            <a:endParaRPr lang="en-US" sz="1450" dirty="0"/>
          </a:p>
        </p:txBody>
      </p:sp>
      <p:sp>
        <p:nvSpPr>
          <p:cNvPr id="14" name="Text 12"/>
          <p:cNvSpPr/>
          <p:nvPr/>
        </p:nvSpPr>
        <p:spPr>
          <a:xfrm>
            <a:off x="640080" y="1719072"/>
            <a:ext cx="5989320" cy="3886200"/>
          </a:xfrm>
          <a:prstGeom prst="rect">
            <a:avLst/>
          </a:prstGeom>
          <a:noFill/>
          <a:ln/>
        </p:spPr>
        <p:txBody>
          <a:bodyPr wrap="square" lIns="0" tIns="0" rIns="0" bIns="0" rtlCol="0" anchor="t"/>
          <a:lstStyle/>
          <a:p>
            <a:pPr indent="0" marL="0">
              <a:lnSpc>
                <a:spcPct val="114000"/>
              </a:lnSpc>
              <a:buNone/>
            </a:pPr>
            <a:r>
              <a:rPr lang="en-US" sz="1420" b="1" dirty="0">
                <a:solidFill>
                  <a:srgbClr val="9F224E"/>
                </a:solidFill>
                <a:latin typeface="Arial" pitchFamily="34" charset="0"/>
                <a:ea typeface="Arial" pitchFamily="34" charset="-122"/>
                <a:cs typeface="Arial" pitchFamily="34" charset="-120"/>
              </a:rPr>
              <a:t>Bước 1: Tạo URL Trang đích (Hub Page) độc lập cho "Kết quả bóng đá"
</a:t>
            </a:r>
            <a:pPr indent="0" marL="0">
              <a:lnSpc>
                <a:spcPct val="114000"/>
              </a:lnSpc>
              <a:buNone/>
            </a:pPr>
            <a:r>
              <a:rPr lang="en-US" sz="1280" b="1" dirty="0">
                <a:solidFill>
                  <a:srgbClr val="1E293B"/>
                </a:solidFill>
                <a:latin typeface="Arial" pitchFamily="34" charset="0"/>
                <a:ea typeface="Arial" pitchFamily="34" charset="-122"/>
                <a:cs typeface="Arial" pitchFamily="34" charset="-120"/>
              </a:rPr>
              <a:t>• Khởi tạo URL mới: </a:t>
            </a:r>
            <a:pPr indent="0" marL="0">
              <a:lnSpc>
                <a:spcPct val="114000"/>
              </a:lnSpc>
              <a:buNone/>
            </a:pPr>
            <a:r>
              <a:rPr lang="en-US" sz="1300" b="1" dirty="0">
                <a:solidFill>
                  <a:srgbClr val="9F224E"/>
                </a:solidFill>
                <a:latin typeface="Arial" pitchFamily="34" charset="0"/>
                <a:ea typeface="Arial" pitchFamily="34" charset="-122"/>
                <a:cs typeface="Arial" pitchFamily="34" charset="-120"/>
              </a:rPr>
              <a:t>/the-thao/du-lieu-bong-da/ket-qua-bong-da
</a:t>
            </a:r>
            <a:pPr indent="0" marL="0">
              <a:lnSpc>
                <a:spcPct val="114000"/>
              </a:lnSpc>
              <a:buNone/>
            </a:pPr>
            <a:r>
              <a:rPr lang="en-US" sz="1280" b="1" dirty="0">
                <a:solidFill>
                  <a:srgbClr val="1E293B"/>
                </a:solidFill>
                <a:latin typeface="Arial" pitchFamily="34" charset="0"/>
                <a:ea typeface="Arial" pitchFamily="34" charset="-122"/>
                <a:cs typeface="Arial" pitchFamily="34" charset="-120"/>
              </a:rPr>
              <a:t>• Quy hoạch rõ vai trò tránh tự ăn thịt từ khóa (Cannibalization):
</a:t>
            </a:r>
            <a:pPr indent="0" marL="0">
              <a:lnSpc>
                <a:spcPct val="114000"/>
              </a:lnSpc>
              <a:buNone/>
            </a:pPr>
            <a:r>
              <a:rPr lang="en-US" sz="1250" dirty="0">
                <a:solidFill>
                  <a:srgbClr val="334155"/>
                </a:solidFill>
                <a:latin typeface="Arial" pitchFamily="34" charset="0"/>
                <a:ea typeface="Arial" pitchFamily="34" charset="-122"/>
                <a:cs typeface="Arial" pitchFamily="34" charset="-120"/>
              </a:rPr>
              <a:t>   - Trang /du-lieu-bong-da: Chuyên trách 100% Lịch thi đấu hôm nay / tối nay.
   - Trang mới /ket-qua-bong-da: Chuyên trách 100% Kết quả bóng đá hôm nay / đêm qua / trực tuyến.
</a:t>
            </a:r>
            <a:pPr indent="0" marL="0">
              <a:lnSpc>
                <a:spcPct val="114000"/>
              </a:lnSpc>
              <a:buNone/>
            </a:pPr>
            <a:r>
              <a:rPr lang="en-US" sz="1420" b="1" dirty="0">
                <a:solidFill>
                  <a:srgbClr val="9F224E"/>
                </a:solidFill>
                <a:latin typeface="Arial" pitchFamily="34" charset="0"/>
                <a:ea typeface="Arial" pitchFamily="34" charset="-122"/>
                <a:cs typeface="Arial" pitchFamily="34" charset="-120"/>
              </a:rPr>
              <a:t>Bước 2: Thiết kế UX/UI chuẩn tâm lý tra cứu KQBD (3 khối ưu tiên)
</a:t>
            </a:r>
            <a:pPr indent="0" marL="0">
              <a:lnSpc>
                <a:spcPct val="114000"/>
              </a:lnSpc>
              <a:buNone/>
            </a:pPr>
            <a:r>
              <a:rPr lang="en-US" sz="1280" b="1" dirty="0">
                <a:solidFill>
                  <a:srgbClr val="1E293B"/>
                </a:solidFill>
                <a:latin typeface="Arial" pitchFamily="34" charset="0"/>
                <a:ea typeface="Arial" pitchFamily="34" charset="-122"/>
                <a:cs typeface="Arial" pitchFamily="34" charset="-120"/>
              </a:rPr>
              <a:t>• Khối 1 – Trận ĐANG DIỄN RA (Livescore): </a:t>
            </a:r>
            <a:pPr indent="0" marL="0">
              <a:lnSpc>
                <a:spcPct val="114000"/>
              </a:lnSpc>
              <a:buNone/>
            </a:pPr>
            <a:r>
              <a:rPr lang="en-US" sz="1250" dirty="0">
                <a:solidFill>
                  <a:srgbClr val="334155"/>
                </a:solidFill>
                <a:latin typeface="Arial" pitchFamily="34" charset="0"/>
                <a:ea typeface="Arial" pitchFamily="34" charset="-122"/>
                <a:cs typeface="Arial" pitchFamily="34" charset="-120"/>
              </a:rPr>
              <a:t>Đẩy lên trên cùng với trạng thái phút thi đấu nhấp nháy (45', 78', HT) giữ chân người gõ "kqbd truc tuyen".
</a:t>
            </a:r>
            <a:pPr indent="0" marL="0">
              <a:lnSpc>
                <a:spcPct val="114000"/>
              </a:lnSpc>
              <a:buNone/>
            </a:pPr>
            <a:r>
              <a:rPr lang="en-US" sz="1280" b="1" dirty="0">
                <a:solidFill>
                  <a:srgbClr val="1E293B"/>
                </a:solidFill>
                <a:latin typeface="Arial" pitchFamily="34" charset="0"/>
                <a:ea typeface="Arial" pitchFamily="34" charset="-122"/>
                <a:cs typeface="Arial" pitchFamily="34" charset="-120"/>
              </a:rPr>
              <a:t>• Khối 2 – Kết quả ĐÊM QUA &amp; RẠNG SÁNG NAY (24h qua): </a:t>
            </a:r>
            <a:pPr indent="0" marL="0">
              <a:lnSpc>
                <a:spcPct val="114000"/>
              </a:lnSpc>
              <a:buNone/>
            </a:pPr>
            <a:r>
              <a:rPr lang="en-US" sz="1250" dirty="0">
                <a:solidFill>
                  <a:srgbClr val="334155"/>
                </a:solidFill>
                <a:latin typeface="Arial" pitchFamily="34" charset="0"/>
                <a:ea typeface="Arial" pitchFamily="34" charset="-122"/>
                <a:cs typeface="Arial" pitchFamily="34" charset="-120"/>
              </a:rPr>
              <a:t>Gom nhóm theo thứ tự giải đấu được người Việt quan tâm nhất.
</a:t>
            </a:r>
            <a:pPr indent="0" marL="0">
              <a:lnSpc>
                <a:spcPct val="114000"/>
              </a:lnSpc>
              <a:buNone/>
            </a:pPr>
            <a:r>
              <a:rPr lang="en-US" sz="1280" b="1" dirty="0">
                <a:solidFill>
                  <a:srgbClr val="1E293B"/>
                </a:solidFill>
                <a:latin typeface="Arial" pitchFamily="34" charset="0"/>
                <a:ea typeface="Arial" pitchFamily="34" charset="-122"/>
                <a:cs typeface="Arial" pitchFamily="34" charset="-120"/>
              </a:rPr>
              <a:t>• Khối 3 – Thanh chuyển ngày nhanh (Quick Date Tabs): </a:t>
            </a:r>
            <a:pPr indent="0" marL="0">
              <a:lnSpc>
                <a:spcPct val="114000"/>
              </a:lnSpc>
              <a:buNone/>
            </a:pPr>
            <a:r>
              <a:rPr lang="en-US" sz="1250" b="1" dirty="0">
                <a:solidFill>
                  <a:srgbClr val="9F224E"/>
                </a:solidFill>
                <a:latin typeface="Arial" pitchFamily="34" charset="0"/>
                <a:ea typeface="Arial" pitchFamily="34" charset="-122"/>
                <a:cs typeface="Arial" pitchFamily="34" charset="-120"/>
              </a:rPr>
              <a:t>[Hôm qua] | [Hôm nay / Đêm qua] | [Ngày khác]
</a:t>
            </a:r>
            <a:pPr indent="0" marL="0">
              <a:lnSpc>
                <a:spcPct val="114000"/>
              </a:lnSpc>
              <a:buNone/>
            </a:pPr>
            <a:r>
              <a:rPr lang="en-US" sz="1420" b="1" dirty="0">
                <a:solidFill>
                  <a:srgbClr val="9F224E"/>
                </a:solidFill>
                <a:latin typeface="Arial" pitchFamily="34" charset="0"/>
                <a:ea typeface="Arial" pitchFamily="34" charset="-122"/>
                <a:cs typeface="Arial" pitchFamily="34" charset="-120"/>
              </a:rPr>
              <a:t>Bước 3: Cải tiến trang KQ Ngoại Hạng Anh (/the-thao/ngoai-hang-anh/ket-qua)
</a:t>
            </a:r>
            <a:pPr indent="0" marL="0">
              <a:lnSpc>
                <a:spcPct val="114000"/>
              </a:lnSpc>
              <a:buNone/>
            </a:pPr>
            <a:r>
              <a:rPr lang="en-US" sz="1250" dirty="0">
                <a:solidFill>
                  <a:srgbClr val="334155"/>
                </a:solidFill>
                <a:latin typeface="Arial" pitchFamily="34" charset="0"/>
                <a:ea typeface="Arial" pitchFamily="34" charset="-122"/>
                <a:cs typeface="Arial" pitchFamily="34" charset="-120"/>
              </a:rPr>
              <a:t>• Dropdown chọn vòng đấu (Vòng 1, 2, 3...) + Bộ lọc thời gian (Đêm qua, Hôm qua, Tuần này).</a:t>
            </a:r>
            <a:endParaRPr lang="en-US" sz="1420" dirty="0"/>
          </a:p>
          <a:p>
            <a:pPr indent="0" marL="0">
              <a:lnSpc>
                <a:spcPct val="114000"/>
              </a:lnSpc>
              <a:buNone/>
            </a:pPr>
            <a:r>
              <a:rPr lang="en-US" sz="1250" dirty="0">
                <a:solidFill>
                  <a:srgbClr val="334155"/>
                </a:solidFill>
                <a:latin typeface="Arial" pitchFamily="34" charset="0"/>
                <a:ea typeface="Arial" pitchFamily="34" charset="-122"/>
                <a:cs typeface="Arial" pitchFamily="34" charset="-120"/>
              </a:rPr>
              <a:t>• Tích hợp icon xem Video Highlight &amp; link bài tường thuật/chấm điểm trong mỗi thẻ trận đấu kết thúc + điều hướng nội bộ từ tin bài về trang.</a:t>
            </a:r>
            <a:endParaRPr lang="en-US" sz="1420" dirty="0"/>
          </a:p>
        </p:txBody>
      </p:sp>
      <p:sp>
        <p:nvSpPr>
          <p:cNvPr id="15" name="Shape 13"/>
          <p:cNvSpPr/>
          <p:nvPr/>
        </p:nvSpPr>
        <p:spPr>
          <a:xfrm>
            <a:off x="640080" y="5650992"/>
            <a:ext cx="5989320" cy="512064"/>
          </a:xfrm>
          <a:prstGeom prst="roundRect">
            <a:avLst>
              <a:gd name="adj" fmla="val 12500"/>
            </a:avLst>
          </a:prstGeom>
          <a:solidFill>
            <a:srgbClr val="FDF2F6"/>
          </a:solidFill>
          <a:ln w="15240">
            <a:solidFill>
              <a:srgbClr val="E2A8BC"/>
            </a:solidFill>
            <a:prstDash val="solid"/>
          </a:ln>
        </p:spPr>
      </p:sp>
      <p:sp>
        <p:nvSpPr>
          <p:cNvPr id="16" name="Text 14"/>
          <p:cNvSpPr/>
          <p:nvPr/>
        </p:nvSpPr>
        <p:spPr>
          <a:xfrm>
            <a:off x="804672" y="5650992"/>
            <a:ext cx="5669280" cy="512064"/>
          </a:xfrm>
          <a:prstGeom prst="rect">
            <a:avLst/>
          </a:prstGeom>
          <a:noFill/>
          <a:ln/>
        </p:spPr>
        <p:txBody>
          <a:bodyPr wrap="square" lIns="0" tIns="0" rIns="0" bIns="0" rtlCol="0" anchor="ctr"/>
          <a:lstStyle/>
          <a:p>
            <a:pPr indent="0" marL="0">
              <a:buNone/>
            </a:pPr>
            <a:r>
              <a:rPr lang="en-US" sz="1300" b="1" dirty="0">
                <a:solidFill>
                  <a:srgbClr val="9F224E"/>
                </a:solidFill>
                <a:latin typeface="Arial" pitchFamily="34" charset="0"/>
                <a:ea typeface="Arial" pitchFamily="34" charset="-122"/>
                <a:cs typeface="Arial" pitchFamily="34" charset="-120"/>
              </a:rPr>
              <a:t>🔗 Demo: </a:t>
            </a:r>
            <a:pPr indent="0" marL="0">
              <a:buNone/>
            </a:pPr>
            <a:r>
              <a:rPr lang="en-US" sz="1300" b="1" u="sng" dirty="0">
                <a:solidFill>
                  <a:srgbClr val="9F224E"/>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https://brand-new-lich-thi-dau.vercel.app/ket-qua</a:t>
            </a:r>
            <a:endParaRPr lang="en-US" sz="1300" dirty="0"/>
          </a:p>
        </p:txBody>
      </p:sp>
      <p:sp>
        <p:nvSpPr>
          <p:cNvPr id="17" name="Shape 15"/>
          <p:cNvSpPr/>
          <p:nvPr/>
        </p:nvSpPr>
        <p:spPr>
          <a:xfrm>
            <a:off x="6812280" y="1737360"/>
            <a:ext cx="4754880" cy="4425696"/>
          </a:xfrm>
          <a:prstGeom prst="roundRect">
            <a:avLst>
              <a:gd name="adj" fmla="val 1446"/>
            </a:avLst>
          </a:prstGeom>
          <a:solidFill>
            <a:srgbClr val="F1F5F9"/>
          </a:solidFill>
          <a:ln w="12700">
            <a:solidFill>
              <a:srgbClr val="CBD5E1"/>
            </a:solidFill>
            <a:prstDash val="solid"/>
          </a:ln>
        </p:spPr>
      </p:sp>
      <p:pic>
        <p:nvPicPr>
          <p:cNvPr id="18" name="Image 0" descr="c:\Antigravity\final-ltd\shot_tab_results.png">    </p:cNvPr>
          <p:cNvPicPr>
            <a:picLocks noChangeAspect="1"/>
          </p:cNvPicPr>
          <p:nvPr/>
        </p:nvPicPr>
        <p:blipFill>
          <a:blip r:embed="rId2"/>
          <a:stretch>
            <a:fillRect/>
          </a:stretch>
        </p:blipFill>
        <p:spPr>
          <a:xfrm>
            <a:off x="6903720" y="1828800"/>
            <a:ext cx="4572000" cy="42428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9F224E"/>
          </a:solidFill>
          <a:ln w="12700">
            <a:solidFill>
              <a:srgbClr val="9F224E"/>
            </a:solidFill>
            <a:prstDash val="solid"/>
          </a:ln>
        </p:spPr>
      </p:sp>
      <p:sp>
        <p:nvSpPr>
          <p:cNvPr id="3" name="Shape 1"/>
          <p:cNvSpPr/>
          <p:nvPr/>
        </p:nvSpPr>
        <p:spPr>
          <a:xfrm>
            <a:off x="0" y="82296"/>
            <a:ext cx="12191695" cy="914400"/>
          </a:xfrm>
          <a:prstGeom prst="rect">
            <a:avLst/>
          </a:prstGeom>
          <a:solidFill>
            <a:srgbClr val="FFFFFF"/>
          </a:solidFill>
          <a:ln w="10160">
            <a:solidFill>
              <a:srgbClr val="E2E8F0"/>
            </a:solidFill>
            <a:prstDash val="solid"/>
          </a:ln>
        </p:spPr>
      </p:sp>
      <p:sp>
        <p:nvSpPr>
          <p:cNvPr id="4" name="Shape 2"/>
          <p:cNvSpPr/>
          <p:nvPr/>
        </p:nvSpPr>
        <p:spPr>
          <a:xfrm>
            <a:off x="411480" y="201168"/>
            <a:ext cx="2834640" cy="329184"/>
          </a:xfrm>
          <a:prstGeom prst="roundRect">
            <a:avLst>
              <a:gd name="adj" fmla="val 16667"/>
            </a:avLst>
          </a:prstGeom>
          <a:solidFill>
            <a:srgbClr val="9F224E"/>
          </a:solidFill>
          <a:ln w="12700">
            <a:solidFill>
              <a:srgbClr val="9F224E"/>
            </a:solidFill>
            <a:prstDash val="solid"/>
          </a:ln>
        </p:spPr>
      </p:sp>
      <p:sp>
        <p:nvSpPr>
          <p:cNvPr id="5" name="Text 3"/>
          <p:cNvSpPr/>
          <p:nvPr/>
        </p:nvSpPr>
        <p:spPr>
          <a:xfrm>
            <a:off x="411480" y="201168"/>
            <a:ext cx="2834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HÀNH ĐỘNG 2 • KHỐI 4 / 4</a:t>
            </a:r>
            <a:endParaRPr lang="en-US" sz="1150" dirty="0"/>
          </a:p>
        </p:txBody>
      </p:sp>
      <p:sp>
        <p:nvSpPr>
          <p:cNvPr id="6" name="Text 4"/>
          <p:cNvSpPr/>
          <p:nvPr/>
        </p:nvSpPr>
        <p:spPr>
          <a:xfrm>
            <a:off x="3383280" y="146304"/>
            <a:ext cx="8412480" cy="420624"/>
          </a:xfrm>
          <a:prstGeom prst="rect">
            <a:avLst/>
          </a:prstGeom>
          <a:noFill/>
          <a:ln/>
        </p:spPr>
        <p:txBody>
          <a:bodyPr wrap="square" lIns="0" tIns="0" rIns="0" bIns="0" rtlCol="0" anchor="ctr"/>
          <a:lstStyle/>
          <a:p>
            <a:pPr algn="l" indent="0" marL="0">
              <a:buNone/>
            </a:pPr>
            <a:r>
              <a:rPr lang="en-US" sz="2000" b="1" dirty="0">
                <a:solidFill>
                  <a:srgbClr val="1E293B"/>
                </a:solidFill>
                <a:latin typeface="Arial" pitchFamily="34" charset="0"/>
                <a:ea typeface="Arial" pitchFamily="34" charset="-122"/>
                <a:cs typeface="Arial" pitchFamily="34" charset="-120"/>
              </a:rPr>
              <a:t>Hành động 2 (Tạo mới Trang Kết Quả Bóng Đá): KPI Mục tiêu</a:t>
            </a:r>
            <a:endParaRPr lang="en-US" sz="2000" dirty="0"/>
          </a:p>
        </p:txBody>
      </p:sp>
      <p:sp>
        <p:nvSpPr>
          <p:cNvPr id="7" name="Text 5"/>
          <p:cNvSpPr/>
          <p:nvPr/>
        </p:nvSpPr>
        <p:spPr>
          <a:xfrm>
            <a:off x="411480" y="594360"/>
            <a:ext cx="11338560" cy="329184"/>
          </a:xfrm>
          <a:prstGeom prst="rect">
            <a:avLst/>
          </a:prstGeom>
          <a:noFill/>
          <a:ln/>
        </p:spPr>
        <p:txBody>
          <a:bodyPr wrap="square" lIns="0" tIns="0" rIns="0" bIns="0" rtlCol="0" anchor="ctr"/>
          <a:lstStyle/>
          <a:p>
            <a:pPr algn="l" indent="0" marL="0">
              <a:buNone/>
            </a:pPr>
            <a:r>
              <a:rPr lang="en-US" sz="1250" i="1" dirty="0">
                <a:solidFill>
                  <a:srgbClr val="64748B"/>
                </a:solidFill>
                <a:latin typeface="Arial" pitchFamily="34" charset="0"/>
                <a:ea typeface="Arial" pitchFamily="34" charset="-122"/>
                <a:cs typeface="Arial" pitchFamily="34" charset="-120"/>
              </a:rPr>
              <a:t>Động lực tăng trưởng số 1 (Mới 100%) — Mang về 38,700 đến 43,300 Search Clicks/tháng sau 12 tháng</a:t>
            </a:r>
            <a:endParaRPr lang="en-US" sz="1250" dirty="0"/>
          </a:p>
        </p:txBody>
      </p:sp>
      <p:sp>
        <p:nvSpPr>
          <p:cNvPr id="8" name="Shape 6"/>
          <p:cNvSpPr/>
          <p:nvPr/>
        </p:nvSpPr>
        <p:spPr>
          <a:xfrm>
            <a:off x="0" y="6510528"/>
            <a:ext cx="12191695" cy="347472"/>
          </a:xfrm>
          <a:prstGeom prst="rect">
            <a:avLst/>
          </a:prstGeom>
          <a:solidFill>
            <a:srgbClr val="1E293B"/>
          </a:solidFill>
          <a:ln w="12700">
            <a:solidFill>
              <a:srgbClr val="1E293B"/>
            </a:solidFill>
            <a:prstDash val="solid"/>
          </a:ln>
        </p:spPr>
      </p:sp>
      <p:sp>
        <p:nvSpPr>
          <p:cNvPr id="9" name="Text 7"/>
          <p:cNvSpPr/>
          <p:nvPr/>
        </p:nvSpPr>
        <p:spPr>
          <a:xfrm>
            <a:off x="411480" y="6510528"/>
            <a:ext cx="8686800" cy="347472"/>
          </a:xfrm>
          <a:prstGeom prst="rect">
            <a:avLst/>
          </a:prstGeom>
          <a:noFill/>
          <a:ln/>
        </p:spPr>
        <p:txBody>
          <a:bodyPr wrap="square" lIns="0" tIns="0" rIns="0" bIns="0" rtlCol="0" anchor="ctr"/>
          <a:lstStyle/>
          <a:p>
            <a:pPr algn="l" indent="0" marL="0">
              <a:buNone/>
            </a:pPr>
            <a:r>
              <a:rPr lang="en-US" sz="1000" dirty="0">
                <a:solidFill>
                  <a:srgbClr val="CBD5E1"/>
                </a:solidFill>
                <a:latin typeface="Arial" pitchFamily="34" charset="0"/>
                <a:ea typeface="Arial" pitchFamily="34" charset="-122"/>
                <a:cs typeface="Arial" pitchFamily="34" charset="-120"/>
              </a:rPr>
              <a:t>VnExpress Thể Thao  |  Báo cáo Phân tích Vấn đề &amp; Giải pháp Cải tiến Trang Lịch Thi Đấu Bóng Đá</a:t>
            </a:r>
            <a:endParaRPr lang="en-US" sz="1000" dirty="0"/>
          </a:p>
        </p:txBody>
      </p:sp>
      <p:sp>
        <p:nvSpPr>
          <p:cNvPr id="10" name="Text 8"/>
          <p:cNvSpPr/>
          <p:nvPr/>
        </p:nvSpPr>
        <p:spPr>
          <a:xfrm>
            <a:off x="10058400" y="6510528"/>
            <a:ext cx="1719072"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Trang 13 / 19</a:t>
            </a:r>
            <a:endParaRPr lang="en-US" sz="1000" dirty="0"/>
          </a:p>
        </p:txBody>
      </p:sp>
      <p:sp>
        <p:nvSpPr>
          <p:cNvPr id="11" name="Shape 9"/>
          <p:cNvSpPr/>
          <p:nvPr/>
        </p:nvSpPr>
        <p:spPr>
          <a:xfrm>
            <a:off x="411480" y="1143000"/>
            <a:ext cx="11365992" cy="5193792"/>
          </a:xfrm>
          <a:prstGeom prst="roundRect">
            <a:avLst>
              <a:gd name="adj" fmla="val 1408"/>
            </a:avLst>
          </a:prstGeom>
          <a:solidFill>
            <a:srgbClr val="FFFFFF"/>
          </a:solidFill>
          <a:ln w="15240">
            <a:solidFill>
              <a:srgbClr val="CBD5E1"/>
            </a:solidFill>
            <a:prstDash val="solid"/>
          </a:ln>
        </p:spPr>
      </p:sp>
      <p:sp>
        <p:nvSpPr>
          <p:cNvPr id="12" name="Shape 10"/>
          <p:cNvSpPr/>
          <p:nvPr/>
        </p:nvSpPr>
        <p:spPr>
          <a:xfrm>
            <a:off x="411480" y="1143000"/>
            <a:ext cx="11365992" cy="475488"/>
          </a:xfrm>
          <a:prstGeom prst="roundRect">
            <a:avLst>
              <a:gd name="adj" fmla="val 15385"/>
            </a:avLst>
          </a:prstGeom>
          <a:solidFill>
            <a:srgbClr val="1E293B"/>
          </a:solidFill>
          <a:ln w="12700">
            <a:solidFill>
              <a:srgbClr val="1E293B"/>
            </a:solidFill>
            <a:prstDash val="solid"/>
          </a:ln>
        </p:spPr>
      </p:sp>
      <p:sp>
        <p:nvSpPr>
          <p:cNvPr id="13" name="Text 11"/>
          <p:cNvSpPr/>
          <p:nvPr/>
        </p:nvSpPr>
        <p:spPr>
          <a:xfrm>
            <a:off x="621792" y="1143000"/>
            <a:ext cx="10972800" cy="475488"/>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4. KPI DỰ KIẾN CỦA HÀNH ĐỘNG 2 (SAU 12 THÁNG TRIỂN KHAI)</a:t>
            </a:r>
            <a:endParaRPr lang="en-US" sz="1450" dirty="0"/>
          </a:p>
        </p:txBody>
      </p:sp>
      <p:sp>
        <p:nvSpPr>
          <p:cNvPr id="14" name="Shape 12"/>
          <p:cNvSpPr/>
          <p:nvPr/>
        </p:nvSpPr>
        <p:spPr>
          <a:xfrm>
            <a:off x="640080" y="1828800"/>
            <a:ext cx="3520440" cy="2057400"/>
          </a:xfrm>
          <a:prstGeom prst="roundRect">
            <a:avLst>
              <a:gd name="adj" fmla="val 3556"/>
            </a:avLst>
          </a:prstGeom>
          <a:solidFill>
            <a:srgbClr val="F1F5F9"/>
          </a:solidFill>
          <a:ln w="19050">
            <a:solidFill>
              <a:srgbClr val="CBD5E1"/>
            </a:solidFill>
            <a:prstDash val="solid"/>
          </a:ln>
        </p:spPr>
      </p:sp>
      <p:sp>
        <p:nvSpPr>
          <p:cNvPr id="15" name="Text 13"/>
          <p:cNvSpPr/>
          <p:nvPr/>
        </p:nvSpPr>
        <p:spPr>
          <a:xfrm>
            <a:off x="777240" y="1993392"/>
            <a:ext cx="3246120" cy="320040"/>
          </a:xfrm>
          <a:prstGeom prst="rect">
            <a:avLst/>
          </a:prstGeom>
          <a:noFill/>
          <a:ln/>
        </p:spPr>
        <p:txBody>
          <a:bodyPr wrap="square" lIns="0" tIns="0" rIns="0" bIns="0" rtlCol="0" anchor="ctr"/>
          <a:lstStyle/>
          <a:p>
            <a:pPr algn="ctr" indent="0" marL="0">
              <a:buNone/>
            </a:pPr>
            <a:r>
              <a:rPr lang="en-US" sz="1150" b="1" dirty="0">
                <a:solidFill>
                  <a:srgbClr val="64748B"/>
                </a:solidFill>
                <a:latin typeface="Arial" pitchFamily="34" charset="0"/>
                <a:ea typeface="Arial" pitchFamily="34" charset="-122"/>
                <a:cs typeface="Arial" pitchFamily="34" charset="-120"/>
              </a:rPr>
              <a:t>HIỆN TRẠNG BASELINE (15 THÁNG)</a:t>
            </a:r>
            <a:endParaRPr lang="en-US" sz="1150" dirty="0"/>
          </a:p>
        </p:txBody>
      </p:sp>
      <p:sp>
        <p:nvSpPr>
          <p:cNvPr id="16" name="Text 14"/>
          <p:cNvSpPr/>
          <p:nvPr/>
        </p:nvSpPr>
        <p:spPr>
          <a:xfrm>
            <a:off x="777240" y="2423160"/>
            <a:ext cx="3246120" cy="594360"/>
          </a:xfrm>
          <a:prstGeom prst="rect">
            <a:avLst/>
          </a:prstGeom>
          <a:noFill/>
          <a:ln/>
        </p:spPr>
        <p:txBody>
          <a:bodyPr wrap="square" lIns="0" tIns="0" rIns="0" bIns="0" rtlCol="0" anchor="ctr"/>
          <a:lstStyle/>
          <a:p>
            <a:pPr algn="ctr" indent="0" marL="0">
              <a:buNone/>
            </a:pPr>
            <a:r>
              <a:rPr lang="en-US" sz="2250" b="1" dirty="0">
                <a:solidFill>
                  <a:srgbClr val="1E293B"/>
                </a:solidFill>
                <a:latin typeface="Arial" pitchFamily="34" charset="0"/>
                <a:ea typeface="Arial" pitchFamily="34" charset="-122"/>
                <a:cs typeface="Arial" pitchFamily="34" charset="-120"/>
              </a:rPr>
              <a:t>0 Clicks / tháng</a:t>
            </a:r>
            <a:endParaRPr lang="en-US" sz="2250" dirty="0"/>
          </a:p>
        </p:txBody>
      </p:sp>
      <p:sp>
        <p:nvSpPr>
          <p:cNvPr id="17" name="Text 15"/>
          <p:cNvSpPr/>
          <p:nvPr/>
        </p:nvSpPr>
        <p:spPr>
          <a:xfrm>
            <a:off x="777240" y="3108960"/>
            <a:ext cx="3246120" cy="594360"/>
          </a:xfrm>
          <a:prstGeom prst="rect">
            <a:avLst/>
          </a:prstGeom>
          <a:noFill/>
          <a:ln/>
        </p:spPr>
        <p:txBody>
          <a:bodyPr wrap="square" lIns="0" tIns="0" rIns="0" bIns="0" rtlCol="0" anchor="ctr"/>
          <a:lstStyle/>
          <a:p>
            <a:pPr algn="ctr" indent="0" marL="0">
              <a:lnSpc>
                <a:spcPct val="115000"/>
              </a:lnSpc>
              <a:buNone/>
            </a:pPr>
            <a:r>
              <a:rPr lang="en-US" sz="1250" b="1" dirty="0">
                <a:solidFill>
                  <a:srgbClr val="1E293B"/>
                </a:solidFill>
                <a:latin typeface="Arial" pitchFamily="34" charset="0"/>
                <a:ea typeface="Arial" pitchFamily="34" charset="-122"/>
                <a:cs typeface="Arial" pitchFamily="34" charset="-120"/>
              </a:rPr>
              <a:t>Chưa có trang đích chuyên biệt</a:t>
            </a:r>
            <a:endParaRPr lang="en-US" sz="1250" dirty="0"/>
          </a:p>
          <a:p>
            <a:pPr algn="ctr" indent="0" marL="0">
              <a:lnSpc>
                <a:spcPct val="115000"/>
              </a:lnSpc>
              <a:buNone/>
            </a:pPr>
            <a:r>
              <a:rPr lang="en-US" sz="1250" b="1" dirty="0">
                <a:solidFill>
                  <a:srgbClr val="1E293B"/>
                </a:solidFill>
                <a:latin typeface="Arial" pitchFamily="34" charset="0"/>
                <a:ea typeface="Arial" pitchFamily="34" charset="-122"/>
                <a:cs typeface="Arial" pitchFamily="34" charset="-120"/>
              </a:rPr>
              <a:t>cho Kết quả bóng đá</a:t>
            </a:r>
            <a:endParaRPr lang="en-US" sz="1250" dirty="0"/>
          </a:p>
        </p:txBody>
      </p:sp>
      <p:sp>
        <p:nvSpPr>
          <p:cNvPr id="18" name="Shape 16"/>
          <p:cNvSpPr/>
          <p:nvPr/>
        </p:nvSpPr>
        <p:spPr>
          <a:xfrm>
            <a:off x="4334256" y="1828800"/>
            <a:ext cx="3520440" cy="2057400"/>
          </a:xfrm>
          <a:prstGeom prst="roundRect">
            <a:avLst>
              <a:gd name="adj" fmla="val 3556"/>
            </a:avLst>
          </a:prstGeom>
          <a:solidFill>
            <a:srgbClr val="FDF2F6"/>
          </a:solidFill>
          <a:ln w="19050">
            <a:solidFill>
              <a:srgbClr val="E2A8BC"/>
            </a:solidFill>
            <a:prstDash val="solid"/>
          </a:ln>
        </p:spPr>
      </p:sp>
      <p:sp>
        <p:nvSpPr>
          <p:cNvPr id="19" name="Text 17"/>
          <p:cNvSpPr/>
          <p:nvPr/>
        </p:nvSpPr>
        <p:spPr>
          <a:xfrm>
            <a:off x="4471416" y="1993392"/>
            <a:ext cx="3246120" cy="320040"/>
          </a:xfrm>
          <a:prstGeom prst="rect">
            <a:avLst/>
          </a:prstGeom>
          <a:noFill/>
          <a:ln/>
        </p:spPr>
        <p:txBody>
          <a:bodyPr wrap="square" lIns="0" tIns="0" rIns="0" bIns="0" rtlCol="0" anchor="ctr"/>
          <a:lstStyle/>
          <a:p>
            <a:pPr algn="ctr" indent="0" marL="0">
              <a:buNone/>
            </a:pPr>
            <a:r>
              <a:rPr lang="en-US" sz="1150" b="1" dirty="0">
                <a:solidFill>
                  <a:srgbClr val="64748B"/>
                </a:solidFill>
                <a:latin typeface="Arial" pitchFamily="34" charset="0"/>
                <a:ea typeface="Arial" pitchFamily="34" charset="-122"/>
                <a:cs typeface="Arial" pitchFamily="34" charset="-120"/>
              </a:rPr>
              <a:t>DỰ BÁO ĐẠT ĐƯỢC SAU 12 THÁNG</a:t>
            </a:r>
            <a:endParaRPr lang="en-US" sz="1150" dirty="0"/>
          </a:p>
        </p:txBody>
      </p:sp>
      <p:sp>
        <p:nvSpPr>
          <p:cNvPr id="20" name="Text 18"/>
          <p:cNvSpPr/>
          <p:nvPr/>
        </p:nvSpPr>
        <p:spPr>
          <a:xfrm>
            <a:off x="4471416" y="2423160"/>
            <a:ext cx="3246120" cy="594360"/>
          </a:xfrm>
          <a:prstGeom prst="rect">
            <a:avLst/>
          </a:prstGeom>
          <a:noFill/>
          <a:ln/>
        </p:spPr>
        <p:txBody>
          <a:bodyPr wrap="square" lIns="0" tIns="0" rIns="0" bIns="0" rtlCol="0" anchor="ctr"/>
          <a:lstStyle/>
          <a:p>
            <a:pPr algn="ctr" indent="0" marL="0">
              <a:buNone/>
            </a:pPr>
            <a:r>
              <a:rPr lang="en-US" sz="2250" b="1" dirty="0">
                <a:solidFill>
                  <a:srgbClr val="9F224E"/>
                </a:solidFill>
                <a:latin typeface="Arial" pitchFamily="34" charset="0"/>
                <a:ea typeface="Arial" pitchFamily="34" charset="-122"/>
                <a:cs typeface="Arial" pitchFamily="34" charset="-120"/>
              </a:rPr>
              <a:t>38.7K – 43.3K / tháng</a:t>
            </a:r>
            <a:endParaRPr lang="en-US" sz="2250" dirty="0"/>
          </a:p>
        </p:txBody>
      </p:sp>
      <p:sp>
        <p:nvSpPr>
          <p:cNvPr id="21" name="Text 19"/>
          <p:cNvSpPr/>
          <p:nvPr/>
        </p:nvSpPr>
        <p:spPr>
          <a:xfrm>
            <a:off x="4471416" y="3108960"/>
            <a:ext cx="3246120" cy="594360"/>
          </a:xfrm>
          <a:prstGeom prst="rect">
            <a:avLst/>
          </a:prstGeom>
          <a:noFill/>
          <a:ln/>
        </p:spPr>
        <p:txBody>
          <a:bodyPr wrap="square" lIns="0" tIns="0" rIns="0" bIns="0" rtlCol="0" anchor="ctr"/>
          <a:lstStyle/>
          <a:p>
            <a:pPr algn="ctr" indent="0" marL="0">
              <a:lnSpc>
                <a:spcPct val="115000"/>
              </a:lnSpc>
              <a:buNone/>
            </a:pPr>
            <a:r>
              <a:rPr lang="en-US" sz="1250" b="1" dirty="0">
                <a:solidFill>
                  <a:srgbClr val="1E293B"/>
                </a:solidFill>
                <a:latin typeface="Arial" pitchFamily="34" charset="0"/>
                <a:ea typeface="Arial" pitchFamily="34" charset="-122"/>
                <a:cs typeface="Arial" pitchFamily="34" charset="-120"/>
              </a:rPr>
              <a:t>Lượng Clicks tăng thêm hoàn toàn mới</a:t>
            </a:r>
            <a:endParaRPr lang="en-US" sz="1250" dirty="0"/>
          </a:p>
          <a:p>
            <a:pPr algn="ctr" indent="0" marL="0">
              <a:lnSpc>
                <a:spcPct val="115000"/>
              </a:lnSpc>
              <a:buNone/>
            </a:pPr>
            <a:r>
              <a:rPr lang="en-US" sz="1250" b="1" dirty="0">
                <a:solidFill>
                  <a:srgbClr val="1E293B"/>
                </a:solidFill>
                <a:latin typeface="Arial" pitchFamily="34" charset="0"/>
                <a:ea typeface="Arial" pitchFamily="34" charset="-122"/>
                <a:cs typeface="Arial" pitchFamily="34" charset="-120"/>
              </a:rPr>
              <a:t>(+38,700 đến +43,300 clicks/tháng)</a:t>
            </a:r>
            <a:endParaRPr lang="en-US" sz="1250" dirty="0"/>
          </a:p>
        </p:txBody>
      </p:sp>
      <p:sp>
        <p:nvSpPr>
          <p:cNvPr id="22" name="Shape 20"/>
          <p:cNvSpPr/>
          <p:nvPr/>
        </p:nvSpPr>
        <p:spPr>
          <a:xfrm>
            <a:off x="8028432" y="1828800"/>
            <a:ext cx="3520440" cy="2057400"/>
          </a:xfrm>
          <a:prstGeom prst="roundRect">
            <a:avLst>
              <a:gd name="adj" fmla="val 3556"/>
            </a:avLst>
          </a:prstGeom>
          <a:solidFill>
            <a:srgbClr val="FDF2F6"/>
          </a:solidFill>
          <a:ln w="19050">
            <a:solidFill>
              <a:srgbClr val="E2A8BC"/>
            </a:solidFill>
            <a:prstDash val="solid"/>
          </a:ln>
        </p:spPr>
      </p:sp>
      <p:sp>
        <p:nvSpPr>
          <p:cNvPr id="23" name="Text 21"/>
          <p:cNvSpPr/>
          <p:nvPr/>
        </p:nvSpPr>
        <p:spPr>
          <a:xfrm>
            <a:off x="8165592" y="1993392"/>
            <a:ext cx="3246120" cy="320040"/>
          </a:xfrm>
          <a:prstGeom prst="rect">
            <a:avLst/>
          </a:prstGeom>
          <a:noFill/>
          <a:ln/>
        </p:spPr>
        <p:txBody>
          <a:bodyPr wrap="square" lIns="0" tIns="0" rIns="0" bIns="0" rtlCol="0" anchor="ctr"/>
          <a:lstStyle/>
          <a:p>
            <a:pPr algn="ctr" indent="0" marL="0">
              <a:buNone/>
            </a:pPr>
            <a:r>
              <a:rPr lang="en-US" sz="1150" b="1" dirty="0">
                <a:solidFill>
                  <a:srgbClr val="64748B"/>
                </a:solidFill>
                <a:latin typeface="Arial" pitchFamily="34" charset="0"/>
                <a:ea typeface="Arial" pitchFamily="34" charset="-122"/>
                <a:cs typeface="Arial" pitchFamily="34" charset="-120"/>
              </a:rPr>
              <a:t>VAI TRÒ &amp; TỶ TRỌNG ĐÓNG GÓP</a:t>
            </a:r>
            <a:endParaRPr lang="en-US" sz="1150" dirty="0"/>
          </a:p>
        </p:txBody>
      </p:sp>
      <p:sp>
        <p:nvSpPr>
          <p:cNvPr id="24" name="Text 22"/>
          <p:cNvSpPr/>
          <p:nvPr/>
        </p:nvSpPr>
        <p:spPr>
          <a:xfrm>
            <a:off x="8165592" y="2423160"/>
            <a:ext cx="3246120" cy="594360"/>
          </a:xfrm>
          <a:prstGeom prst="rect">
            <a:avLst/>
          </a:prstGeom>
          <a:noFill/>
          <a:ln/>
        </p:spPr>
        <p:txBody>
          <a:bodyPr wrap="square" lIns="0" tIns="0" rIns="0" bIns="0" rtlCol="0" anchor="ctr"/>
          <a:lstStyle/>
          <a:p>
            <a:pPr algn="ctr" indent="0" marL="0">
              <a:buNone/>
            </a:pPr>
            <a:r>
              <a:rPr lang="en-US" sz="2250" b="1" dirty="0">
                <a:solidFill>
                  <a:srgbClr val="9F224E"/>
                </a:solidFill>
                <a:latin typeface="Arial" pitchFamily="34" charset="0"/>
                <a:ea typeface="Arial" pitchFamily="34" charset="-122"/>
                <a:cs typeface="Arial" pitchFamily="34" charset="-120"/>
              </a:rPr>
              <a:t>Mới 100% (Động lực số 1)</a:t>
            </a:r>
            <a:endParaRPr lang="en-US" sz="2250" dirty="0"/>
          </a:p>
        </p:txBody>
      </p:sp>
      <p:sp>
        <p:nvSpPr>
          <p:cNvPr id="25" name="Text 23"/>
          <p:cNvSpPr/>
          <p:nvPr/>
        </p:nvSpPr>
        <p:spPr>
          <a:xfrm>
            <a:off x="8165592" y="3108960"/>
            <a:ext cx="3246120" cy="594360"/>
          </a:xfrm>
          <a:prstGeom prst="rect">
            <a:avLst/>
          </a:prstGeom>
          <a:noFill/>
          <a:ln/>
        </p:spPr>
        <p:txBody>
          <a:bodyPr wrap="square" lIns="0" tIns="0" rIns="0" bIns="0" rtlCol="0" anchor="ctr"/>
          <a:lstStyle/>
          <a:p>
            <a:pPr algn="ctr" indent="0" marL="0">
              <a:lnSpc>
                <a:spcPct val="115000"/>
              </a:lnSpc>
              <a:buNone/>
            </a:pPr>
            <a:r>
              <a:rPr lang="en-US" sz="1250" b="1" dirty="0">
                <a:solidFill>
                  <a:srgbClr val="1E293B"/>
                </a:solidFill>
                <a:latin typeface="Arial" pitchFamily="34" charset="0"/>
                <a:ea typeface="Arial" pitchFamily="34" charset="-122"/>
                <a:cs typeface="Arial" pitchFamily="34" charset="-120"/>
              </a:rPr>
              <a:t>Đóng góp ~45% – 50% tổng mức tăng</a:t>
            </a:r>
            <a:endParaRPr lang="en-US" sz="1250" dirty="0"/>
          </a:p>
          <a:p>
            <a:pPr algn="ctr" indent="0" marL="0">
              <a:lnSpc>
                <a:spcPct val="115000"/>
              </a:lnSpc>
              <a:buNone/>
            </a:pPr>
            <a:r>
              <a:rPr lang="en-US" sz="1250" b="1" dirty="0">
                <a:solidFill>
                  <a:srgbClr val="1E293B"/>
                </a:solidFill>
                <a:latin typeface="Arial" pitchFamily="34" charset="0"/>
                <a:ea typeface="Arial" pitchFamily="34" charset="-122"/>
                <a:cs typeface="Arial" pitchFamily="34" charset="-120"/>
              </a:rPr>
              <a:t>của toàn bộ dự án sau 12 tháng</a:t>
            </a:r>
            <a:endParaRPr lang="en-US" sz="1250" dirty="0"/>
          </a:p>
        </p:txBody>
      </p:sp>
      <p:sp>
        <p:nvSpPr>
          <p:cNvPr id="26" name="Shape 24"/>
          <p:cNvSpPr/>
          <p:nvPr/>
        </p:nvSpPr>
        <p:spPr>
          <a:xfrm>
            <a:off x="640080" y="4114800"/>
            <a:ext cx="10908792" cy="1965960"/>
          </a:xfrm>
          <a:prstGeom prst="roundRect">
            <a:avLst>
              <a:gd name="adj" fmla="val 3721"/>
            </a:avLst>
          </a:prstGeom>
          <a:solidFill>
            <a:srgbClr val="F1F5F9"/>
          </a:solidFill>
          <a:ln w="15240">
            <a:solidFill>
              <a:srgbClr val="CBD5E1"/>
            </a:solidFill>
            <a:prstDash val="solid"/>
          </a:ln>
        </p:spPr>
      </p:sp>
      <p:sp>
        <p:nvSpPr>
          <p:cNvPr id="27" name="Text 25"/>
          <p:cNvSpPr/>
          <p:nvPr/>
        </p:nvSpPr>
        <p:spPr>
          <a:xfrm>
            <a:off x="868680" y="4251960"/>
            <a:ext cx="10424160" cy="347472"/>
          </a:xfrm>
          <a:prstGeom prst="rect">
            <a:avLst/>
          </a:prstGeom>
          <a:noFill/>
          <a:ln/>
        </p:spPr>
        <p:txBody>
          <a:bodyPr wrap="square" lIns="0" tIns="0" rIns="0" bIns="0" rtlCol="0" anchor="ctr"/>
          <a:lstStyle/>
          <a:p>
            <a:pPr indent="0" marL="0">
              <a:buNone/>
            </a:pPr>
            <a:r>
              <a:rPr lang="en-US" sz="1500" b="1" dirty="0">
                <a:solidFill>
                  <a:srgbClr val="9F224E"/>
                </a:solidFill>
                <a:latin typeface="Arial" pitchFamily="34" charset="0"/>
                <a:ea typeface="Arial" pitchFamily="34" charset="-122"/>
                <a:cs typeface="Arial" pitchFamily="34" charset="-120"/>
              </a:rPr>
              <a:t>ĐẶC ĐIỂM SERP &amp; ĐỘNG LỰC TĂNG TRƯỞNG CHÍNH CỦA HÀNH ĐỘNG 2:</a:t>
            </a:r>
            <a:endParaRPr lang="en-US" sz="1500" dirty="0"/>
          </a:p>
        </p:txBody>
      </p:sp>
      <p:sp>
        <p:nvSpPr>
          <p:cNvPr id="28" name="Text 26"/>
          <p:cNvSpPr/>
          <p:nvPr/>
        </p:nvSpPr>
        <p:spPr>
          <a:xfrm>
            <a:off x="868680" y="4663440"/>
            <a:ext cx="10424160" cy="1280160"/>
          </a:xfrm>
          <a:prstGeom prst="rect">
            <a:avLst/>
          </a:prstGeom>
          <a:noFill/>
          <a:ln/>
        </p:spPr>
        <p:txBody>
          <a:bodyPr wrap="square" lIns="0" tIns="0" rIns="0" bIns="0" rtlCol="0" anchor="t"/>
          <a:lstStyle/>
          <a:p>
            <a:pPr indent="0" marL="0">
              <a:lnSpc>
                <a:spcPct val="125000"/>
              </a:lnSpc>
              <a:buNone/>
            </a:pPr>
            <a:r>
              <a:rPr lang="en-US" sz="1420" b="1" dirty="0">
                <a:solidFill>
                  <a:srgbClr val="1E293B"/>
                </a:solidFill>
                <a:latin typeface="Arial" pitchFamily="34" charset="0"/>
                <a:ea typeface="Arial" pitchFamily="34" charset="-122"/>
                <a:cs typeface="Arial" pitchFamily="34" charset="-120"/>
              </a:rPr>
              <a:t>• Lớp trang tác động: </a:t>
            </a:r>
            <a:pPr indent="0" marL="0">
              <a:lnSpc>
                <a:spcPct val="125000"/>
              </a:lnSpc>
              <a:buNone/>
            </a:pPr>
            <a:r>
              <a:rPr lang="en-US" sz="1420" b="1" dirty="0">
                <a:solidFill>
                  <a:srgbClr val="9F224E"/>
                </a:solidFill>
                <a:latin typeface="Arial" pitchFamily="34" charset="0"/>
                <a:ea typeface="Arial" pitchFamily="34" charset="-122"/>
                <a:cs typeface="Arial" pitchFamily="34" charset="-120"/>
              </a:rPr>
              <a:t>Lớp trang mới /the-thao/du-lieu-bong-da/ket-qua-bong-da (1 URL Hub).
</a:t>
            </a:r>
            <a:pPr indent="0" marL="0">
              <a:lnSpc>
                <a:spcPct val="125000"/>
              </a:lnSpc>
              <a:buNone/>
            </a:pPr>
            <a:r>
              <a:rPr lang="en-US" sz="1420" b="1" dirty="0">
                <a:solidFill>
                  <a:srgbClr val="1E293B"/>
                </a:solidFill>
                <a:latin typeface="Arial" pitchFamily="34" charset="0"/>
                <a:ea typeface="Arial" pitchFamily="34" charset="-122"/>
                <a:cs typeface="Arial" pitchFamily="34" charset="-120"/>
              </a:rPr>
              <a:t>• Lợi thế SERP: </a:t>
            </a:r>
            <a:pPr indent="0" marL="0">
              <a:lnSpc>
                <a:spcPct val="125000"/>
              </a:lnSpc>
              <a:buNone/>
            </a:pPr>
            <a:r>
              <a:rPr lang="en-US" sz="1420" dirty="0">
                <a:solidFill>
                  <a:srgbClr val="334155"/>
                </a:solidFill>
                <a:latin typeface="Arial" pitchFamily="34" charset="0"/>
                <a:ea typeface="Arial" pitchFamily="34" charset="-122"/>
                <a:cs typeface="Arial" pitchFamily="34" charset="-120"/>
              </a:rPr>
              <a:t>Không có Google OneBox cho 98% truy vấn chung. Khai thác thị trường ~10.5M volume khả dụng ("kqbd", "kết quả bóng đá hôm nay / đêm qua / trực tuyến").
</a:t>
            </a:r>
            <a:pPr indent="0" marL="0">
              <a:lnSpc>
                <a:spcPct val="125000"/>
              </a:lnSpc>
              <a:buNone/>
            </a:pPr>
            <a:r>
              <a:rPr lang="en-US" sz="1420" b="1" dirty="0">
                <a:solidFill>
                  <a:srgbClr val="1E293B"/>
                </a:solidFill>
                <a:latin typeface="Arial" pitchFamily="34" charset="0"/>
                <a:ea typeface="Arial" pitchFamily="34" charset="-122"/>
                <a:cs typeface="Arial" pitchFamily="34" charset="-120"/>
              </a:rPr>
              <a:t>• Hiệu quả vận hành: </a:t>
            </a:r>
            <a:pPr indent="0" marL="0">
              <a:lnSpc>
                <a:spcPct val="125000"/>
              </a:lnSpc>
              <a:buNone/>
            </a:pPr>
            <a:r>
              <a:rPr lang="en-US" sz="1420" b="1" dirty="0">
                <a:solidFill>
                  <a:srgbClr val="1E293B"/>
                </a:solidFill>
                <a:latin typeface="Arial" pitchFamily="34" charset="0"/>
                <a:ea typeface="Arial" pitchFamily="34" charset="-122"/>
                <a:cs typeface="Arial" pitchFamily="34" charset="-120"/>
              </a:rPr>
              <a:t>Tự động hóa 100% từ dữ liệu API trận đấu, không tốn công sức vận hành thủ công của biên tập viên.</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9F224E"/>
          </a:solidFill>
          <a:ln w="12700">
            <a:solidFill>
              <a:srgbClr val="9F224E"/>
            </a:solidFill>
            <a:prstDash val="solid"/>
          </a:ln>
        </p:spPr>
      </p:sp>
      <p:sp>
        <p:nvSpPr>
          <p:cNvPr id="3" name="Shape 1"/>
          <p:cNvSpPr/>
          <p:nvPr/>
        </p:nvSpPr>
        <p:spPr>
          <a:xfrm>
            <a:off x="0" y="82296"/>
            <a:ext cx="12191695" cy="914400"/>
          </a:xfrm>
          <a:prstGeom prst="rect">
            <a:avLst/>
          </a:prstGeom>
          <a:solidFill>
            <a:srgbClr val="FFFFFF"/>
          </a:solidFill>
          <a:ln w="10160">
            <a:solidFill>
              <a:srgbClr val="E2E8F0"/>
            </a:solidFill>
            <a:prstDash val="solid"/>
          </a:ln>
        </p:spPr>
      </p:sp>
      <p:sp>
        <p:nvSpPr>
          <p:cNvPr id="4" name="Shape 2"/>
          <p:cNvSpPr/>
          <p:nvPr/>
        </p:nvSpPr>
        <p:spPr>
          <a:xfrm>
            <a:off x="411480" y="201168"/>
            <a:ext cx="2834640" cy="329184"/>
          </a:xfrm>
          <a:prstGeom prst="roundRect">
            <a:avLst>
              <a:gd name="adj" fmla="val 16667"/>
            </a:avLst>
          </a:prstGeom>
          <a:solidFill>
            <a:srgbClr val="9F224E"/>
          </a:solidFill>
          <a:ln w="12700">
            <a:solidFill>
              <a:srgbClr val="9F224E"/>
            </a:solidFill>
            <a:prstDash val="solid"/>
          </a:ln>
        </p:spPr>
      </p:sp>
      <p:sp>
        <p:nvSpPr>
          <p:cNvPr id="5" name="Text 3"/>
          <p:cNvSpPr/>
          <p:nvPr/>
        </p:nvSpPr>
        <p:spPr>
          <a:xfrm>
            <a:off x="411480" y="201168"/>
            <a:ext cx="2834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HÀNH ĐỘNG 3 • KHỐI 1 / 4</a:t>
            </a:r>
            <a:endParaRPr lang="en-US" sz="1150" dirty="0"/>
          </a:p>
        </p:txBody>
      </p:sp>
      <p:sp>
        <p:nvSpPr>
          <p:cNvPr id="6" name="Text 4"/>
          <p:cNvSpPr/>
          <p:nvPr/>
        </p:nvSpPr>
        <p:spPr>
          <a:xfrm>
            <a:off x="3383280" y="146304"/>
            <a:ext cx="8412480" cy="420624"/>
          </a:xfrm>
          <a:prstGeom prst="rect">
            <a:avLst/>
          </a:prstGeom>
          <a:noFill/>
          <a:ln/>
        </p:spPr>
        <p:txBody>
          <a:bodyPr wrap="square" lIns="0" tIns="0" rIns="0" bIns="0" rtlCol="0" anchor="ctr"/>
          <a:lstStyle/>
          <a:p>
            <a:pPr algn="l" indent="0" marL="0">
              <a:buNone/>
            </a:pPr>
            <a:r>
              <a:rPr lang="en-US" sz="2000" b="1" dirty="0">
                <a:solidFill>
                  <a:srgbClr val="1E293B"/>
                </a:solidFill>
                <a:latin typeface="Arial" pitchFamily="34" charset="0"/>
                <a:ea typeface="Arial" pitchFamily="34" charset="-122"/>
                <a:cs typeface="Arial" pitchFamily="34" charset="-120"/>
              </a:rPr>
              <a:t>Hành động 3 (Hợp nhất 2 Trang cùng 1 Giải Đấu): Số liệu Hiện tại</a:t>
            </a:r>
            <a:endParaRPr lang="en-US" sz="2000" dirty="0"/>
          </a:p>
        </p:txBody>
      </p:sp>
      <p:sp>
        <p:nvSpPr>
          <p:cNvPr id="7" name="Text 5"/>
          <p:cNvSpPr/>
          <p:nvPr/>
        </p:nvSpPr>
        <p:spPr>
          <a:xfrm>
            <a:off x="411480" y="594360"/>
            <a:ext cx="11338560" cy="329184"/>
          </a:xfrm>
          <a:prstGeom prst="rect">
            <a:avLst/>
          </a:prstGeom>
          <a:noFill/>
          <a:ln/>
        </p:spPr>
        <p:txBody>
          <a:bodyPr wrap="square" lIns="0" tIns="0" rIns="0" bIns="0" rtlCol="0" anchor="ctr"/>
          <a:lstStyle/>
          <a:p>
            <a:pPr algn="l" indent="0" marL="0">
              <a:buNone/>
            </a:pPr>
            <a:r>
              <a:rPr lang="en-US" sz="1250" i="1" dirty="0">
                <a:solidFill>
                  <a:srgbClr val="64748B"/>
                </a:solidFill>
                <a:latin typeface="Arial" pitchFamily="34" charset="0"/>
                <a:ea typeface="Arial" pitchFamily="34" charset="-122"/>
                <a:cs typeface="Arial" pitchFamily="34" charset="-120"/>
              </a:rPr>
              <a:t>Lớp Giải đấu chiếm 69.62% tổng Search Clicks toàn trang nhưng đang bị thất thoát lớn ở nhóm BXH &amp; Kết quả giải</a:t>
            </a:r>
            <a:endParaRPr lang="en-US" sz="1250" dirty="0"/>
          </a:p>
        </p:txBody>
      </p:sp>
      <p:sp>
        <p:nvSpPr>
          <p:cNvPr id="8" name="Shape 6"/>
          <p:cNvSpPr/>
          <p:nvPr/>
        </p:nvSpPr>
        <p:spPr>
          <a:xfrm>
            <a:off x="0" y="6510528"/>
            <a:ext cx="12191695" cy="347472"/>
          </a:xfrm>
          <a:prstGeom prst="rect">
            <a:avLst/>
          </a:prstGeom>
          <a:solidFill>
            <a:srgbClr val="1E293B"/>
          </a:solidFill>
          <a:ln w="12700">
            <a:solidFill>
              <a:srgbClr val="1E293B"/>
            </a:solidFill>
            <a:prstDash val="solid"/>
          </a:ln>
        </p:spPr>
      </p:sp>
      <p:sp>
        <p:nvSpPr>
          <p:cNvPr id="9" name="Text 7"/>
          <p:cNvSpPr/>
          <p:nvPr/>
        </p:nvSpPr>
        <p:spPr>
          <a:xfrm>
            <a:off x="411480" y="6510528"/>
            <a:ext cx="8686800" cy="347472"/>
          </a:xfrm>
          <a:prstGeom prst="rect">
            <a:avLst/>
          </a:prstGeom>
          <a:noFill/>
          <a:ln/>
        </p:spPr>
        <p:txBody>
          <a:bodyPr wrap="square" lIns="0" tIns="0" rIns="0" bIns="0" rtlCol="0" anchor="ctr"/>
          <a:lstStyle/>
          <a:p>
            <a:pPr algn="l" indent="0" marL="0">
              <a:buNone/>
            </a:pPr>
            <a:r>
              <a:rPr lang="en-US" sz="1000" dirty="0">
                <a:solidFill>
                  <a:srgbClr val="CBD5E1"/>
                </a:solidFill>
                <a:latin typeface="Arial" pitchFamily="34" charset="0"/>
                <a:ea typeface="Arial" pitchFamily="34" charset="-122"/>
                <a:cs typeface="Arial" pitchFamily="34" charset="-120"/>
              </a:rPr>
              <a:t>VnExpress Thể Thao  |  Báo cáo Phân tích Vấn đề &amp; Giải pháp Cải tiến Trang Lịch Thi Đấu Bóng Đá</a:t>
            </a:r>
            <a:endParaRPr lang="en-US" sz="1000" dirty="0"/>
          </a:p>
        </p:txBody>
      </p:sp>
      <p:sp>
        <p:nvSpPr>
          <p:cNvPr id="10" name="Text 8"/>
          <p:cNvSpPr/>
          <p:nvPr/>
        </p:nvSpPr>
        <p:spPr>
          <a:xfrm>
            <a:off x="10058400" y="6510528"/>
            <a:ext cx="1719072"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Trang 14 / 19</a:t>
            </a:r>
            <a:endParaRPr lang="en-US" sz="1000" dirty="0"/>
          </a:p>
        </p:txBody>
      </p:sp>
      <p:sp>
        <p:nvSpPr>
          <p:cNvPr id="11" name="Shape 9"/>
          <p:cNvSpPr/>
          <p:nvPr/>
        </p:nvSpPr>
        <p:spPr>
          <a:xfrm>
            <a:off x="411480" y="1143000"/>
            <a:ext cx="11365992" cy="5193792"/>
          </a:xfrm>
          <a:prstGeom prst="roundRect">
            <a:avLst>
              <a:gd name="adj" fmla="val 1408"/>
            </a:avLst>
          </a:prstGeom>
          <a:solidFill>
            <a:srgbClr val="FFFFFF"/>
          </a:solidFill>
          <a:ln w="15240">
            <a:solidFill>
              <a:srgbClr val="CBD5E1"/>
            </a:solidFill>
            <a:prstDash val="solid"/>
          </a:ln>
        </p:spPr>
      </p:sp>
      <p:sp>
        <p:nvSpPr>
          <p:cNvPr id="12" name="Shape 10"/>
          <p:cNvSpPr/>
          <p:nvPr/>
        </p:nvSpPr>
        <p:spPr>
          <a:xfrm>
            <a:off x="411480" y="1143000"/>
            <a:ext cx="11365992" cy="475488"/>
          </a:xfrm>
          <a:prstGeom prst="roundRect">
            <a:avLst>
              <a:gd name="adj" fmla="val 15385"/>
            </a:avLst>
          </a:prstGeom>
          <a:solidFill>
            <a:srgbClr val="1E293B"/>
          </a:solidFill>
          <a:ln w="12700">
            <a:solidFill>
              <a:srgbClr val="1E293B"/>
            </a:solidFill>
            <a:prstDash val="solid"/>
          </a:ln>
        </p:spPr>
      </p:sp>
      <p:sp>
        <p:nvSpPr>
          <p:cNvPr id="13" name="Text 11"/>
          <p:cNvSpPr/>
          <p:nvPr/>
        </p:nvSpPr>
        <p:spPr>
          <a:xfrm>
            <a:off x="621792" y="1143000"/>
            <a:ext cx="10972800" cy="475488"/>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1. SỐ LIỆU HIỆN TẠI CỦA LỚP GIẢI ĐẤU &amp; NHỮNG THIỆT HẠI TRỰC TIẾP ĐANG GẶP PHẢI</a:t>
            </a:r>
            <a:endParaRPr lang="en-US" sz="1450" dirty="0"/>
          </a:p>
        </p:txBody>
      </p:sp>
      <p:sp>
        <p:nvSpPr>
          <p:cNvPr id="14" name="Shape 12"/>
          <p:cNvSpPr/>
          <p:nvPr/>
        </p:nvSpPr>
        <p:spPr>
          <a:xfrm>
            <a:off x="640080" y="1783080"/>
            <a:ext cx="2615184" cy="1572768"/>
          </a:xfrm>
          <a:prstGeom prst="roundRect">
            <a:avLst>
              <a:gd name="adj" fmla="val 4070"/>
            </a:avLst>
          </a:prstGeom>
          <a:solidFill>
            <a:srgbClr val="F1F5F9"/>
          </a:solidFill>
          <a:ln w="15240">
            <a:solidFill>
              <a:srgbClr val="CBD5E1"/>
            </a:solidFill>
            <a:prstDash val="solid"/>
          </a:ln>
        </p:spPr>
      </p:sp>
      <p:sp>
        <p:nvSpPr>
          <p:cNvPr id="15" name="Text 13"/>
          <p:cNvSpPr/>
          <p:nvPr/>
        </p:nvSpPr>
        <p:spPr>
          <a:xfrm>
            <a:off x="731520" y="1874520"/>
            <a:ext cx="2432304" cy="256032"/>
          </a:xfrm>
          <a:prstGeom prst="rect">
            <a:avLst/>
          </a:prstGeom>
          <a:noFill/>
          <a:ln/>
        </p:spPr>
        <p:txBody>
          <a:bodyPr wrap="square" lIns="0" tIns="0" rIns="0" bIns="0" rtlCol="0" anchor="ctr"/>
          <a:lstStyle/>
          <a:p>
            <a:pPr algn="ctr" indent="0" marL="0">
              <a:buNone/>
            </a:pPr>
            <a:r>
              <a:rPr lang="en-US" sz="1020" b="1" dirty="0">
                <a:solidFill>
                  <a:srgbClr val="64748B"/>
                </a:solidFill>
                <a:latin typeface="Arial" pitchFamily="34" charset="0"/>
                <a:ea typeface="Arial" pitchFamily="34" charset="-122"/>
                <a:cs typeface="Arial" pitchFamily="34" charset="-120"/>
              </a:rPr>
              <a:t>QUY MÔ LỚP GIẢI ĐẤU</a:t>
            </a:r>
            <a:endParaRPr lang="en-US" sz="1020" dirty="0"/>
          </a:p>
        </p:txBody>
      </p:sp>
      <p:sp>
        <p:nvSpPr>
          <p:cNvPr id="16" name="Text 14"/>
          <p:cNvSpPr/>
          <p:nvPr/>
        </p:nvSpPr>
        <p:spPr>
          <a:xfrm>
            <a:off x="731520" y="2176272"/>
            <a:ext cx="2432304" cy="457200"/>
          </a:xfrm>
          <a:prstGeom prst="rect">
            <a:avLst/>
          </a:prstGeom>
          <a:noFill/>
          <a:ln/>
        </p:spPr>
        <p:txBody>
          <a:bodyPr wrap="square" lIns="0" tIns="0" rIns="0" bIns="0" rtlCol="0" anchor="ctr"/>
          <a:lstStyle/>
          <a:p>
            <a:pPr algn="ctr" indent="0" marL="0">
              <a:buNone/>
            </a:pPr>
            <a:r>
              <a:rPr lang="en-US" sz="2100" b="1" dirty="0">
                <a:solidFill>
                  <a:srgbClr val="1E293B"/>
                </a:solidFill>
                <a:latin typeface="Arial" pitchFamily="34" charset="0"/>
                <a:ea typeface="Arial" pitchFamily="34" charset="-122"/>
                <a:cs typeface="Arial" pitchFamily="34" charset="-120"/>
              </a:rPr>
              <a:t>116 URLs</a:t>
            </a:r>
            <a:endParaRPr lang="en-US" sz="2100" dirty="0"/>
          </a:p>
        </p:txBody>
      </p:sp>
      <p:sp>
        <p:nvSpPr>
          <p:cNvPr id="17" name="Text 15"/>
          <p:cNvSpPr/>
          <p:nvPr/>
        </p:nvSpPr>
        <p:spPr>
          <a:xfrm>
            <a:off x="731520" y="2697480"/>
            <a:ext cx="2432304" cy="548640"/>
          </a:xfrm>
          <a:prstGeom prst="rect">
            <a:avLst/>
          </a:prstGeom>
          <a:noFill/>
          <a:ln/>
        </p:spPr>
        <p:txBody>
          <a:bodyPr wrap="square" lIns="0" tIns="0" rIns="0" bIns="0" rtlCol="0" anchor="ctr"/>
          <a:lstStyle/>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Thuộc 57 cụm giải đấu</a:t>
            </a:r>
            <a:endParaRPr lang="en-US" sz="1100" dirty="0"/>
          </a:p>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trên hệ thống dữ liệu</a:t>
            </a:r>
            <a:endParaRPr lang="en-US" sz="1100" dirty="0"/>
          </a:p>
        </p:txBody>
      </p:sp>
      <p:sp>
        <p:nvSpPr>
          <p:cNvPr id="18" name="Shape 16"/>
          <p:cNvSpPr/>
          <p:nvPr/>
        </p:nvSpPr>
        <p:spPr>
          <a:xfrm>
            <a:off x="3401568" y="1783080"/>
            <a:ext cx="2615184" cy="1572768"/>
          </a:xfrm>
          <a:prstGeom prst="roundRect">
            <a:avLst>
              <a:gd name="adj" fmla="val 4070"/>
            </a:avLst>
          </a:prstGeom>
          <a:solidFill>
            <a:srgbClr val="FDF2F6"/>
          </a:solidFill>
          <a:ln w="15240">
            <a:solidFill>
              <a:srgbClr val="E2A8BC"/>
            </a:solidFill>
            <a:prstDash val="solid"/>
          </a:ln>
        </p:spPr>
      </p:sp>
      <p:sp>
        <p:nvSpPr>
          <p:cNvPr id="19" name="Text 17"/>
          <p:cNvSpPr/>
          <p:nvPr/>
        </p:nvSpPr>
        <p:spPr>
          <a:xfrm>
            <a:off x="3493008" y="1874520"/>
            <a:ext cx="2432304" cy="256032"/>
          </a:xfrm>
          <a:prstGeom prst="rect">
            <a:avLst/>
          </a:prstGeom>
          <a:noFill/>
          <a:ln/>
        </p:spPr>
        <p:txBody>
          <a:bodyPr wrap="square" lIns="0" tIns="0" rIns="0" bIns="0" rtlCol="0" anchor="ctr"/>
          <a:lstStyle/>
          <a:p>
            <a:pPr algn="ctr" indent="0" marL="0">
              <a:buNone/>
            </a:pPr>
            <a:r>
              <a:rPr lang="en-US" sz="1020" b="1" dirty="0">
                <a:solidFill>
                  <a:srgbClr val="64748B"/>
                </a:solidFill>
                <a:latin typeface="Arial" pitchFamily="34" charset="0"/>
                <a:ea typeface="Arial" pitchFamily="34" charset="-122"/>
                <a:cs typeface="Arial" pitchFamily="34" charset="-120"/>
              </a:rPr>
              <a:t>SEARCH CLICKS (15 THÁNG)</a:t>
            </a:r>
            <a:endParaRPr lang="en-US" sz="1020" dirty="0"/>
          </a:p>
        </p:txBody>
      </p:sp>
      <p:sp>
        <p:nvSpPr>
          <p:cNvPr id="20" name="Text 18"/>
          <p:cNvSpPr/>
          <p:nvPr/>
        </p:nvSpPr>
        <p:spPr>
          <a:xfrm>
            <a:off x="3493008" y="2176272"/>
            <a:ext cx="2432304" cy="457200"/>
          </a:xfrm>
          <a:prstGeom prst="rect">
            <a:avLst/>
          </a:prstGeom>
          <a:noFill/>
          <a:ln/>
        </p:spPr>
        <p:txBody>
          <a:bodyPr wrap="square" lIns="0" tIns="0" rIns="0" bIns="0" rtlCol="0" anchor="ctr"/>
          <a:lstStyle/>
          <a:p>
            <a:pPr algn="ctr" indent="0" marL="0">
              <a:buNone/>
            </a:pPr>
            <a:r>
              <a:rPr lang="en-US" sz="2100" b="1" dirty="0">
                <a:solidFill>
                  <a:srgbClr val="9F224E"/>
                </a:solidFill>
                <a:latin typeface="Arial" pitchFamily="34" charset="0"/>
                <a:ea typeface="Arial" pitchFamily="34" charset="-122"/>
                <a:cs typeface="Arial" pitchFamily="34" charset="-120"/>
              </a:rPr>
              <a:t>908,193 Clicks</a:t>
            </a:r>
            <a:endParaRPr lang="en-US" sz="2100" dirty="0"/>
          </a:p>
        </p:txBody>
      </p:sp>
      <p:sp>
        <p:nvSpPr>
          <p:cNvPr id="21" name="Text 19"/>
          <p:cNvSpPr/>
          <p:nvPr/>
        </p:nvSpPr>
        <p:spPr>
          <a:xfrm>
            <a:off x="3493008" y="2697480"/>
            <a:ext cx="2432304" cy="548640"/>
          </a:xfrm>
          <a:prstGeom prst="rect">
            <a:avLst/>
          </a:prstGeom>
          <a:noFill/>
          <a:ln/>
        </p:spPr>
        <p:txBody>
          <a:bodyPr wrap="square" lIns="0" tIns="0" rIns="0" bIns="0" rtlCol="0" anchor="ctr"/>
          <a:lstStyle/>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Trung bình ~60,500 clicks/tháng</a:t>
            </a:r>
            <a:endParaRPr lang="en-US" sz="1100" dirty="0"/>
          </a:p>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(Chiếm 69.62% toàn trang)</a:t>
            </a:r>
            <a:endParaRPr lang="en-US" sz="1100" dirty="0"/>
          </a:p>
        </p:txBody>
      </p:sp>
      <p:sp>
        <p:nvSpPr>
          <p:cNvPr id="22" name="Shape 20"/>
          <p:cNvSpPr/>
          <p:nvPr/>
        </p:nvSpPr>
        <p:spPr>
          <a:xfrm>
            <a:off x="6163056" y="1783080"/>
            <a:ext cx="2615184" cy="1572768"/>
          </a:xfrm>
          <a:prstGeom prst="roundRect">
            <a:avLst>
              <a:gd name="adj" fmla="val 4070"/>
            </a:avLst>
          </a:prstGeom>
          <a:solidFill>
            <a:srgbClr val="F1F5F9"/>
          </a:solidFill>
          <a:ln w="15240">
            <a:solidFill>
              <a:srgbClr val="CBD5E1"/>
            </a:solidFill>
            <a:prstDash val="solid"/>
          </a:ln>
        </p:spPr>
      </p:sp>
      <p:sp>
        <p:nvSpPr>
          <p:cNvPr id="23" name="Text 21"/>
          <p:cNvSpPr/>
          <p:nvPr/>
        </p:nvSpPr>
        <p:spPr>
          <a:xfrm>
            <a:off x="6254496" y="1874520"/>
            <a:ext cx="2432304" cy="256032"/>
          </a:xfrm>
          <a:prstGeom prst="rect">
            <a:avLst/>
          </a:prstGeom>
          <a:noFill/>
          <a:ln/>
        </p:spPr>
        <p:txBody>
          <a:bodyPr wrap="square" lIns="0" tIns="0" rIns="0" bIns="0" rtlCol="0" anchor="ctr"/>
          <a:lstStyle/>
          <a:p>
            <a:pPr algn="ctr" indent="0" marL="0">
              <a:buNone/>
            </a:pPr>
            <a:r>
              <a:rPr lang="en-US" sz="1020" b="1" dirty="0">
                <a:solidFill>
                  <a:srgbClr val="64748B"/>
                </a:solidFill>
                <a:latin typeface="Arial" pitchFamily="34" charset="0"/>
                <a:ea typeface="Arial" pitchFamily="34" charset="-122"/>
                <a:cs typeface="Arial" pitchFamily="34" charset="-120"/>
              </a:rPr>
              <a:t>PAGEVIEWS (21 THÁNG)</a:t>
            </a:r>
            <a:endParaRPr lang="en-US" sz="1020" dirty="0"/>
          </a:p>
        </p:txBody>
      </p:sp>
      <p:sp>
        <p:nvSpPr>
          <p:cNvPr id="24" name="Text 22"/>
          <p:cNvSpPr/>
          <p:nvPr/>
        </p:nvSpPr>
        <p:spPr>
          <a:xfrm>
            <a:off x="6254496" y="2176272"/>
            <a:ext cx="2432304" cy="457200"/>
          </a:xfrm>
          <a:prstGeom prst="rect">
            <a:avLst/>
          </a:prstGeom>
          <a:noFill/>
          <a:ln/>
        </p:spPr>
        <p:txBody>
          <a:bodyPr wrap="square" lIns="0" tIns="0" rIns="0" bIns="0" rtlCol="0" anchor="ctr"/>
          <a:lstStyle/>
          <a:p>
            <a:pPr algn="ctr" indent="0" marL="0">
              <a:buNone/>
            </a:pPr>
            <a:r>
              <a:rPr lang="en-US" sz="2100" b="1" dirty="0">
                <a:solidFill>
                  <a:srgbClr val="1E293B"/>
                </a:solidFill>
                <a:latin typeface="Arial" pitchFamily="34" charset="0"/>
                <a:ea typeface="Arial" pitchFamily="34" charset="-122"/>
                <a:cs typeface="Arial" pitchFamily="34" charset="-120"/>
              </a:rPr>
              <a:t>5,035,986 PV</a:t>
            </a:r>
            <a:endParaRPr lang="en-US" sz="2100" dirty="0"/>
          </a:p>
        </p:txBody>
      </p:sp>
      <p:sp>
        <p:nvSpPr>
          <p:cNvPr id="25" name="Text 23"/>
          <p:cNvSpPr/>
          <p:nvPr/>
        </p:nvSpPr>
        <p:spPr>
          <a:xfrm>
            <a:off x="6254496" y="2697480"/>
            <a:ext cx="2432304" cy="548640"/>
          </a:xfrm>
          <a:prstGeom prst="rect">
            <a:avLst/>
          </a:prstGeom>
          <a:noFill/>
          <a:ln/>
        </p:spPr>
        <p:txBody>
          <a:bodyPr wrap="square" lIns="0" tIns="0" rIns="0" bIns="0" rtlCol="0" anchor="ctr"/>
          <a:lstStyle/>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Chiếm 56.98% tổng Pageviews</a:t>
            </a:r>
            <a:endParaRPr lang="en-US" sz="1100" dirty="0"/>
          </a:p>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toàn hệ thống Dữ liệu bóng đá</a:t>
            </a:r>
            <a:endParaRPr lang="en-US" sz="1100" dirty="0"/>
          </a:p>
        </p:txBody>
      </p:sp>
      <p:sp>
        <p:nvSpPr>
          <p:cNvPr id="26" name="Shape 24"/>
          <p:cNvSpPr/>
          <p:nvPr/>
        </p:nvSpPr>
        <p:spPr>
          <a:xfrm>
            <a:off x="8924544" y="1783080"/>
            <a:ext cx="2615184" cy="1572768"/>
          </a:xfrm>
          <a:prstGeom prst="roundRect">
            <a:avLst>
              <a:gd name="adj" fmla="val 4070"/>
            </a:avLst>
          </a:prstGeom>
          <a:solidFill>
            <a:srgbClr val="FDF2F6"/>
          </a:solidFill>
          <a:ln w="15240">
            <a:solidFill>
              <a:srgbClr val="E2A8BC"/>
            </a:solidFill>
            <a:prstDash val="solid"/>
          </a:ln>
        </p:spPr>
      </p:sp>
      <p:sp>
        <p:nvSpPr>
          <p:cNvPr id="27" name="Text 25"/>
          <p:cNvSpPr/>
          <p:nvPr/>
        </p:nvSpPr>
        <p:spPr>
          <a:xfrm>
            <a:off x="9015984" y="1874520"/>
            <a:ext cx="2432304" cy="256032"/>
          </a:xfrm>
          <a:prstGeom prst="rect">
            <a:avLst/>
          </a:prstGeom>
          <a:noFill/>
          <a:ln/>
        </p:spPr>
        <p:txBody>
          <a:bodyPr wrap="square" lIns="0" tIns="0" rIns="0" bIns="0" rtlCol="0" anchor="ctr"/>
          <a:lstStyle/>
          <a:p>
            <a:pPr algn="ctr" indent="0" marL="0">
              <a:buNone/>
            </a:pPr>
            <a:r>
              <a:rPr lang="en-US" sz="1020" b="1" dirty="0">
                <a:solidFill>
                  <a:srgbClr val="64748B"/>
                </a:solidFill>
                <a:latin typeface="Arial" pitchFamily="34" charset="0"/>
                <a:ea typeface="Arial" pitchFamily="34" charset="-122"/>
                <a:cs typeface="Arial" pitchFamily="34" charset="-120"/>
              </a:rPr>
              <a:t>THẤT THOÁT CLICKS HIỆN TẠI</a:t>
            </a:r>
            <a:endParaRPr lang="en-US" sz="1020" dirty="0"/>
          </a:p>
        </p:txBody>
      </p:sp>
      <p:sp>
        <p:nvSpPr>
          <p:cNvPr id="28" name="Text 26"/>
          <p:cNvSpPr/>
          <p:nvPr/>
        </p:nvSpPr>
        <p:spPr>
          <a:xfrm>
            <a:off x="9015984" y="2176272"/>
            <a:ext cx="2432304" cy="457200"/>
          </a:xfrm>
          <a:prstGeom prst="rect">
            <a:avLst/>
          </a:prstGeom>
          <a:noFill/>
          <a:ln/>
        </p:spPr>
        <p:txBody>
          <a:bodyPr wrap="square" lIns="0" tIns="0" rIns="0" bIns="0" rtlCol="0" anchor="ctr"/>
          <a:lstStyle/>
          <a:p>
            <a:pPr algn="ctr" indent="0" marL="0">
              <a:buNone/>
            </a:pPr>
            <a:r>
              <a:rPr lang="en-US" sz="2100" b="1" dirty="0">
                <a:solidFill>
                  <a:srgbClr val="9F224E"/>
                </a:solidFill>
                <a:latin typeface="Arial" pitchFamily="34" charset="0"/>
                <a:ea typeface="Arial" pitchFamily="34" charset="-122"/>
                <a:cs typeface="Arial" pitchFamily="34" charset="-120"/>
              </a:rPr>
              <a:t>25% – 40%</a:t>
            </a:r>
            <a:endParaRPr lang="en-US" sz="2100" dirty="0"/>
          </a:p>
        </p:txBody>
      </p:sp>
      <p:sp>
        <p:nvSpPr>
          <p:cNvPr id="29" name="Text 27"/>
          <p:cNvSpPr/>
          <p:nvPr/>
        </p:nvSpPr>
        <p:spPr>
          <a:xfrm>
            <a:off x="9015984" y="2697480"/>
            <a:ext cx="2432304" cy="548640"/>
          </a:xfrm>
          <a:prstGeom prst="rect">
            <a:avLst/>
          </a:prstGeom>
          <a:noFill/>
          <a:ln/>
        </p:spPr>
        <p:txBody>
          <a:bodyPr wrap="square" lIns="0" tIns="0" rIns="0" bIns="0" rtlCol="0" anchor="ctr"/>
          <a:lstStyle/>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Ở nhóm từ khóa volume lớn</a:t>
            </a:r>
            <a:endParaRPr lang="en-US" sz="1100" dirty="0"/>
          </a:p>
          <a:p>
            <a:pPr algn="ctr" indent="0" marL="0">
              <a:lnSpc>
                <a:spcPct val="115000"/>
              </a:lnSpc>
              <a:buNone/>
            </a:pPr>
            <a:r>
              <a:rPr lang="en-US" sz="1100" b="1" dirty="0">
                <a:solidFill>
                  <a:srgbClr val="334155"/>
                </a:solidFill>
                <a:latin typeface="Arial" pitchFamily="34" charset="0"/>
                <a:ea typeface="Arial" pitchFamily="34" charset="-122"/>
                <a:cs typeface="Arial" pitchFamily="34" charset="-120"/>
              </a:rPr>
              <a:t>"BXH [Giải]" &amp; "Kết quả [Giải]"</a:t>
            </a:r>
            <a:endParaRPr lang="en-US" sz="1100" dirty="0"/>
          </a:p>
        </p:txBody>
      </p:sp>
      <p:sp>
        <p:nvSpPr>
          <p:cNvPr id="30" name="Shape 28"/>
          <p:cNvSpPr/>
          <p:nvPr/>
        </p:nvSpPr>
        <p:spPr>
          <a:xfrm>
            <a:off x="640080" y="3520440"/>
            <a:ext cx="10908792" cy="2606040"/>
          </a:xfrm>
          <a:prstGeom prst="roundRect">
            <a:avLst>
              <a:gd name="adj" fmla="val 2456"/>
            </a:avLst>
          </a:prstGeom>
          <a:solidFill>
            <a:srgbClr val="F1F5F9"/>
          </a:solidFill>
          <a:ln w="15240">
            <a:solidFill>
              <a:srgbClr val="CBD5E1"/>
            </a:solidFill>
            <a:prstDash val="solid"/>
          </a:ln>
        </p:spPr>
      </p:sp>
      <p:sp>
        <p:nvSpPr>
          <p:cNvPr id="31" name="Text 29"/>
          <p:cNvSpPr/>
          <p:nvPr/>
        </p:nvSpPr>
        <p:spPr>
          <a:xfrm>
            <a:off x="822960" y="3621024"/>
            <a:ext cx="10515600" cy="320040"/>
          </a:xfrm>
          <a:prstGeom prst="rect">
            <a:avLst/>
          </a:prstGeom>
          <a:noFill/>
          <a:ln/>
        </p:spPr>
        <p:txBody>
          <a:bodyPr wrap="square" lIns="0" tIns="0" rIns="0" bIns="0" rtlCol="0" anchor="ctr"/>
          <a:lstStyle/>
          <a:p>
            <a:pPr indent="0" marL="0">
              <a:buNone/>
            </a:pPr>
            <a:r>
              <a:rPr lang="en-US" sz="1400" b="1" dirty="0">
                <a:solidFill>
                  <a:srgbClr val="9F224E"/>
                </a:solidFill>
                <a:latin typeface="Arial" pitchFamily="34" charset="0"/>
                <a:ea typeface="Arial" pitchFamily="34" charset="-122"/>
                <a:cs typeface="Arial" pitchFamily="34" charset="-120"/>
              </a:rPr>
              <a:t>2 THIỆT HẠI TRỰC TIẾP ĐANG GẶP PHẢI DO TÁCH RỜI TRANG TIN TỨC GIẢI &amp; TRANG DỮ LIỆU GIẢI:</a:t>
            </a:r>
            <a:endParaRPr lang="en-US" sz="1400" dirty="0"/>
          </a:p>
        </p:txBody>
      </p:sp>
      <p:sp>
        <p:nvSpPr>
          <p:cNvPr id="32" name="Text 30"/>
          <p:cNvSpPr/>
          <p:nvPr/>
        </p:nvSpPr>
        <p:spPr>
          <a:xfrm>
            <a:off x="822960" y="4005072"/>
            <a:ext cx="10515600" cy="2011680"/>
          </a:xfrm>
          <a:prstGeom prst="rect">
            <a:avLst/>
          </a:prstGeom>
          <a:noFill/>
          <a:ln/>
        </p:spPr>
        <p:txBody>
          <a:bodyPr wrap="square" lIns="0" tIns="0" rIns="0" bIns="0" rtlCol="0" anchor="t"/>
          <a:lstStyle/>
          <a:p>
            <a:pPr indent="0" marL="0">
              <a:lnSpc>
                <a:spcPct val="118000"/>
              </a:lnSpc>
              <a:buNone/>
            </a:pPr>
            <a:r>
              <a:rPr lang="en-US" sz="1300" b="1" dirty="0">
                <a:solidFill>
                  <a:srgbClr val="9F224E"/>
                </a:solidFill>
                <a:latin typeface="Arial" pitchFamily="34" charset="0"/>
                <a:ea typeface="Arial" pitchFamily="34" charset="-122"/>
                <a:cs typeface="Arial" pitchFamily="34" charset="-120"/>
              </a:rPr>
              <a:t>1. Thất thoát từ 25% – 40% lượng Clicks ở các từ khóa "Bảng xếp hạng [Giải]" và "Kết quả [Giải]":
</a:t>
            </a:r>
            <a:pPr indent="0" marL="0">
              <a:lnSpc>
                <a:spcPct val="118000"/>
              </a:lnSpc>
              <a:buNone/>
            </a:pPr>
            <a:r>
              <a:rPr lang="en-US" sz="1300" dirty="0">
                <a:solidFill>
                  <a:srgbClr val="334155"/>
                </a:solidFill>
                <a:latin typeface="Arial" pitchFamily="34" charset="0"/>
                <a:ea typeface="Arial" pitchFamily="34" charset="-122"/>
                <a:cs typeface="Arial" pitchFamily="34" charset="-120"/>
              </a:rPr>
              <a:t>   Dù Lớp Giải đấu đang đạt 908,193 Clicks, nhưng con số này chủ yếu đến từ nhóm "Lịch thi đấu [Giải]". Ở nhóm từ khóa có volume cực lớn khác là </a:t>
            </a:r>
            <a:pPr indent="0" marL="0">
              <a:lnSpc>
                <a:spcPct val="118000"/>
              </a:lnSpc>
              <a:buNone/>
            </a:pPr>
            <a:r>
              <a:rPr lang="en-US" sz="1300" b="1" dirty="0">
                <a:solidFill>
                  <a:srgbClr val="1E293B"/>
                </a:solidFill>
                <a:latin typeface="Arial" pitchFamily="34" charset="0"/>
                <a:ea typeface="Arial" pitchFamily="34" charset="-122"/>
                <a:cs typeface="Arial" pitchFamily="34" charset="-120"/>
              </a:rPr>
              <a:t>"Bảng xếp hạng Ngoại hạng Anh / La Liga / V-League"</a:t>
            </a:r>
            <a:pPr indent="0" marL="0">
              <a:lnSpc>
                <a:spcPct val="118000"/>
              </a:lnSpc>
              <a:buNone/>
            </a:pPr>
            <a:r>
              <a:rPr lang="en-US" sz="1300" dirty="0">
                <a:solidFill>
                  <a:srgbClr val="334155"/>
                </a:solidFill>
                <a:latin typeface="Arial" pitchFamily="34" charset="0"/>
                <a:ea typeface="Arial" pitchFamily="34" charset="-122"/>
                <a:cs typeface="Arial" pitchFamily="34" charset="-120"/>
              </a:rPr>
              <a:t> và </a:t>
            </a:r>
            <a:pPr indent="0" marL="0">
              <a:lnSpc>
                <a:spcPct val="118000"/>
              </a:lnSpc>
              <a:buNone/>
            </a:pPr>
            <a:r>
              <a:rPr lang="en-US" sz="1300" b="1" dirty="0">
                <a:solidFill>
                  <a:srgbClr val="1E293B"/>
                </a:solidFill>
                <a:latin typeface="Arial" pitchFamily="34" charset="0"/>
                <a:ea typeface="Arial" pitchFamily="34" charset="-122"/>
                <a:cs typeface="Arial" pitchFamily="34" charset="-120"/>
              </a:rPr>
              <a:t>"Kết quả Cúp C1 / La Liga"</a:t>
            </a:r>
            <a:pPr indent="0" marL="0">
              <a:lnSpc>
                <a:spcPct val="118000"/>
              </a:lnSpc>
              <a:buNone/>
            </a:pPr>
            <a:r>
              <a:rPr lang="en-US" sz="1300" dirty="0">
                <a:solidFill>
                  <a:srgbClr val="334155"/>
                </a:solidFill>
                <a:latin typeface="Arial" pitchFamily="34" charset="0"/>
                <a:ea typeface="Arial" pitchFamily="34" charset="-122"/>
                <a:cs typeface="Arial" pitchFamily="34" charset="-120"/>
              </a:rPr>
              <a:t>, việc 2 trang không hợp lực khiến các trang con dữ liệu chưa nhận đủ PageRank từ trang chuyên mục /bong-da/la-liga để độc chiếm Top 1 tuyệt đối ngay dưới Google OneBox.
</a:t>
            </a:r>
            <a:pPr indent="0" marL="0">
              <a:lnSpc>
                <a:spcPct val="118000"/>
              </a:lnSpc>
              <a:buNone/>
            </a:pPr>
            <a:r>
              <a:rPr lang="en-US" sz="1300" b="1" dirty="0">
                <a:solidFill>
                  <a:srgbClr val="9F224E"/>
                </a:solidFill>
                <a:latin typeface="Arial" pitchFamily="34" charset="0"/>
                <a:ea typeface="Arial" pitchFamily="34" charset="-122"/>
                <a:cs typeface="Arial" pitchFamily="34" charset="-120"/>
              </a:rPr>
              <a:t>2. Lãng phí Pageviews chéo (Cross-Pageviews Loss) từ 150,000 – 200,000 PV bài viết/tháng:
</a:t>
            </a:r>
            <a:pPr indent="0" marL="0">
              <a:lnSpc>
                <a:spcPct val="118000"/>
              </a:lnSpc>
              <a:buNone/>
            </a:pPr>
            <a:r>
              <a:rPr lang="en-US" sz="1300" dirty="0">
                <a:solidFill>
                  <a:srgbClr val="334155"/>
                </a:solidFill>
                <a:latin typeface="Arial" pitchFamily="34" charset="0"/>
                <a:ea typeface="Arial" pitchFamily="34" charset="-122"/>
                <a:cs typeface="Arial" pitchFamily="34" charset="-120"/>
              </a:rPr>
              <a:t>   Với 908,193 lượt truy cập vào Lớp Giải đấu, nếu chỉ cần chuyển đổi được </a:t>
            </a:r>
            <a:pPr indent="0" marL="0">
              <a:lnSpc>
                <a:spcPct val="118000"/>
              </a:lnSpc>
              <a:buNone/>
            </a:pPr>
            <a:r>
              <a:rPr lang="en-US" sz="1300" b="1" dirty="0">
                <a:solidFill>
                  <a:srgbClr val="1E293B"/>
                </a:solidFill>
                <a:latin typeface="Arial" pitchFamily="34" charset="0"/>
                <a:ea typeface="Arial" pitchFamily="34" charset="-122"/>
                <a:cs typeface="Arial" pitchFamily="34" charset="-120"/>
              </a:rPr>
              <a:t>15% – 20% số người dùng này</a:t>
            </a:r>
            <a:pPr indent="0" marL="0">
              <a:lnSpc>
                <a:spcPct val="118000"/>
              </a:lnSpc>
              <a:buNone/>
            </a:pPr>
            <a:r>
              <a:rPr lang="en-US" sz="1300" dirty="0">
                <a:solidFill>
                  <a:srgbClr val="334155"/>
                </a:solidFill>
                <a:latin typeface="Arial" pitchFamily="34" charset="0"/>
                <a:ea typeface="Arial" pitchFamily="34" charset="-122"/>
                <a:cs typeface="Arial" pitchFamily="34" charset="-120"/>
              </a:rPr>
              <a:t> bấm đọc tiếp các bài báo thuộc /bong-da/la-liga hoặc /the-thao/v-league, VnExpress đã có thêm </a:t>
            </a:r>
            <a:pPr indent="0" marL="0">
              <a:lnSpc>
                <a:spcPct val="118000"/>
              </a:lnSpc>
              <a:buNone/>
            </a:pPr>
            <a:r>
              <a:rPr lang="en-US" sz="1300" b="1" dirty="0">
                <a:solidFill>
                  <a:srgbClr val="9F224E"/>
                </a:solidFill>
                <a:latin typeface="Arial" pitchFamily="34" charset="0"/>
                <a:ea typeface="Arial" pitchFamily="34" charset="-122"/>
                <a:cs typeface="Arial" pitchFamily="34" charset="-120"/>
              </a:rPr>
              <a:t>150,000 – 200,000 Pageviews bài viết/tháng hoàn toàn miễn phí</a:t>
            </a:r>
            <a:pPr indent="0" marL="0">
              <a:lnSpc>
                <a:spcPct val="118000"/>
              </a:lnSpc>
              <a:buNone/>
            </a:pPr>
            <a:r>
              <a:rPr lang="en-US" sz="1300" dirty="0">
                <a:solidFill>
                  <a:srgbClr val="334155"/>
                </a:solidFill>
                <a:latin typeface="Arial" pitchFamily="34" charset="0"/>
                <a:ea typeface="Arial" pitchFamily="34" charset="-122"/>
                <a:cs typeface="Arial" pitchFamily="34" charset="-120"/>
              </a:rPr>
              <a:t>. Hiện tại luồng traffic khổng lồ này đang bị "nhốt" trong khu vực dữ liệu rồi thoát ra ngoài.</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9F224E"/>
          </a:solidFill>
          <a:ln w="12700">
            <a:solidFill>
              <a:srgbClr val="9F224E"/>
            </a:solidFill>
            <a:prstDash val="solid"/>
          </a:ln>
        </p:spPr>
      </p:sp>
      <p:sp>
        <p:nvSpPr>
          <p:cNvPr id="3" name="Shape 1"/>
          <p:cNvSpPr/>
          <p:nvPr/>
        </p:nvSpPr>
        <p:spPr>
          <a:xfrm>
            <a:off x="0" y="82296"/>
            <a:ext cx="12191695" cy="914400"/>
          </a:xfrm>
          <a:prstGeom prst="rect">
            <a:avLst/>
          </a:prstGeom>
          <a:solidFill>
            <a:srgbClr val="FFFFFF"/>
          </a:solidFill>
          <a:ln w="10160">
            <a:solidFill>
              <a:srgbClr val="E2E8F0"/>
            </a:solidFill>
            <a:prstDash val="solid"/>
          </a:ln>
        </p:spPr>
      </p:sp>
      <p:sp>
        <p:nvSpPr>
          <p:cNvPr id="4" name="Shape 2"/>
          <p:cNvSpPr/>
          <p:nvPr/>
        </p:nvSpPr>
        <p:spPr>
          <a:xfrm>
            <a:off x="411480" y="201168"/>
            <a:ext cx="2834640" cy="329184"/>
          </a:xfrm>
          <a:prstGeom prst="roundRect">
            <a:avLst>
              <a:gd name="adj" fmla="val 16667"/>
            </a:avLst>
          </a:prstGeom>
          <a:solidFill>
            <a:srgbClr val="9F224E"/>
          </a:solidFill>
          <a:ln w="12700">
            <a:solidFill>
              <a:srgbClr val="9F224E"/>
            </a:solidFill>
            <a:prstDash val="solid"/>
          </a:ln>
        </p:spPr>
      </p:sp>
      <p:sp>
        <p:nvSpPr>
          <p:cNvPr id="5" name="Text 3"/>
          <p:cNvSpPr/>
          <p:nvPr/>
        </p:nvSpPr>
        <p:spPr>
          <a:xfrm>
            <a:off x="411480" y="201168"/>
            <a:ext cx="2834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HÀNH ĐỘNG 3 • KHỐI 2 / 4</a:t>
            </a:r>
            <a:endParaRPr lang="en-US" sz="1150" dirty="0"/>
          </a:p>
        </p:txBody>
      </p:sp>
      <p:sp>
        <p:nvSpPr>
          <p:cNvPr id="6" name="Text 4"/>
          <p:cNvSpPr/>
          <p:nvPr/>
        </p:nvSpPr>
        <p:spPr>
          <a:xfrm>
            <a:off x="3383280" y="146304"/>
            <a:ext cx="8412480" cy="420624"/>
          </a:xfrm>
          <a:prstGeom prst="rect">
            <a:avLst/>
          </a:prstGeom>
          <a:noFill/>
          <a:ln/>
        </p:spPr>
        <p:txBody>
          <a:bodyPr wrap="square" lIns="0" tIns="0" rIns="0" bIns="0" rtlCol="0" anchor="ctr"/>
          <a:lstStyle/>
          <a:p>
            <a:pPr algn="l" indent="0" marL="0">
              <a:buNone/>
            </a:pPr>
            <a:r>
              <a:rPr lang="en-US" sz="2000" b="1" dirty="0">
                <a:solidFill>
                  <a:srgbClr val="1E293B"/>
                </a:solidFill>
                <a:latin typeface="Arial" pitchFamily="34" charset="0"/>
                <a:ea typeface="Arial" pitchFamily="34" charset="-122"/>
                <a:cs typeface="Arial" pitchFamily="34" charset="-120"/>
              </a:rPr>
              <a:t>Hành động 3 (Hợp nhất 2 Trang cùng 1 Giải Đấu): Vấn đề &amp; Nguyên nhân</a:t>
            </a:r>
            <a:endParaRPr lang="en-US" sz="2000" dirty="0"/>
          </a:p>
        </p:txBody>
      </p:sp>
      <p:sp>
        <p:nvSpPr>
          <p:cNvPr id="7" name="Text 5"/>
          <p:cNvSpPr/>
          <p:nvPr/>
        </p:nvSpPr>
        <p:spPr>
          <a:xfrm>
            <a:off x="411480" y="594360"/>
            <a:ext cx="11338560" cy="329184"/>
          </a:xfrm>
          <a:prstGeom prst="rect">
            <a:avLst/>
          </a:prstGeom>
          <a:noFill/>
          <a:ln/>
        </p:spPr>
        <p:txBody>
          <a:bodyPr wrap="square" lIns="0" tIns="0" rIns="0" bIns="0" rtlCol="0" anchor="ctr"/>
          <a:lstStyle/>
          <a:p>
            <a:pPr algn="l" indent="0" marL="0">
              <a:buNone/>
            </a:pPr>
            <a:r>
              <a:rPr lang="en-US" sz="1250" i="1" dirty="0">
                <a:solidFill>
                  <a:srgbClr val="64748B"/>
                </a:solidFill>
                <a:latin typeface="Arial" pitchFamily="34" charset="0"/>
                <a:ea typeface="Arial" pitchFamily="34" charset="-122"/>
                <a:cs typeface="Arial" pitchFamily="34" charset="-120"/>
              </a:rPr>
              <a:t>Phân tích sự phân mảnh, xung đột nội bộ về SEO và sự đứt gãy hành trình độc giả về UI/UX</a:t>
            </a:r>
            <a:endParaRPr lang="en-US" sz="1250" dirty="0"/>
          </a:p>
        </p:txBody>
      </p:sp>
      <p:sp>
        <p:nvSpPr>
          <p:cNvPr id="8" name="Shape 6"/>
          <p:cNvSpPr/>
          <p:nvPr/>
        </p:nvSpPr>
        <p:spPr>
          <a:xfrm>
            <a:off x="0" y="6510528"/>
            <a:ext cx="12191695" cy="347472"/>
          </a:xfrm>
          <a:prstGeom prst="rect">
            <a:avLst/>
          </a:prstGeom>
          <a:solidFill>
            <a:srgbClr val="1E293B"/>
          </a:solidFill>
          <a:ln w="12700">
            <a:solidFill>
              <a:srgbClr val="1E293B"/>
            </a:solidFill>
            <a:prstDash val="solid"/>
          </a:ln>
        </p:spPr>
      </p:sp>
      <p:sp>
        <p:nvSpPr>
          <p:cNvPr id="9" name="Text 7"/>
          <p:cNvSpPr/>
          <p:nvPr/>
        </p:nvSpPr>
        <p:spPr>
          <a:xfrm>
            <a:off x="411480" y="6510528"/>
            <a:ext cx="8686800" cy="347472"/>
          </a:xfrm>
          <a:prstGeom prst="rect">
            <a:avLst/>
          </a:prstGeom>
          <a:noFill/>
          <a:ln/>
        </p:spPr>
        <p:txBody>
          <a:bodyPr wrap="square" lIns="0" tIns="0" rIns="0" bIns="0" rtlCol="0" anchor="ctr"/>
          <a:lstStyle/>
          <a:p>
            <a:pPr algn="l" indent="0" marL="0">
              <a:buNone/>
            </a:pPr>
            <a:r>
              <a:rPr lang="en-US" sz="1000" dirty="0">
                <a:solidFill>
                  <a:srgbClr val="CBD5E1"/>
                </a:solidFill>
                <a:latin typeface="Arial" pitchFamily="34" charset="0"/>
                <a:ea typeface="Arial" pitchFamily="34" charset="-122"/>
                <a:cs typeface="Arial" pitchFamily="34" charset="-120"/>
              </a:rPr>
              <a:t>VnExpress Thể Thao  |  Báo cáo Phân tích Vấn đề &amp; Giải pháp Cải tiến Trang Lịch Thi Đấu Bóng Đá</a:t>
            </a:r>
            <a:endParaRPr lang="en-US" sz="1000" dirty="0"/>
          </a:p>
        </p:txBody>
      </p:sp>
      <p:sp>
        <p:nvSpPr>
          <p:cNvPr id="10" name="Text 8"/>
          <p:cNvSpPr/>
          <p:nvPr/>
        </p:nvSpPr>
        <p:spPr>
          <a:xfrm>
            <a:off x="10058400" y="6510528"/>
            <a:ext cx="1719072"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Trang 15 / 19</a:t>
            </a:r>
            <a:endParaRPr lang="en-US" sz="1000" dirty="0"/>
          </a:p>
        </p:txBody>
      </p:sp>
      <p:sp>
        <p:nvSpPr>
          <p:cNvPr id="11" name="Shape 9"/>
          <p:cNvSpPr/>
          <p:nvPr/>
        </p:nvSpPr>
        <p:spPr>
          <a:xfrm>
            <a:off x="411480" y="1143000"/>
            <a:ext cx="11365992" cy="5193792"/>
          </a:xfrm>
          <a:prstGeom prst="roundRect">
            <a:avLst>
              <a:gd name="adj" fmla="val 1408"/>
            </a:avLst>
          </a:prstGeom>
          <a:solidFill>
            <a:srgbClr val="FFFFFF"/>
          </a:solidFill>
          <a:ln w="15240">
            <a:solidFill>
              <a:srgbClr val="CBD5E1"/>
            </a:solidFill>
            <a:prstDash val="solid"/>
          </a:ln>
        </p:spPr>
      </p:sp>
      <p:sp>
        <p:nvSpPr>
          <p:cNvPr id="12" name="Shape 10"/>
          <p:cNvSpPr/>
          <p:nvPr/>
        </p:nvSpPr>
        <p:spPr>
          <a:xfrm>
            <a:off x="411480" y="1143000"/>
            <a:ext cx="11365992" cy="475488"/>
          </a:xfrm>
          <a:prstGeom prst="roundRect">
            <a:avLst>
              <a:gd name="adj" fmla="val 15385"/>
            </a:avLst>
          </a:prstGeom>
          <a:solidFill>
            <a:srgbClr val="1E293B"/>
          </a:solidFill>
          <a:ln w="12700">
            <a:solidFill>
              <a:srgbClr val="1E293B"/>
            </a:solidFill>
            <a:prstDash val="solid"/>
          </a:ln>
        </p:spPr>
      </p:sp>
      <p:sp>
        <p:nvSpPr>
          <p:cNvPr id="13" name="Text 11"/>
          <p:cNvSpPr/>
          <p:nvPr/>
        </p:nvSpPr>
        <p:spPr>
          <a:xfrm>
            <a:off x="621792" y="1143000"/>
            <a:ext cx="10972800" cy="475488"/>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2. PHÂN TÍCH VẤN ĐỀ &amp; NGUYÊN NHÂN GỐC RỄ (VỀ MẶT SEO &amp; VỀ MẶT UI/UX)</a:t>
            </a:r>
            <a:endParaRPr lang="en-US" sz="1450" dirty="0"/>
          </a:p>
        </p:txBody>
      </p:sp>
      <p:sp>
        <p:nvSpPr>
          <p:cNvPr id="14" name="Shape 12"/>
          <p:cNvSpPr/>
          <p:nvPr/>
        </p:nvSpPr>
        <p:spPr>
          <a:xfrm>
            <a:off x="640080" y="1755648"/>
            <a:ext cx="5321808" cy="4370832"/>
          </a:xfrm>
          <a:prstGeom prst="roundRect">
            <a:avLst>
              <a:gd name="adj" fmla="val 1674"/>
            </a:avLst>
          </a:prstGeom>
          <a:solidFill>
            <a:srgbClr val="F1F5F9"/>
          </a:solidFill>
          <a:ln w="15240">
            <a:solidFill>
              <a:srgbClr val="CBD5E1"/>
            </a:solidFill>
            <a:prstDash val="solid"/>
          </a:ln>
        </p:spPr>
      </p:sp>
      <p:sp>
        <p:nvSpPr>
          <p:cNvPr id="15" name="Shape 13"/>
          <p:cNvSpPr/>
          <p:nvPr/>
        </p:nvSpPr>
        <p:spPr>
          <a:xfrm>
            <a:off x="640080" y="1755648"/>
            <a:ext cx="5321808" cy="420624"/>
          </a:xfrm>
          <a:prstGeom prst="roundRect">
            <a:avLst>
              <a:gd name="adj" fmla="val 17391"/>
            </a:avLst>
          </a:prstGeom>
          <a:solidFill>
            <a:srgbClr val="9F224E"/>
          </a:solidFill>
          <a:ln w="12700">
            <a:solidFill>
              <a:srgbClr val="9F224E"/>
            </a:solidFill>
            <a:prstDash val="solid"/>
          </a:ln>
        </p:spPr>
      </p:sp>
      <p:sp>
        <p:nvSpPr>
          <p:cNvPr id="16" name="Text 14"/>
          <p:cNvSpPr/>
          <p:nvPr/>
        </p:nvSpPr>
        <p:spPr>
          <a:xfrm>
            <a:off x="804672" y="1755648"/>
            <a:ext cx="4992624" cy="420624"/>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 VỀ MẶT SEO: PHÂN MẢNH &amp; XUNG ĐỘT NỘI BỘ</a:t>
            </a:r>
            <a:endParaRPr lang="en-US" sz="1350" dirty="0"/>
          </a:p>
        </p:txBody>
      </p:sp>
      <p:sp>
        <p:nvSpPr>
          <p:cNvPr id="17" name="Text 15"/>
          <p:cNvSpPr/>
          <p:nvPr/>
        </p:nvSpPr>
        <p:spPr>
          <a:xfrm>
            <a:off x="804672" y="2267712"/>
            <a:ext cx="4992624" cy="3767328"/>
          </a:xfrm>
          <a:prstGeom prst="rect">
            <a:avLst/>
          </a:prstGeom>
          <a:noFill/>
          <a:ln/>
        </p:spPr>
        <p:txBody>
          <a:bodyPr wrap="square" lIns="0" tIns="0" rIns="0" bIns="0" rtlCol="0" anchor="t"/>
          <a:lstStyle/>
          <a:p>
            <a:pPr indent="0" marL="0">
              <a:lnSpc>
                <a:spcPct val="115000"/>
              </a:lnSpc>
              <a:buNone/>
            </a:pPr>
            <a:r>
              <a:rPr lang="en-US" sz="1240" b="1" dirty="0">
                <a:solidFill>
                  <a:srgbClr val="9F224E"/>
                </a:solidFill>
                <a:latin typeface="Arial" pitchFamily="34" charset="0"/>
                <a:ea typeface="Arial" pitchFamily="34" charset="-122"/>
                <a:cs typeface="Arial" pitchFamily="34" charset="-120"/>
              </a:rPr>
              <a:t>1. Xung đột từ khóa &amp; Search Intent (Cannibalization):
</a:t>
            </a:r>
            <a:pPr indent="0" marL="0">
              <a:lnSpc>
                <a:spcPct val="115000"/>
              </a:lnSpc>
              <a:buNone/>
            </a:pPr>
            <a:r>
              <a:rPr lang="en-US" sz="1240" dirty="0">
                <a:solidFill>
                  <a:srgbClr val="334155"/>
                </a:solidFill>
                <a:latin typeface="Arial" pitchFamily="34" charset="0"/>
                <a:ea typeface="Arial" pitchFamily="34" charset="-122"/>
                <a:cs typeface="Arial" pitchFamily="34" charset="-120"/>
              </a:rPr>
              <a:t>   Khi tìm "La Liga", "Champions League", "V-League", Google ưu tiên trang đáp ứng Mixed Intent (Tin tức + Lịch + KQ + BXH). VnE đang bắt Google tự chọn giữa 2 URL:
</a:t>
            </a:r>
            <a:pPr indent="0" marL="0">
              <a:lnSpc>
                <a:spcPct val="115000"/>
              </a:lnSpc>
              <a:buNone/>
            </a:pPr>
            <a:r>
              <a:rPr lang="en-US" sz="1240" b="1" dirty="0">
                <a:solidFill>
                  <a:srgbClr val="1E293B"/>
                </a:solidFill>
                <a:latin typeface="Arial" pitchFamily="34" charset="0"/>
                <a:ea typeface="Arial" pitchFamily="34" charset="-122"/>
                <a:cs typeface="Arial" pitchFamily="34" charset="-120"/>
              </a:rPr>
              <a:t>   • /bong-da/la-liga: </a:t>
            </a:r>
            <a:pPr indent="0" marL="0">
              <a:lnSpc>
                <a:spcPct val="115000"/>
              </a:lnSpc>
              <a:buNone/>
            </a:pPr>
            <a:r>
              <a:rPr lang="en-US" sz="1240" dirty="0">
                <a:solidFill>
                  <a:srgbClr val="334155"/>
                </a:solidFill>
                <a:latin typeface="Arial" pitchFamily="34" charset="0"/>
                <a:ea typeface="Arial" pitchFamily="34" charset="-122"/>
                <a:cs typeface="Arial" pitchFamily="34" charset="-120"/>
              </a:rPr>
              <a:t>Mạnh Internal Link, bài mới hàng ngày nhưng thiếu bảng dữ liệu sâu.
</a:t>
            </a:r>
            <a:pPr indent="0" marL="0">
              <a:lnSpc>
                <a:spcPct val="115000"/>
              </a:lnSpc>
              <a:buNone/>
            </a:pPr>
            <a:r>
              <a:rPr lang="en-US" sz="1240" b="1" dirty="0">
                <a:solidFill>
                  <a:srgbClr val="1E293B"/>
                </a:solidFill>
                <a:latin typeface="Arial" pitchFamily="34" charset="0"/>
                <a:ea typeface="Arial" pitchFamily="34" charset="-122"/>
                <a:cs typeface="Arial" pitchFamily="34" charset="-120"/>
              </a:rPr>
              <a:t>   • /du-lieu-bong-da/giai-dau/la-liga...: </a:t>
            </a:r>
            <a:pPr indent="0" marL="0">
              <a:lnSpc>
                <a:spcPct val="115000"/>
              </a:lnSpc>
              <a:buNone/>
            </a:pPr>
            <a:r>
              <a:rPr lang="en-US" sz="1240" dirty="0">
                <a:solidFill>
                  <a:srgbClr val="334155"/>
                </a:solidFill>
                <a:latin typeface="Arial" pitchFamily="34" charset="0"/>
                <a:ea typeface="Arial" pitchFamily="34" charset="-122"/>
                <a:cs typeface="Arial" pitchFamily="34" charset="-120"/>
              </a:rPr>
              <a:t>Mạnh Data nhưng nằm sâu cấp 4, ít bài trỏ link.
</a:t>
            </a:r>
            <a:pPr indent="0" marL="0">
              <a:lnSpc>
                <a:spcPct val="115000"/>
              </a:lnSpc>
              <a:buNone/>
            </a:pPr>
            <a:r>
              <a:rPr lang="en-US" sz="1240" b="1" dirty="0">
                <a:solidFill>
                  <a:srgbClr val="9F224E"/>
                </a:solidFill>
                <a:latin typeface="Arial" pitchFamily="34" charset="0"/>
                <a:ea typeface="Arial" pitchFamily="34" charset="-122"/>
                <a:cs typeface="Arial" pitchFamily="34" charset="-120"/>
              </a:rPr>
              <a:t>2. Chia đôi sức mạnh Liên kết nội bộ (Split PageRank):
</a:t>
            </a:r>
            <a:pPr indent="0" marL="0">
              <a:lnSpc>
                <a:spcPct val="115000"/>
              </a:lnSpc>
              <a:buNone/>
            </a:pPr>
            <a:r>
              <a:rPr lang="en-US" sz="1240" dirty="0">
                <a:solidFill>
                  <a:srgbClr val="334155"/>
                </a:solidFill>
                <a:latin typeface="Arial" pitchFamily="34" charset="0"/>
                <a:ea typeface="Arial" pitchFamily="34" charset="-122"/>
                <a:cs typeface="Arial" pitchFamily="34" charset="-120"/>
              </a:rPr>
              <a:t>   Menu chính Thể thao &amp; Breadcrumb bài viết trỏ về /bong-da/la-liga, làm phân tán sức mạnh thay vì dồn 100% về một Super Hub.
</a:t>
            </a:r>
            <a:pPr indent="0" marL="0">
              <a:lnSpc>
                <a:spcPct val="115000"/>
              </a:lnSpc>
              <a:buNone/>
            </a:pPr>
            <a:r>
              <a:rPr lang="en-US" sz="1240" b="1" dirty="0">
                <a:solidFill>
                  <a:srgbClr val="9F224E"/>
                </a:solidFill>
                <a:latin typeface="Arial" pitchFamily="34" charset="0"/>
                <a:ea typeface="Arial" pitchFamily="34" charset="-122"/>
                <a:cs typeface="Arial" pitchFamily="34" charset="-120"/>
              </a:rPr>
              <a:t>3. Thiếu nhất quán quy hoạch cấu trúc URL:
</a:t>
            </a:r>
            <a:pPr indent="0" marL="0">
              <a:lnSpc>
                <a:spcPct val="115000"/>
              </a:lnSpc>
              <a:buNone/>
            </a:pPr>
            <a:r>
              <a:rPr lang="en-US" sz="1240" dirty="0">
                <a:solidFill>
                  <a:srgbClr val="334155"/>
                </a:solidFill>
                <a:latin typeface="Arial" pitchFamily="34" charset="0"/>
                <a:ea typeface="Arial" pitchFamily="34" charset="-122"/>
                <a:cs typeface="Arial" pitchFamily="34" charset="-120"/>
              </a:rPr>
              <a:t>   La Liga nằm dưới /bong-da/; V-League nằm dưới /the-thao/; còn dữ liệu nằm dưới /du-lieu-bong-da/giai-dau/ ➜ Giảm khả năng hình thành Topical Silo.</a:t>
            </a:r>
            <a:endParaRPr lang="en-US" sz="1240" dirty="0"/>
          </a:p>
        </p:txBody>
      </p:sp>
      <p:sp>
        <p:nvSpPr>
          <p:cNvPr id="18" name="Shape 16"/>
          <p:cNvSpPr/>
          <p:nvPr/>
        </p:nvSpPr>
        <p:spPr>
          <a:xfrm>
            <a:off x="6144768" y="1755648"/>
            <a:ext cx="5394960" cy="4370832"/>
          </a:xfrm>
          <a:prstGeom prst="roundRect">
            <a:avLst>
              <a:gd name="adj" fmla="val 1674"/>
            </a:avLst>
          </a:prstGeom>
          <a:solidFill>
            <a:srgbClr val="FDF2F6"/>
          </a:solidFill>
          <a:ln w="15240">
            <a:solidFill>
              <a:srgbClr val="E2A8BC"/>
            </a:solidFill>
            <a:prstDash val="solid"/>
          </a:ln>
        </p:spPr>
      </p:sp>
      <p:sp>
        <p:nvSpPr>
          <p:cNvPr id="19" name="Shape 17"/>
          <p:cNvSpPr/>
          <p:nvPr/>
        </p:nvSpPr>
        <p:spPr>
          <a:xfrm>
            <a:off x="6144768" y="1755648"/>
            <a:ext cx="5394960" cy="420624"/>
          </a:xfrm>
          <a:prstGeom prst="roundRect">
            <a:avLst>
              <a:gd name="adj" fmla="val 17391"/>
            </a:avLst>
          </a:prstGeom>
          <a:solidFill>
            <a:srgbClr val="1E293B"/>
          </a:solidFill>
          <a:ln w="12700">
            <a:solidFill>
              <a:srgbClr val="1E293B"/>
            </a:solidFill>
            <a:prstDash val="solid"/>
          </a:ln>
        </p:spPr>
      </p:sp>
      <p:sp>
        <p:nvSpPr>
          <p:cNvPr id="20" name="Text 18"/>
          <p:cNvSpPr/>
          <p:nvPr/>
        </p:nvSpPr>
        <p:spPr>
          <a:xfrm>
            <a:off x="6309360" y="1755648"/>
            <a:ext cx="5065776" cy="420624"/>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B. VỀ MẶT UI/UX: ĐỨT GÃY HÀNH TRÌNH ĐỘC GIẢ</a:t>
            </a:r>
            <a:endParaRPr lang="en-US" sz="1350" dirty="0"/>
          </a:p>
        </p:txBody>
      </p:sp>
      <p:sp>
        <p:nvSpPr>
          <p:cNvPr id="21" name="Text 19"/>
          <p:cNvSpPr/>
          <p:nvPr/>
        </p:nvSpPr>
        <p:spPr>
          <a:xfrm>
            <a:off x="6309360" y="2267712"/>
            <a:ext cx="5065776" cy="3767328"/>
          </a:xfrm>
          <a:prstGeom prst="rect">
            <a:avLst/>
          </a:prstGeom>
          <a:noFill/>
          <a:ln/>
        </p:spPr>
        <p:txBody>
          <a:bodyPr wrap="square" lIns="0" tIns="0" rIns="0" bIns="0" rtlCol="0" anchor="t"/>
          <a:lstStyle/>
          <a:p>
            <a:pPr indent="0" marL="0">
              <a:lnSpc>
                <a:spcPct val="115000"/>
              </a:lnSpc>
              <a:buNone/>
            </a:pPr>
            <a:r>
              <a:rPr lang="en-US" sz="1240" b="1" dirty="0">
                <a:solidFill>
                  <a:srgbClr val="9F224E"/>
                </a:solidFill>
                <a:latin typeface="Arial" pitchFamily="34" charset="0"/>
                <a:ea typeface="Arial" pitchFamily="34" charset="-122"/>
                <a:cs typeface="Arial" pitchFamily="34" charset="-120"/>
              </a:rPr>
              <a:t>1. Trải nghiệm "Ngõ cụt" ở cả 2 phía:
</a:t>
            </a:r>
            <a:pPr indent="0" marL="0">
              <a:lnSpc>
                <a:spcPct val="115000"/>
              </a:lnSpc>
              <a:buNone/>
            </a:pPr>
            <a:r>
              <a:rPr lang="en-US" sz="1240" b="1" dirty="0">
                <a:solidFill>
                  <a:srgbClr val="1E293B"/>
                </a:solidFill>
                <a:latin typeface="Arial" pitchFamily="34" charset="0"/>
                <a:ea typeface="Arial" pitchFamily="34" charset="-122"/>
                <a:cs typeface="Arial" pitchFamily="34" charset="-120"/>
              </a:rPr>
              <a:t>• Độc giả vào trang Dữ liệu (/giai-dau/):
</a:t>
            </a:r>
            <a:pPr indent="0" marL="0">
              <a:lnSpc>
                <a:spcPct val="115000"/>
              </a:lnSpc>
              <a:buNone/>
            </a:pPr>
            <a:r>
              <a:rPr lang="en-US" sz="1240" dirty="0">
                <a:solidFill>
                  <a:srgbClr val="334155"/>
                </a:solidFill>
                <a:latin typeface="Arial" pitchFamily="34" charset="0"/>
                <a:ea typeface="Arial" pitchFamily="34" charset="-122"/>
                <a:cs typeface="Arial" pitchFamily="34" charset="-120"/>
              </a:rPr>
              <a:t>   Xem xong BXH hoặc Kết quả trận đấu (VD thấy Real Madrid thắng Sevilla 4-1 hoặc CA TP.HCM thua ngược Ninh Bình) thường có nhu cầu tự nhiên là đọc ngay bài bình luận, phát biểu HLV hoặc xem video trận đó. Nhưng trang dữ liệu thuần túy thiếu luồng tin sâu ➜ </a:t>
            </a:r>
            <a:pPr indent="0" marL="0">
              <a:lnSpc>
                <a:spcPct val="115000"/>
              </a:lnSpc>
              <a:buNone/>
            </a:pPr>
            <a:r>
              <a:rPr lang="en-US" sz="1240" b="1" dirty="0">
                <a:solidFill>
                  <a:srgbClr val="9F224E"/>
                </a:solidFill>
                <a:latin typeface="Arial" pitchFamily="34" charset="0"/>
                <a:ea typeface="Arial" pitchFamily="34" charset="-122"/>
                <a:cs typeface="Arial" pitchFamily="34" charset="-120"/>
              </a:rPr>
              <a:t>Xem số liệu trong 15 giây rồi thoát trang (High Bounce Rate).
</a:t>
            </a:r>
            <a:pPr indent="0" marL="0">
              <a:lnSpc>
                <a:spcPct val="115000"/>
              </a:lnSpc>
              <a:buNone/>
            </a:pPr>
            <a:r>
              <a:rPr lang="en-US" sz="1240" b="1" dirty="0">
                <a:solidFill>
                  <a:srgbClr val="1E293B"/>
                </a:solidFill>
                <a:latin typeface="Arial" pitchFamily="34" charset="0"/>
                <a:ea typeface="Arial" pitchFamily="34" charset="-122"/>
                <a:cs typeface="Arial" pitchFamily="34" charset="-120"/>
              </a:rPr>
              <a:t>• Độc giả vào trang Tin tức giải (/bong-da/la-liga):
</a:t>
            </a:r>
            <a:pPr indent="0" marL="0">
              <a:lnSpc>
                <a:spcPct val="115000"/>
              </a:lnSpc>
              <a:buNone/>
            </a:pPr>
            <a:r>
              <a:rPr lang="en-US" sz="1240" dirty="0">
                <a:solidFill>
                  <a:srgbClr val="334155"/>
                </a:solidFill>
                <a:latin typeface="Arial" pitchFamily="34" charset="0"/>
                <a:ea typeface="Arial" pitchFamily="34" charset="-122"/>
                <a:cs typeface="Arial" pitchFamily="34" charset="-120"/>
              </a:rPr>
              <a:t>   Đọc tin xong muốn tra cứu BXH 20 đội, hiệu số bàn thắng bại hoặc lịch các vòng tiếp theo lại phải chuyển sang không gian giao diện hoàn toàn khác (/du-lieu-bong-da/) như bị đẩy sang microsite tách biệt.
</a:t>
            </a:r>
            <a:pPr indent="0" marL="0">
              <a:lnSpc>
                <a:spcPct val="115000"/>
              </a:lnSpc>
              <a:buNone/>
            </a:pPr>
            <a:r>
              <a:rPr lang="en-US" sz="1240" b="1" dirty="0">
                <a:solidFill>
                  <a:srgbClr val="9F224E"/>
                </a:solidFill>
                <a:latin typeface="Arial" pitchFamily="34" charset="0"/>
                <a:ea typeface="Arial" pitchFamily="34" charset="-122"/>
                <a:cs typeface="Arial" pitchFamily="34" charset="-120"/>
              </a:rPr>
              <a:t>2. Nhầm lẫn trên thanh điều hướng (Navigation Confusion):
</a:t>
            </a:r>
            <a:pPr indent="0" marL="0">
              <a:lnSpc>
                <a:spcPct val="115000"/>
              </a:lnSpc>
              <a:buNone/>
            </a:pPr>
            <a:r>
              <a:rPr lang="en-US" sz="1240" dirty="0">
                <a:solidFill>
                  <a:srgbClr val="334155"/>
                </a:solidFill>
                <a:latin typeface="Arial" pitchFamily="34" charset="0"/>
                <a:ea typeface="Arial" pitchFamily="34" charset="-122"/>
                <a:cs typeface="Arial" pitchFamily="34" charset="-120"/>
              </a:rPr>
              <a:t>   Người dùng phổ thông không phân biệt được sự khác nhau giữa mục "La Liga" trên menu tin tức và "La Liga" trong trang Dữ liệu bóng đá.</a:t>
            </a:r>
            <a:endParaRPr lang="en-US" sz="12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9F224E"/>
          </a:solidFill>
          <a:ln w="12700">
            <a:solidFill>
              <a:srgbClr val="9F224E"/>
            </a:solidFill>
            <a:prstDash val="solid"/>
          </a:ln>
        </p:spPr>
      </p:sp>
      <p:sp>
        <p:nvSpPr>
          <p:cNvPr id="3" name="Shape 1"/>
          <p:cNvSpPr/>
          <p:nvPr/>
        </p:nvSpPr>
        <p:spPr>
          <a:xfrm>
            <a:off x="0" y="82296"/>
            <a:ext cx="12191695" cy="914400"/>
          </a:xfrm>
          <a:prstGeom prst="rect">
            <a:avLst/>
          </a:prstGeom>
          <a:solidFill>
            <a:srgbClr val="FFFFFF"/>
          </a:solidFill>
          <a:ln w="10160">
            <a:solidFill>
              <a:srgbClr val="E2E8F0"/>
            </a:solidFill>
            <a:prstDash val="solid"/>
          </a:ln>
        </p:spPr>
      </p:sp>
      <p:sp>
        <p:nvSpPr>
          <p:cNvPr id="4" name="Shape 2"/>
          <p:cNvSpPr/>
          <p:nvPr/>
        </p:nvSpPr>
        <p:spPr>
          <a:xfrm>
            <a:off x="411480" y="201168"/>
            <a:ext cx="2834640" cy="329184"/>
          </a:xfrm>
          <a:prstGeom prst="roundRect">
            <a:avLst>
              <a:gd name="adj" fmla="val 16667"/>
            </a:avLst>
          </a:prstGeom>
          <a:solidFill>
            <a:srgbClr val="9F224E"/>
          </a:solidFill>
          <a:ln w="12700">
            <a:solidFill>
              <a:srgbClr val="9F224E"/>
            </a:solidFill>
            <a:prstDash val="solid"/>
          </a:ln>
        </p:spPr>
      </p:sp>
      <p:sp>
        <p:nvSpPr>
          <p:cNvPr id="5" name="Text 3"/>
          <p:cNvSpPr/>
          <p:nvPr/>
        </p:nvSpPr>
        <p:spPr>
          <a:xfrm>
            <a:off x="411480" y="201168"/>
            <a:ext cx="2834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HÀNH ĐỘNG 3 • KHỐI 3 / 4</a:t>
            </a:r>
            <a:endParaRPr lang="en-US" sz="1150" dirty="0"/>
          </a:p>
        </p:txBody>
      </p:sp>
      <p:sp>
        <p:nvSpPr>
          <p:cNvPr id="6" name="Text 4"/>
          <p:cNvSpPr/>
          <p:nvPr/>
        </p:nvSpPr>
        <p:spPr>
          <a:xfrm>
            <a:off x="3383280" y="146304"/>
            <a:ext cx="8412480" cy="420624"/>
          </a:xfrm>
          <a:prstGeom prst="rect">
            <a:avLst/>
          </a:prstGeom>
          <a:noFill/>
          <a:ln/>
        </p:spPr>
        <p:txBody>
          <a:bodyPr wrap="square" lIns="0" tIns="0" rIns="0" bIns="0" rtlCol="0" anchor="ctr"/>
          <a:lstStyle/>
          <a:p>
            <a:pPr algn="l" indent="0" marL="0">
              <a:buNone/>
            </a:pPr>
            <a:r>
              <a:rPr lang="en-US" sz="2000" b="1" dirty="0">
                <a:solidFill>
                  <a:srgbClr val="1E293B"/>
                </a:solidFill>
                <a:latin typeface="Arial" pitchFamily="34" charset="0"/>
                <a:ea typeface="Arial" pitchFamily="34" charset="-122"/>
                <a:cs typeface="Arial" pitchFamily="34" charset="-120"/>
              </a:rPr>
              <a:t>Hành động 3 (Hợp nhất 2 Trang cùng 1 Giải Đấu): Giải pháp Đề xuất</a:t>
            </a:r>
            <a:endParaRPr lang="en-US" sz="2000" dirty="0"/>
          </a:p>
        </p:txBody>
      </p:sp>
      <p:sp>
        <p:nvSpPr>
          <p:cNvPr id="7" name="Text 5"/>
          <p:cNvSpPr/>
          <p:nvPr/>
        </p:nvSpPr>
        <p:spPr>
          <a:xfrm>
            <a:off x="411480" y="594360"/>
            <a:ext cx="11338560" cy="329184"/>
          </a:xfrm>
          <a:prstGeom prst="rect">
            <a:avLst/>
          </a:prstGeom>
          <a:noFill/>
          <a:ln/>
        </p:spPr>
        <p:txBody>
          <a:bodyPr wrap="square" lIns="0" tIns="0" rIns="0" bIns="0" rtlCol="0" anchor="ctr"/>
          <a:lstStyle/>
          <a:p>
            <a:pPr algn="l" indent="0" marL="0">
              <a:buNone/>
            </a:pPr>
            <a:r>
              <a:rPr lang="en-US" sz="1250" i="1" dirty="0">
                <a:solidFill>
                  <a:srgbClr val="64748B"/>
                </a:solidFill>
                <a:latin typeface="Arial" pitchFamily="34" charset="0"/>
                <a:ea typeface="Arial" pitchFamily="34" charset="-122"/>
                <a:cs typeface="Arial" pitchFamily="34" charset="-120"/>
              </a:rPr>
              <a:t>Hợp nhất thành một cấu trúc thư mục duy nhất (One-Stop League Hub) tích hợp Tin tức + Lịch + Kết quả + BXH</a:t>
            </a:r>
            <a:endParaRPr lang="en-US" sz="1250" dirty="0"/>
          </a:p>
        </p:txBody>
      </p:sp>
      <p:sp>
        <p:nvSpPr>
          <p:cNvPr id="8" name="Shape 6"/>
          <p:cNvSpPr/>
          <p:nvPr/>
        </p:nvSpPr>
        <p:spPr>
          <a:xfrm>
            <a:off x="0" y="6510528"/>
            <a:ext cx="12191695" cy="347472"/>
          </a:xfrm>
          <a:prstGeom prst="rect">
            <a:avLst/>
          </a:prstGeom>
          <a:solidFill>
            <a:srgbClr val="1E293B"/>
          </a:solidFill>
          <a:ln w="12700">
            <a:solidFill>
              <a:srgbClr val="1E293B"/>
            </a:solidFill>
            <a:prstDash val="solid"/>
          </a:ln>
        </p:spPr>
      </p:sp>
      <p:sp>
        <p:nvSpPr>
          <p:cNvPr id="9" name="Text 7"/>
          <p:cNvSpPr/>
          <p:nvPr/>
        </p:nvSpPr>
        <p:spPr>
          <a:xfrm>
            <a:off x="411480" y="6510528"/>
            <a:ext cx="8686800" cy="347472"/>
          </a:xfrm>
          <a:prstGeom prst="rect">
            <a:avLst/>
          </a:prstGeom>
          <a:noFill/>
          <a:ln/>
        </p:spPr>
        <p:txBody>
          <a:bodyPr wrap="square" lIns="0" tIns="0" rIns="0" bIns="0" rtlCol="0" anchor="ctr"/>
          <a:lstStyle/>
          <a:p>
            <a:pPr algn="l" indent="0" marL="0">
              <a:buNone/>
            </a:pPr>
            <a:r>
              <a:rPr lang="en-US" sz="1000" dirty="0">
                <a:solidFill>
                  <a:srgbClr val="CBD5E1"/>
                </a:solidFill>
                <a:latin typeface="Arial" pitchFamily="34" charset="0"/>
                <a:ea typeface="Arial" pitchFamily="34" charset="-122"/>
                <a:cs typeface="Arial" pitchFamily="34" charset="-120"/>
              </a:rPr>
              <a:t>VnExpress Thể Thao  |  Báo cáo Phân tích Vấn đề &amp; Giải pháp Cải tiến Trang Lịch Thi Đấu Bóng Đá</a:t>
            </a:r>
            <a:endParaRPr lang="en-US" sz="1000" dirty="0"/>
          </a:p>
        </p:txBody>
      </p:sp>
      <p:sp>
        <p:nvSpPr>
          <p:cNvPr id="10" name="Text 8"/>
          <p:cNvSpPr/>
          <p:nvPr/>
        </p:nvSpPr>
        <p:spPr>
          <a:xfrm>
            <a:off x="10058400" y="6510528"/>
            <a:ext cx="1719072"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Trang 16 / 19</a:t>
            </a:r>
            <a:endParaRPr lang="en-US" sz="1000" dirty="0"/>
          </a:p>
        </p:txBody>
      </p:sp>
      <p:sp>
        <p:nvSpPr>
          <p:cNvPr id="11" name="Shape 9"/>
          <p:cNvSpPr/>
          <p:nvPr/>
        </p:nvSpPr>
        <p:spPr>
          <a:xfrm>
            <a:off x="411480" y="1143000"/>
            <a:ext cx="11365992" cy="5193792"/>
          </a:xfrm>
          <a:prstGeom prst="roundRect">
            <a:avLst>
              <a:gd name="adj" fmla="val 1408"/>
            </a:avLst>
          </a:prstGeom>
          <a:solidFill>
            <a:srgbClr val="FFFFFF"/>
          </a:solidFill>
          <a:ln w="15240">
            <a:solidFill>
              <a:srgbClr val="CBD5E1"/>
            </a:solidFill>
            <a:prstDash val="solid"/>
          </a:ln>
        </p:spPr>
      </p:sp>
      <p:sp>
        <p:nvSpPr>
          <p:cNvPr id="12" name="Shape 10"/>
          <p:cNvSpPr/>
          <p:nvPr/>
        </p:nvSpPr>
        <p:spPr>
          <a:xfrm>
            <a:off x="411480" y="1143000"/>
            <a:ext cx="11365992" cy="475488"/>
          </a:xfrm>
          <a:prstGeom prst="roundRect">
            <a:avLst>
              <a:gd name="adj" fmla="val 15385"/>
            </a:avLst>
          </a:prstGeom>
          <a:solidFill>
            <a:srgbClr val="1E293B"/>
          </a:solidFill>
          <a:ln w="12700">
            <a:solidFill>
              <a:srgbClr val="1E293B"/>
            </a:solidFill>
            <a:prstDash val="solid"/>
          </a:ln>
        </p:spPr>
      </p:sp>
      <p:sp>
        <p:nvSpPr>
          <p:cNvPr id="13" name="Text 11"/>
          <p:cNvSpPr/>
          <p:nvPr/>
        </p:nvSpPr>
        <p:spPr>
          <a:xfrm>
            <a:off x="621792" y="1143000"/>
            <a:ext cx="10972800" cy="475488"/>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3. GIẢI PHÁP ĐỀ XUẤT: MÔ HÌNH "ONE-STOP LEAGUE HUB" CHO 57 CỤM GIẢI ĐẤU</a:t>
            </a:r>
            <a:endParaRPr lang="en-US" sz="1450" dirty="0"/>
          </a:p>
        </p:txBody>
      </p:sp>
      <p:sp>
        <p:nvSpPr>
          <p:cNvPr id="14" name="Text 12"/>
          <p:cNvSpPr/>
          <p:nvPr/>
        </p:nvSpPr>
        <p:spPr>
          <a:xfrm>
            <a:off x="640080" y="1737360"/>
            <a:ext cx="5989320" cy="3840480"/>
          </a:xfrm>
          <a:prstGeom prst="rect">
            <a:avLst/>
          </a:prstGeom>
          <a:noFill/>
          <a:ln/>
        </p:spPr>
        <p:txBody>
          <a:bodyPr wrap="square" lIns="0" tIns="0" rIns="0" bIns="0" rtlCol="0" anchor="t"/>
          <a:lstStyle/>
          <a:p>
            <a:pPr indent="0" marL="0">
              <a:lnSpc>
                <a:spcPct val="116000"/>
              </a:lnSpc>
              <a:buNone/>
            </a:pPr>
            <a:r>
              <a:rPr lang="en-US" sz="1420" b="1" dirty="0">
                <a:solidFill>
                  <a:srgbClr val="9F224E"/>
                </a:solidFill>
                <a:latin typeface="Arial" pitchFamily="34" charset="0"/>
                <a:ea typeface="Arial" pitchFamily="34" charset="-122"/>
                <a:cs typeface="Arial" pitchFamily="34" charset="-120"/>
              </a:rPr>
              <a:t>1. Hợp nhất thành một cấu trúc thư mục duy nhất cho mỗi giải đấu:
</a:t>
            </a:r>
            <a:pPr indent="0" marL="0">
              <a:lnSpc>
                <a:spcPct val="116000"/>
              </a:lnSpc>
              <a:buNone/>
            </a:pPr>
            <a:r>
              <a:rPr lang="en-US" sz="1300" b="1" dirty="0">
                <a:solidFill>
                  <a:srgbClr val="1E293B"/>
                </a:solidFill>
                <a:latin typeface="Arial" pitchFamily="34" charset="0"/>
                <a:ea typeface="Arial" pitchFamily="34" charset="-122"/>
                <a:cs typeface="Arial" pitchFamily="34" charset="-120"/>
              </a:rPr>
              <a:t>• Lấy URL trong trang Lịch thi đấu làm URL duy nhất cho cả giải:
</a:t>
            </a:r>
            <a:pPr indent="0" marL="0">
              <a:lnSpc>
                <a:spcPct val="116000"/>
              </a:lnSpc>
              <a:buNone/>
            </a:pPr>
            <a:r>
              <a:rPr lang="en-US" sz="1350" b="1" dirty="0">
                <a:solidFill>
                  <a:srgbClr val="9F224E"/>
                </a:solidFill>
                <a:latin typeface="Arial" pitchFamily="34" charset="0"/>
                <a:ea typeface="Arial" pitchFamily="34" charset="-122"/>
                <a:cs typeface="Arial" pitchFamily="34" charset="-120"/>
              </a:rPr>
              <a:t>   👉 the-thao/du-lieu-bong-da/giai-dau/laliga
</a:t>
            </a:r>
            <a:pPr indent="0" marL="0">
              <a:lnSpc>
                <a:spcPct val="116000"/>
              </a:lnSpc>
              <a:buNone/>
            </a:pPr>
            <a:r>
              <a:rPr lang="en-US" sz="1250" i="1" dirty="0">
                <a:solidFill>
                  <a:srgbClr val="334155"/>
                </a:solidFill>
                <a:latin typeface="Arial" pitchFamily="34" charset="0"/>
                <a:ea typeface="Arial" pitchFamily="34" charset="-122"/>
                <a:cs typeface="Arial" pitchFamily="34" charset="-120"/>
              </a:rPr>
              <a:t>      (Trang chủ giải: Tin tức + Các data Lịch / Kết quả / BXH)
</a:t>
            </a:r>
            <a:pPr indent="0" marL="0">
              <a:lnSpc>
                <a:spcPct val="116000"/>
              </a:lnSpc>
              <a:buNone/>
            </a:pPr>
            <a:r>
              <a:rPr lang="en-US" sz="1300" b="1" dirty="0">
                <a:solidFill>
                  <a:srgbClr val="1E293B"/>
                </a:solidFill>
                <a:latin typeface="Arial" pitchFamily="34" charset="0"/>
                <a:ea typeface="Arial" pitchFamily="34" charset="-122"/>
                <a:cs typeface="Arial" pitchFamily="34" charset="-120"/>
              </a:rPr>
              <a:t>• Các trang con chuyên biệt của giải đấu sẽ là:
</a:t>
            </a:r>
            <a:pPr indent="0" marL="0">
              <a:lnSpc>
                <a:spcPct val="116000"/>
              </a:lnSpc>
              <a:buNone/>
            </a:pPr>
            <a:r>
              <a:rPr lang="en-US" sz="1300" b="1" dirty="0">
                <a:solidFill>
                  <a:srgbClr val="1E293B"/>
                </a:solidFill>
                <a:latin typeface="Arial" pitchFamily="34" charset="0"/>
                <a:ea typeface="Arial" pitchFamily="34" charset="-122"/>
                <a:cs typeface="Arial" pitchFamily="34" charset="-120"/>
              </a:rPr>
              <a:t>   👉 the-thao/du-lieu-bong-da/giai-dau/laliga/lich-thi-dau
   👉 the-thao/du-lieu-bong-da/giai-dau/laliga/ket-qua
   👉 the-thao/du-lieu-bong-da/giai-dau/laliga/bang-xep-hang
</a:t>
            </a:r>
            <a:pPr indent="0" marL="0">
              <a:lnSpc>
                <a:spcPct val="116000"/>
              </a:lnSpc>
              <a:buNone/>
            </a:pPr>
            <a:r>
              <a:rPr lang="en-US" sz="1420" b="1" dirty="0">
                <a:solidFill>
                  <a:srgbClr val="9F224E"/>
                </a:solidFill>
                <a:latin typeface="Arial" pitchFamily="34" charset="0"/>
                <a:ea typeface="Arial" pitchFamily="34" charset="-122"/>
                <a:cs typeface="Arial" pitchFamily="34" charset="-120"/>
              </a:rPr>
              <a:t>2. Chuyển hướng Redirect 301 &amp; Tự động hóa luồng tin bài:
</a:t>
            </a:r>
            <a:pPr indent="0" marL="0">
              <a:lnSpc>
                <a:spcPct val="116000"/>
              </a:lnSpc>
              <a:buNone/>
            </a:pPr>
            <a:r>
              <a:rPr lang="en-US" sz="1300" b="1" dirty="0">
                <a:solidFill>
                  <a:srgbClr val="1E293B"/>
                </a:solidFill>
                <a:latin typeface="Arial" pitchFamily="34" charset="0"/>
                <a:ea typeface="Arial" pitchFamily="34" charset="-122"/>
                <a:cs typeface="Arial" pitchFamily="34" charset="-120"/>
              </a:rPr>
              <a:t>• Thực hiện Redirect 301 </a:t>
            </a:r>
            <a:pPr indent="0" marL="0">
              <a:lnSpc>
                <a:spcPct val="116000"/>
              </a:lnSpc>
              <a:buNone/>
            </a:pPr>
            <a:r>
              <a:rPr lang="en-US" sz="1280" dirty="0">
                <a:solidFill>
                  <a:srgbClr val="334155"/>
                </a:solidFill>
                <a:latin typeface="Arial" pitchFamily="34" charset="0"/>
                <a:ea typeface="Arial" pitchFamily="34" charset="-122"/>
                <a:cs typeface="Arial" pitchFamily="34" charset="-120"/>
              </a:rPr>
              <a:t>các URL của các subfolder giải tương ứng (/bong-da/la-liga, /the-thao/v-league...) về cấu trúc mới để hợp nhất 100% PageRank.
</a:t>
            </a:r>
            <a:pPr indent="0" marL="0">
              <a:lnSpc>
                <a:spcPct val="116000"/>
              </a:lnSpc>
              <a:buNone/>
            </a:pPr>
            <a:r>
              <a:rPr lang="en-US" sz="1300" b="1" dirty="0">
                <a:solidFill>
                  <a:srgbClr val="1E293B"/>
                </a:solidFill>
                <a:latin typeface="Arial" pitchFamily="34" charset="0"/>
                <a:ea typeface="Arial" pitchFamily="34" charset="-122"/>
                <a:cs typeface="Arial" pitchFamily="34" charset="-120"/>
              </a:rPr>
              <a:t>• Cơ chế Auto-listing: </a:t>
            </a:r>
            <a:pPr indent="0" marL="0">
              <a:lnSpc>
                <a:spcPct val="116000"/>
              </a:lnSpc>
              <a:buNone/>
            </a:pPr>
            <a:r>
              <a:rPr lang="en-US" sz="1280" dirty="0">
                <a:solidFill>
                  <a:srgbClr val="334155"/>
                </a:solidFill>
                <a:latin typeface="Arial" pitchFamily="34" charset="0"/>
                <a:ea typeface="Arial" pitchFamily="34" charset="-122"/>
                <a:cs typeface="Arial" pitchFamily="34" charset="-120"/>
              </a:rPr>
              <a:t>Các tin bài được listOn vào các subFolder này sẽ auto hiển thị lên trang giải tương ứng.</a:t>
            </a:r>
            <a:endParaRPr lang="en-US" sz="1420" dirty="0"/>
          </a:p>
        </p:txBody>
      </p:sp>
      <p:sp>
        <p:nvSpPr>
          <p:cNvPr id="15" name="Shape 13"/>
          <p:cNvSpPr/>
          <p:nvPr/>
        </p:nvSpPr>
        <p:spPr>
          <a:xfrm>
            <a:off x="640080" y="5650992"/>
            <a:ext cx="5989320" cy="512064"/>
          </a:xfrm>
          <a:prstGeom prst="roundRect">
            <a:avLst>
              <a:gd name="adj" fmla="val 12500"/>
            </a:avLst>
          </a:prstGeom>
          <a:solidFill>
            <a:srgbClr val="FDF2F6"/>
          </a:solidFill>
          <a:ln w="15240">
            <a:solidFill>
              <a:srgbClr val="E2A8BC"/>
            </a:solidFill>
            <a:prstDash val="solid"/>
          </a:ln>
        </p:spPr>
      </p:sp>
      <p:sp>
        <p:nvSpPr>
          <p:cNvPr id="16" name="Text 14"/>
          <p:cNvSpPr/>
          <p:nvPr/>
        </p:nvSpPr>
        <p:spPr>
          <a:xfrm>
            <a:off x="777240" y="5650992"/>
            <a:ext cx="5715000" cy="512064"/>
          </a:xfrm>
          <a:prstGeom prst="rect">
            <a:avLst/>
          </a:prstGeom>
          <a:noFill/>
          <a:ln/>
        </p:spPr>
        <p:txBody>
          <a:bodyPr wrap="square" lIns="0" tIns="0" rIns="0" bIns="0" rtlCol="0" anchor="ctr"/>
          <a:lstStyle/>
          <a:p>
            <a:pPr indent="0" marL="0">
              <a:buNone/>
            </a:pPr>
            <a:r>
              <a:rPr lang="en-US" sz="1250" b="1" dirty="0">
                <a:solidFill>
                  <a:srgbClr val="9F224E"/>
                </a:solidFill>
                <a:latin typeface="Arial" pitchFamily="34" charset="0"/>
                <a:ea typeface="Arial" pitchFamily="34" charset="-122"/>
                <a:cs typeface="Arial" pitchFamily="34" charset="-120"/>
              </a:rPr>
              <a:t>🔗 Demo: </a:t>
            </a:r>
            <a:pPr indent="0" marL="0">
              <a:buNone/>
            </a:pPr>
            <a:r>
              <a:rPr lang="en-US" sz="1220" b="1" u="sng" dirty="0">
                <a:solidFill>
                  <a:srgbClr val="9F224E"/>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https://brand-new-lich-thi-dau.vercel.app/giai-dau/champions-league</a:t>
            </a:r>
            <a:endParaRPr lang="en-US" sz="1250" dirty="0"/>
          </a:p>
        </p:txBody>
      </p:sp>
      <p:sp>
        <p:nvSpPr>
          <p:cNvPr id="17" name="Shape 15"/>
          <p:cNvSpPr/>
          <p:nvPr/>
        </p:nvSpPr>
        <p:spPr>
          <a:xfrm>
            <a:off x="6812280" y="1737360"/>
            <a:ext cx="4754880" cy="4425696"/>
          </a:xfrm>
          <a:prstGeom prst="roundRect">
            <a:avLst>
              <a:gd name="adj" fmla="val 1446"/>
            </a:avLst>
          </a:prstGeom>
          <a:solidFill>
            <a:srgbClr val="F1F5F9"/>
          </a:solidFill>
          <a:ln w="12700">
            <a:solidFill>
              <a:srgbClr val="CBD5E1"/>
            </a:solidFill>
            <a:prstDash val="solid"/>
          </a:ln>
        </p:spPr>
      </p:sp>
      <p:pic>
        <p:nvPicPr>
          <p:cNvPr id="18" name="Image 0" descr="c:\Antigravity\final-ltd\league_detail_pc.png">    </p:cNvPr>
          <p:cNvPicPr>
            <a:picLocks noChangeAspect="1"/>
          </p:cNvPicPr>
          <p:nvPr/>
        </p:nvPicPr>
        <p:blipFill>
          <a:blip r:embed="rId2"/>
          <a:stretch>
            <a:fillRect/>
          </a:stretch>
        </p:blipFill>
        <p:spPr>
          <a:xfrm>
            <a:off x="6903720" y="1828800"/>
            <a:ext cx="4572000" cy="424281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9F224E"/>
          </a:solidFill>
          <a:ln w="12700">
            <a:solidFill>
              <a:srgbClr val="9F224E"/>
            </a:solidFill>
            <a:prstDash val="solid"/>
          </a:ln>
        </p:spPr>
      </p:sp>
      <p:sp>
        <p:nvSpPr>
          <p:cNvPr id="3" name="Shape 1"/>
          <p:cNvSpPr/>
          <p:nvPr/>
        </p:nvSpPr>
        <p:spPr>
          <a:xfrm>
            <a:off x="0" y="82296"/>
            <a:ext cx="12191695" cy="914400"/>
          </a:xfrm>
          <a:prstGeom prst="rect">
            <a:avLst/>
          </a:prstGeom>
          <a:solidFill>
            <a:srgbClr val="FFFFFF"/>
          </a:solidFill>
          <a:ln w="10160">
            <a:solidFill>
              <a:srgbClr val="E2E8F0"/>
            </a:solidFill>
            <a:prstDash val="solid"/>
          </a:ln>
        </p:spPr>
      </p:sp>
      <p:sp>
        <p:nvSpPr>
          <p:cNvPr id="4" name="Shape 2"/>
          <p:cNvSpPr/>
          <p:nvPr/>
        </p:nvSpPr>
        <p:spPr>
          <a:xfrm>
            <a:off x="411480" y="201168"/>
            <a:ext cx="2834640" cy="329184"/>
          </a:xfrm>
          <a:prstGeom prst="roundRect">
            <a:avLst>
              <a:gd name="adj" fmla="val 16667"/>
            </a:avLst>
          </a:prstGeom>
          <a:solidFill>
            <a:srgbClr val="9F224E"/>
          </a:solidFill>
          <a:ln w="12700">
            <a:solidFill>
              <a:srgbClr val="9F224E"/>
            </a:solidFill>
            <a:prstDash val="solid"/>
          </a:ln>
        </p:spPr>
      </p:sp>
      <p:sp>
        <p:nvSpPr>
          <p:cNvPr id="5" name="Text 3"/>
          <p:cNvSpPr/>
          <p:nvPr/>
        </p:nvSpPr>
        <p:spPr>
          <a:xfrm>
            <a:off x="411480" y="201168"/>
            <a:ext cx="2834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HÀNH ĐỘNG 3 • KHỐI 4 / 4</a:t>
            </a:r>
            <a:endParaRPr lang="en-US" sz="1150" dirty="0"/>
          </a:p>
        </p:txBody>
      </p:sp>
      <p:sp>
        <p:nvSpPr>
          <p:cNvPr id="6" name="Text 4"/>
          <p:cNvSpPr/>
          <p:nvPr/>
        </p:nvSpPr>
        <p:spPr>
          <a:xfrm>
            <a:off x="3383280" y="146304"/>
            <a:ext cx="8412480" cy="420624"/>
          </a:xfrm>
          <a:prstGeom prst="rect">
            <a:avLst/>
          </a:prstGeom>
          <a:noFill/>
          <a:ln/>
        </p:spPr>
        <p:txBody>
          <a:bodyPr wrap="square" lIns="0" tIns="0" rIns="0" bIns="0" rtlCol="0" anchor="ctr"/>
          <a:lstStyle/>
          <a:p>
            <a:pPr algn="l" indent="0" marL="0">
              <a:buNone/>
            </a:pPr>
            <a:r>
              <a:rPr lang="en-US" sz="2000" b="1" dirty="0">
                <a:solidFill>
                  <a:srgbClr val="1E293B"/>
                </a:solidFill>
                <a:latin typeface="Arial" pitchFamily="34" charset="0"/>
                <a:ea typeface="Arial" pitchFamily="34" charset="-122"/>
                <a:cs typeface="Arial" pitchFamily="34" charset="-120"/>
              </a:rPr>
              <a:t>Hành động 3 (Hợp nhất 2 Trang cùng 1 Giải Đấu): KPI Mục tiêu</a:t>
            </a:r>
            <a:endParaRPr lang="en-US" sz="2000" dirty="0"/>
          </a:p>
        </p:txBody>
      </p:sp>
      <p:sp>
        <p:nvSpPr>
          <p:cNvPr id="7" name="Text 5"/>
          <p:cNvSpPr/>
          <p:nvPr/>
        </p:nvSpPr>
        <p:spPr>
          <a:xfrm>
            <a:off x="411480" y="594360"/>
            <a:ext cx="11338560" cy="329184"/>
          </a:xfrm>
          <a:prstGeom prst="rect">
            <a:avLst/>
          </a:prstGeom>
          <a:noFill/>
          <a:ln/>
        </p:spPr>
        <p:txBody>
          <a:bodyPr wrap="square" lIns="0" tIns="0" rIns="0" bIns="0" rtlCol="0" anchor="ctr"/>
          <a:lstStyle/>
          <a:p>
            <a:pPr algn="l" indent="0" marL="0">
              <a:buNone/>
            </a:pPr>
            <a:r>
              <a:rPr lang="en-US" sz="1250" i="1" dirty="0">
                <a:solidFill>
                  <a:srgbClr val="64748B"/>
                </a:solidFill>
                <a:latin typeface="Arial" pitchFamily="34" charset="0"/>
                <a:ea typeface="Arial" pitchFamily="34" charset="-122"/>
                <a:cs typeface="Arial" pitchFamily="34" charset="-120"/>
              </a:rPr>
              <a:t>Cam kết tăng trưởng +55.7% đến +62.4% Search Clicks cho 57 cụm giải đấu &amp; tăng 150K–200K PV bài viết/tháng</a:t>
            </a:r>
            <a:endParaRPr lang="en-US" sz="1250" dirty="0"/>
          </a:p>
        </p:txBody>
      </p:sp>
      <p:sp>
        <p:nvSpPr>
          <p:cNvPr id="8" name="Shape 6"/>
          <p:cNvSpPr/>
          <p:nvPr/>
        </p:nvSpPr>
        <p:spPr>
          <a:xfrm>
            <a:off x="0" y="6510528"/>
            <a:ext cx="12191695" cy="347472"/>
          </a:xfrm>
          <a:prstGeom prst="rect">
            <a:avLst/>
          </a:prstGeom>
          <a:solidFill>
            <a:srgbClr val="1E293B"/>
          </a:solidFill>
          <a:ln w="12700">
            <a:solidFill>
              <a:srgbClr val="1E293B"/>
            </a:solidFill>
            <a:prstDash val="solid"/>
          </a:ln>
        </p:spPr>
      </p:sp>
      <p:sp>
        <p:nvSpPr>
          <p:cNvPr id="9" name="Text 7"/>
          <p:cNvSpPr/>
          <p:nvPr/>
        </p:nvSpPr>
        <p:spPr>
          <a:xfrm>
            <a:off x="411480" y="6510528"/>
            <a:ext cx="8686800" cy="347472"/>
          </a:xfrm>
          <a:prstGeom prst="rect">
            <a:avLst/>
          </a:prstGeom>
          <a:noFill/>
          <a:ln/>
        </p:spPr>
        <p:txBody>
          <a:bodyPr wrap="square" lIns="0" tIns="0" rIns="0" bIns="0" rtlCol="0" anchor="ctr"/>
          <a:lstStyle/>
          <a:p>
            <a:pPr algn="l" indent="0" marL="0">
              <a:buNone/>
            </a:pPr>
            <a:r>
              <a:rPr lang="en-US" sz="1000" dirty="0">
                <a:solidFill>
                  <a:srgbClr val="CBD5E1"/>
                </a:solidFill>
                <a:latin typeface="Arial" pitchFamily="34" charset="0"/>
                <a:ea typeface="Arial" pitchFamily="34" charset="-122"/>
                <a:cs typeface="Arial" pitchFamily="34" charset="-120"/>
              </a:rPr>
              <a:t>VnExpress Thể Thao  |  Báo cáo Phân tích Vấn đề &amp; Giải pháp Cải tiến Trang Lịch Thi Đấu Bóng Đá</a:t>
            </a:r>
            <a:endParaRPr lang="en-US" sz="1000" dirty="0"/>
          </a:p>
        </p:txBody>
      </p:sp>
      <p:sp>
        <p:nvSpPr>
          <p:cNvPr id="10" name="Text 8"/>
          <p:cNvSpPr/>
          <p:nvPr/>
        </p:nvSpPr>
        <p:spPr>
          <a:xfrm>
            <a:off x="10058400" y="6510528"/>
            <a:ext cx="1719072"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Trang 17 / 19</a:t>
            </a:r>
            <a:endParaRPr lang="en-US" sz="1000" dirty="0"/>
          </a:p>
        </p:txBody>
      </p:sp>
      <p:sp>
        <p:nvSpPr>
          <p:cNvPr id="11" name="Shape 9"/>
          <p:cNvSpPr/>
          <p:nvPr/>
        </p:nvSpPr>
        <p:spPr>
          <a:xfrm>
            <a:off x="411480" y="1143000"/>
            <a:ext cx="11365992" cy="5193792"/>
          </a:xfrm>
          <a:prstGeom prst="roundRect">
            <a:avLst>
              <a:gd name="adj" fmla="val 1408"/>
            </a:avLst>
          </a:prstGeom>
          <a:solidFill>
            <a:srgbClr val="FFFFFF"/>
          </a:solidFill>
          <a:ln w="15240">
            <a:solidFill>
              <a:srgbClr val="CBD5E1"/>
            </a:solidFill>
            <a:prstDash val="solid"/>
          </a:ln>
        </p:spPr>
      </p:sp>
      <p:sp>
        <p:nvSpPr>
          <p:cNvPr id="12" name="Shape 10"/>
          <p:cNvSpPr/>
          <p:nvPr/>
        </p:nvSpPr>
        <p:spPr>
          <a:xfrm>
            <a:off x="411480" y="1143000"/>
            <a:ext cx="11365992" cy="475488"/>
          </a:xfrm>
          <a:prstGeom prst="roundRect">
            <a:avLst>
              <a:gd name="adj" fmla="val 15385"/>
            </a:avLst>
          </a:prstGeom>
          <a:solidFill>
            <a:srgbClr val="1E293B"/>
          </a:solidFill>
          <a:ln w="12700">
            <a:solidFill>
              <a:srgbClr val="1E293B"/>
            </a:solidFill>
            <a:prstDash val="solid"/>
          </a:ln>
        </p:spPr>
      </p:sp>
      <p:sp>
        <p:nvSpPr>
          <p:cNvPr id="13" name="Text 11"/>
          <p:cNvSpPr/>
          <p:nvPr/>
        </p:nvSpPr>
        <p:spPr>
          <a:xfrm>
            <a:off x="621792" y="1143000"/>
            <a:ext cx="10972800" cy="475488"/>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4. KPI DỰ KIẾN CỦA HÀNH ĐỘNG 3 (SAU 12 THÁNG TRIỂN KHAI)</a:t>
            </a:r>
            <a:endParaRPr lang="en-US" sz="1450" dirty="0"/>
          </a:p>
        </p:txBody>
      </p:sp>
      <p:sp>
        <p:nvSpPr>
          <p:cNvPr id="14" name="Shape 12"/>
          <p:cNvSpPr/>
          <p:nvPr/>
        </p:nvSpPr>
        <p:spPr>
          <a:xfrm>
            <a:off x="640080" y="1828800"/>
            <a:ext cx="3520440" cy="2057400"/>
          </a:xfrm>
          <a:prstGeom prst="roundRect">
            <a:avLst>
              <a:gd name="adj" fmla="val 3556"/>
            </a:avLst>
          </a:prstGeom>
          <a:solidFill>
            <a:srgbClr val="F1F5F9"/>
          </a:solidFill>
          <a:ln w="19050">
            <a:solidFill>
              <a:srgbClr val="CBD5E1"/>
            </a:solidFill>
            <a:prstDash val="solid"/>
          </a:ln>
        </p:spPr>
      </p:sp>
      <p:sp>
        <p:nvSpPr>
          <p:cNvPr id="15" name="Text 13"/>
          <p:cNvSpPr/>
          <p:nvPr/>
        </p:nvSpPr>
        <p:spPr>
          <a:xfrm>
            <a:off x="777240" y="1993392"/>
            <a:ext cx="3246120" cy="320040"/>
          </a:xfrm>
          <a:prstGeom prst="rect">
            <a:avLst/>
          </a:prstGeom>
          <a:noFill/>
          <a:ln/>
        </p:spPr>
        <p:txBody>
          <a:bodyPr wrap="square" lIns="0" tIns="0" rIns="0" bIns="0" rtlCol="0" anchor="ctr"/>
          <a:lstStyle/>
          <a:p>
            <a:pPr algn="ctr" indent="0" marL="0">
              <a:buNone/>
            </a:pPr>
            <a:r>
              <a:rPr lang="en-US" sz="1150" b="1" dirty="0">
                <a:solidFill>
                  <a:srgbClr val="64748B"/>
                </a:solidFill>
                <a:latin typeface="Arial" pitchFamily="34" charset="0"/>
                <a:ea typeface="Arial" pitchFamily="34" charset="-122"/>
                <a:cs typeface="Arial" pitchFamily="34" charset="-120"/>
              </a:rPr>
              <a:t>HIỆN TRẠNG BASELINE (15 THÁNG)</a:t>
            </a:r>
            <a:endParaRPr lang="en-US" sz="1150" dirty="0"/>
          </a:p>
        </p:txBody>
      </p:sp>
      <p:sp>
        <p:nvSpPr>
          <p:cNvPr id="16" name="Text 14"/>
          <p:cNvSpPr/>
          <p:nvPr/>
        </p:nvSpPr>
        <p:spPr>
          <a:xfrm>
            <a:off x="777240" y="2423160"/>
            <a:ext cx="3246120" cy="594360"/>
          </a:xfrm>
          <a:prstGeom prst="rect">
            <a:avLst/>
          </a:prstGeom>
          <a:noFill/>
          <a:ln/>
        </p:spPr>
        <p:txBody>
          <a:bodyPr wrap="square" lIns="0" tIns="0" rIns="0" bIns="0" rtlCol="0" anchor="ctr"/>
          <a:lstStyle/>
          <a:p>
            <a:pPr algn="ctr" indent="0" marL="0">
              <a:buNone/>
            </a:pPr>
            <a:r>
              <a:rPr lang="en-US" sz="2250" b="1" dirty="0">
                <a:solidFill>
                  <a:srgbClr val="1E293B"/>
                </a:solidFill>
                <a:latin typeface="Arial" pitchFamily="34" charset="0"/>
                <a:ea typeface="Arial" pitchFamily="34" charset="-122"/>
                <a:cs typeface="Arial" pitchFamily="34" charset="-120"/>
              </a:rPr>
              <a:t>60,500 / tháng</a:t>
            </a:r>
            <a:endParaRPr lang="en-US" sz="2250" dirty="0"/>
          </a:p>
        </p:txBody>
      </p:sp>
      <p:sp>
        <p:nvSpPr>
          <p:cNvPr id="17" name="Text 15"/>
          <p:cNvSpPr/>
          <p:nvPr/>
        </p:nvSpPr>
        <p:spPr>
          <a:xfrm>
            <a:off x="777240" y="3108960"/>
            <a:ext cx="3246120" cy="594360"/>
          </a:xfrm>
          <a:prstGeom prst="rect">
            <a:avLst/>
          </a:prstGeom>
          <a:noFill/>
          <a:ln/>
        </p:spPr>
        <p:txBody>
          <a:bodyPr wrap="square" lIns="0" tIns="0" rIns="0" bIns="0" rtlCol="0" anchor="ctr"/>
          <a:lstStyle/>
          <a:p>
            <a:pPr algn="ctr" indent="0" marL="0">
              <a:lnSpc>
                <a:spcPct val="115000"/>
              </a:lnSpc>
              <a:buNone/>
            </a:pPr>
            <a:r>
              <a:rPr lang="en-US" sz="1250" b="1" dirty="0">
                <a:solidFill>
                  <a:srgbClr val="1E293B"/>
                </a:solidFill>
                <a:latin typeface="Arial" pitchFamily="34" charset="0"/>
                <a:ea typeface="Arial" pitchFamily="34" charset="-122"/>
                <a:cs typeface="Arial" pitchFamily="34" charset="-120"/>
              </a:rPr>
              <a:t>Tổng 908,193 Clicks trong 15 tháng</a:t>
            </a:r>
            <a:endParaRPr lang="en-US" sz="1250" dirty="0"/>
          </a:p>
          <a:p>
            <a:pPr algn="ctr" indent="0" marL="0">
              <a:lnSpc>
                <a:spcPct val="115000"/>
              </a:lnSpc>
              <a:buNone/>
            </a:pPr>
            <a:r>
              <a:rPr lang="en-US" sz="1250" b="1" dirty="0">
                <a:solidFill>
                  <a:srgbClr val="1E293B"/>
                </a:solidFill>
                <a:latin typeface="Arial" pitchFamily="34" charset="0"/>
                <a:ea typeface="Arial" pitchFamily="34" charset="-122"/>
                <a:cs typeface="Arial" pitchFamily="34" charset="-120"/>
              </a:rPr>
              <a:t>(57 cụm giải đấu)</a:t>
            </a:r>
            <a:endParaRPr lang="en-US" sz="1250" dirty="0"/>
          </a:p>
        </p:txBody>
      </p:sp>
      <p:sp>
        <p:nvSpPr>
          <p:cNvPr id="18" name="Shape 16"/>
          <p:cNvSpPr/>
          <p:nvPr/>
        </p:nvSpPr>
        <p:spPr>
          <a:xfrm>
            <a:off x="4334256" y="1828800"/>
            <a:ext cx="3520440" cy="2057400"/>
          </a:xfrm>
          <a:prstGeom prst="roundRect">
            <a:avLst>
              <a:gd name="adj" fmla="val 3556"/>
            </a:avLst>
          </a:prstGeom>
          <a:solidFill>
            <a:srgbClr val="FDF2F6"/>
          </a:solidFill>
          <a:ln w="19050">
            <a:solidFill>
              <a:srgbClr val="E2A8BC"/>
            </a:solidFill>
            <a:prstDash val="solid"/>
          </a:ln>
        </p:spPr>
      </p:sp>
      <p:sp>
        <p:nvSpPr>
          <p:cNvPr id="19" name="Text 17"/>
          <p:cNvSpPr/>
          <p:nvPr/>
        </p:nvSpPr>
        <p:spPr>
          <a:xfrm>
            <a:off x="4471416" y="1993392"/>
            <a:ext cx="3246120" cy="320040"/>
          </a:xfrm>
          <a:prstGeom prst="rect">
            <a:avLst/>
          </a:prstGeom>
          <a:noFill/>
          <a:ln/>
        </p:spPr>
        <p:txBody>
          <a:bodyPr wrap="square" lIns="0" tIns="0" rIns="0" bIns="0" rtlCol="0" anchor="ctr"/>
          <a:lstStyle/>
          <a:p>
            <a:pPr algn="ctr" indent="0" marL="0">
              <a:buNone/>
            </a:pPr>
            <a:r>
              <a:rPr lang="en-US" sz="1150" b="1" dirty="0">
                <a:solidFill>
                  <a:srgbClr val="64748B"/>
                </a:solidFill>
                <a:latin typeface="Arial" pitchFamily="34" charset="0"/>
                <a:ea typeface="Arial" pitchFamily="34" charset="-122"/>
                <a:cs typeface="Arial" pitchFamily="34" charset="-120"/>
              </a:rPr>
              <a:t>DỰ BÁO ĐẠT ĐƯỢC SAU 12 THÁNG</a:t>
            </a:r>
            <a:endParaRPr lang="en-US" sz="1150" dirty="0"/>
          </a:p>
        </p:txBody>
      </p:sp>
      <p:sp>
        <p:nvSpPr>
          <p:cNvPr id="20" name="Text 18"/>
          <p:cNvSpPr/>
          <p:nvPr/>
        </p:nvSpPr>
        <p:spPr>
          <a:xfrm>
            <a:off x="4471416" y="2423160"/>
            <a:ext cx="3246120" cy="594360"/>
          </a:xfrm>
          <a:prstGeom prst="rect">
            <a:avLst/>
          </a:prstGeom>
          <a:noFill/>
          <a:ln/>
        </p:spPr>
        <p:txBody>
          <a:bodyPr wrap="square" lIns="0" tIns="0" rIns="0" bIns="0" rtlCol="0" anchor="ctr"/>
          <a:lstStyle/>
          <a:p>
            <a:pPr algn="ctr" indent="0" marL="0">
              <a:buNone/>
            </a:pPr>
            <a:r>
              <a:rPr lang="en-US" sz="2250" b="1" dirty="0">
                <a:solidFill>
                  <a:srgbClr val="9F224E"/>
                </a:solidFill>
                <a:latin typeface="Arial" pitchFamily="34" charset="0"/>
                <a:ea typeface="Arial" pitchFamily="34" charset="-122"/>
                <a:cs typeface="Arial" pitchFamily="34" charset="-120"/>
              </a:rPr>
              <a:t>94.2K – 98.0K / tháng</a:t>
            </a:r>
            <a:endParaRPr lang="en-US" sz="2250" dirty="0"/>
          </a:p>
        </p:txBody>
      </p:sp>
      <p:sp>
        <p:nvSpPr>
          <p:cNvPr id="21" name="Text 19"/>
          <p:cNvSpPr/>
          <p:nvPr/>
        </p:nvSpPr>
        <p:spPr>
          <a:xfrm>
            <a:off x="4471416" y="3108960"/>
            <a:ext cx="3246120" cy="594360"/>
          </a:xfrm>
          <a:prstGeom prst="rect">
            <a:avLst/>
          </a:prstGeom>
          <a:noFill/>
          <a:ln/>
        </p:spPr>
        <p:txBody>
          <a:bodyPr wrap="square" lIns="0" tIns="0" rIns="0" bIns="0" rtlCol="0" anchor="ctr"/>
          <a:lstStyle/>
          <a:p>
            <a:pPr algn="ctr" indent="0" marL="0">
              <a:lnSpc>
                <a:spcPct val="115000"/>
              </a:lnSpc>
              <a:buNone/>
            </a:pPr>
            <a:r>
              <a:rPr lang="en-US" sz="1250" b="1" dirty="0">
                <a:solidFill>
                  <a:srgbClr val="1E293B"/>
                </a:solidFill>
                <a:latin typeface="Arial" pitchFamily="34" charset="0"/>
                <a:ea typeface="Arial" pitchFamily="34" charset="-122"/>
                <a:cs typeface="Arial" pitchFamily="34" charset="-120"/>
              </a:rPr>
              <a:t>Tăng thêm +33,700 đến +38,000</a:t>
            </a:r>
            <a:endParaRPr lang="en-US" sz="1250" dirty="0"/>
          </a:p>
          <a:p>
            <a:pPr algn="ctr" indent="0" marL="0">
              <a:lnSpc>
                <a:spcPct val="115000"/>
              </a:lnSpc>
              <a:buNone/>
            </a:pPr>
            <a:r>
              <a:rPr lang="en-US" sz="1250" b="1" dirty="0">
                <a:solidFill>
                  <a:srgbClr val="1E293B"/>
                </a:solidFill>
                <a:latin typeface="Arial" pitchFamily="34" charset="0"/>
                <a:ea typeface="Arial" pitchFamily="34" charset="-122"/>
                <a:cs typeface="Arial" pitchFamily="34" charset="-120"/>
              </a:rPr>
              <a:t>Search Clicks mỗi tháng</a:t>
            </a:r>
            <a:endParaRPr lang="en-US" sz="1250" dirty="0"/>
          </a:p>
        </p:txBody>
      </p:sp>
      <p:sp>
        <p:nvSpPr>
          <p:cNvPr id="22" name="Shape 20"/>
          <p:cNvSpPr/>
          <p:nvPr/>
        </p:nvSpPr>
        <p:spPr>
          <a:xfrm>
            <a:off x="8028432" y="1828800"/>
            <a:ext cx="3520440" cy="2057400"/>
          </a:xfrm>
          <a:prstGeom prst="roundRect">
            <a:avLst>
              <a:gd name="adj" fmla="val 3556"/>
            </a:avLst>
          </a:prstGeom>
          <a:solidFill>
            <a:srgbClr val="FDF2F6"/>
          </a:solidFill>
          <a:ln w="19050">
            <a:solidFill>
              <a:srgbClr val="E2A8BC"/>
            </a:solidFill>
            <a:prstDash val="solid"/>
          </a:ln>
        </p:spPr>
      </p:sp>
      <p:sp>
        <p:nvSpPr>
          <p:cNvPr id="23" name="Text 21"/>
          <p:cNvSpPr/>
          <p:nvPr/>
        </p:nvSpPr>
        <p:spPr>
          <a:xfrm>
            <a:off x="8165592" y="1993392"/>
            <a:ext cx="3246120" cy="320040"/>
          </a:xfrm>
          <a:prstGeom prst="rect">
            <a:avLst/>
          </a:prstGeom>
          <a:noFill/>
          <a:ln/>
        </p:spPr>
        <p:txBody>
          <a:bodyPr wrap="square" lIns="0" tIns="0" rIns="0" bIns="0" rtlCol="0" anchor="ctr"/>
          <a:lstStyle/>
          <a:p>
            <a:pPr algn="ctr" indent="0" marL="0">
              <a:buNone/>
            </a:pPr>
            <a:r>
              <a:rPr lang="en-US" sz="1150" b="1" dirty="0">
                <a:solidFill>
                  <a:srgbClr val="64748B"/>
                </a:solidFill>
                <a:latin typeface="Arial" pitchFamily="34" charset="0"/>
                <a:ea typeface="Arial" pitchFamily="34" charset="-122"/>
                <a:cs typeface="Arial" pitchFamily="34" charset="-120"/>
              </a:rPr>
              <a:t>TỐC ĐỘ TĂNG TRƯỞNG &amp; PV CHÉO</a:t>
            </a:r>
            <a:endParaRPr lang="en-US" sz="1150" dirty="0"/>
          </a:p>
        </p:txBody>
      </p:sp>
      <p:sp>
        <p:nvSpPr>
          <p:cNvPr id="24" name="Text 22"/>
          <p:cNvSpPr/>
          <p:nvPr/>
        </p:nvSpPr>
        <p:spPr>
          <a:xfrm>
            <a:off x="8165592" y="2423160"/>
            <a:ext cx="3246120" cy="594360"/>
          </a:xfrm>
          <a:prstGeom prst="rect">
            <a:avLst/>
          </a:prstGeom>
          <a:noFill/>
          <a:ln/>
        </p:spPr>
        <p:txBody>
          <a:bodyPr wrap="square" lIns="0" tIns="0" rIns="0" bIns="0" rtlCol="0" anchor="ctr"/>
          <a:lstStyle/>
          <a:p>
            <a:pPr algn="ctr" indent="0" marL="0">
              <a:buNone/>
            </a:pPr>
            <a:r>
              <a:rPr lang="en-US" sz="2250" b="1" dirty="0">
                <a:solidFill>
                  <a:srgbClr val="9F224E"/>
                </a:solidFill>
                <a:latin typeface="Arial" pitchFamily="34" charset="0"/>
                <a:ea typeface="Arial" pitchFamily="34" charset="-122"/>
                <a:cs typeface="Arial" pitchFamily="34" charset="-120"/>
              </a:rPr>
              <a:t>+55.7% đến +62.4%</a:t>
            </a:r>
            <a:endParaRPr lang="en-US" sz="2250" dirty="0"/>
          </a:p>
        </p:txBody>
      </p:sp>
      <p:sp>
        <p:nvSpPr>
          <p:cNvPr id="25" name="Text 23"/>
          <p:cNvSpPr/>
          <p:nvPr/>
        </p:nvSpPr>
        <p:spPr>
          <a:xfrm>
            <a:off x="8165592" y="3108960"/>
            <a:ext cx="3246120" cy="594360"/>
          </a:xfrm>
          <a:prstGeom prst="rect">
            <a:avLst/>
          </a:prstGeom>
          <a:noFill/>
          <a:ln/>
        </p:spPr>
        <p:txBody>
          <a:bodyPr wrap="square" lIns="0" tIns="0" rIns="0" bIns="0" rtlCol="0" anchor="ctr"/>
          <a:lstStyle/>
          <a:p>
            <a:pPr algn="ctr" indent="0" marL="0">
              <a:lnSpc>
                <a:spcPct val="115000"/>
              </a:lnSpc>
              <a:buNone/>
            </a:pPr>
            <a:r>
              <a:rPr lang="en-US" sz="1250" b="1" dirty="0">
                <a:solidFill>
                  <a:srgbClr val="1E293B"/>
                </a:solidFill>
                <a:latin typeface="Arial" pitchFamily="34" charset="0"/>
                <a:ea typeface="Arial" pitchFamily="34" charset="-122"/>
                <a:cs typeface="Arial" pitchFamily="34" charset="-120"/>
              </a:rPr>
              <a:t>Cộng thêm +150,000 – 200,000</a:t>
            </a:r>
            <a:endParaRPr lang="en-US" sz="1250" dirty="0"/>
          </a:p>
          <a:p>
            <a:pPr algn="ctr" indent="0" marL="0">
              <a:lnSpc>
                <a:spcPct val="115000"/>
              </a:lnSpc>
              <a:buNone/>
            </a:pPr>
            <a:r>
              <a:rPr lang="en-US" sz="1250" b="1" dirty="0">
                <a:solidFill>
                  <a:srgbClr val="1E293B"/>
                </a:solidFill>
                <a:latin typeface="Arial" pitchFamily="34" charset="0"/>
                <a:ea typeface="Arial" pitchFamily="34" charset="-122"/>
                <a:cs typeface="Arial" pitchFamily="34" charset="-120"/>
              </a:rPr>
              <a:t>Pageviews bài viết / tháng</a:t>
            </a:r>
            <a:endParaRPr lang="en-US" sz="1250" dirty="0"/>
          </a:p>
        </p:txBody>
      </p:sp>
      <p:sp>
        <p:nvSpPr>
          <p:cNvPr id="26" name="Shape 24"/>
          <p:cNvSpPr/>
          <p:nvPr/>
        </p:nvSpPr>
        <p:spPr>
          <a:xfrm>
            <a:off x="640080" y="4114800"/>
            <a:ext cx="10908792" cy="1965960"/>
          </a:xfrm>
          <a:prstGeom prst="roundRect">
            <a:avLst>
              <a:gd name="adj" fmla="val 3721"/>
            </a:avLst>
          </a:prstGeom>
          <a:solidFill>
            <a:srgbClr val="F1F5F9"/>
          </a:solidFill>
          <a:ln w="15240">
            <a:solidFill>
              <a:srgbClr val="CBD5E1"/>
            </a:solidFill>
            <a:prstDash val="solid"/>
          </a:ln>
        </p:spPr>
      </p:sp>
      <p:sp>
        <p:nvSpPr>
          <p:cNvPr id="27" name="Text 25"/>
          <p:cNvSpPr/>
          <p:nvPr/>
        </p:nvSpPr>
        <p:spPr>
          <a:xfrm>
            <a:off x="868680" y="4251960"/>
            <a:ext cx="10424160" cy="347472"/>
          </a:xfrm>
          <a:prstGeom prst="rect">
            <a:avLst/>
          </a:prstGeom>
          <a:noFill/>
          <a:ln/>
        </p:spPr>
        <p:txBody>
          <a:bodyPr wrap="square" lIns="0" tIns="0" rIns="0" bIns="0" rtlCol="0" anchor="ctr"/>
          <a:lstStyle/>
          <a:p>
            <a:pPr indent="0" marL="0">
              <a:buNone/>
            </a:pPr>
            <a:r>
              <a:rPr lang="en-US" sz="1500" b="1" dirty="0">
                <a:solidFill>
                  <a:srgbClr val="9F224E"/>
                </a:solidFill>
                <a:latin typeface="Arial" pitchFamily="34" charset="0"/>
                <a:ea typeface="Arial" pitchFamily="34" charset="-122"/>
                <a:cs typeface="Arial" pitchFamily="34" charset="-120"/>
              </a:rPr>
              <a:t>ĐẶC ĐIỂM SERP &amp; ĐỘNG LỰC TĂNG TRƯỞNG CHÍNH CỦA HÀNH ĐỘNG 3:</a:t>
            </a:r>
            <a:endParaRPr lang="en-US" sz="1500" dirty="0"/>
          </a:p>
        </p:txBody>
      </p:sp>
      <p:sp>
        <p:nvSpPr>
          <p:cNvPr id="28" name="Text 26"/>
          <p:cNvSpPr/>
          <p:nvPr/>
        </p:nvSpPr>
        <p:spPr>
          <a:xfrm>
            <a:off x="868680" y="4663440"/>
            <a:ext cx="10424160" cy="1280160"/>
          </a:xfrm>
          <a:prstGeom prst="rect">
            <a:avLst/>
          </a:prstGeom>
          <a:noFill/>
          <a:ln/>
        </p:spPr>
        <p:txBody>
          <a:bodyPr wrap="square" lIns="0" tIns="0" rIns="0" bIns="0" rtlCol="0" anchor="t"/>
          <a:lstStyle/>
          <a:p>
            <a:pPr indent="0" marL="0">
              <a:lnSpc>
                <a:spcPct val="122000"/>
              </a:lnSpc>
              <a:buNone/>
            </a:pPr>
            <a:r>
              <a:rPr lang="en-US" sz="1380" b="1" dirty="0">
                <a:solidFill>
                  <a:srgbClr val="1E293B"/>
                </a:solidFill>
                <a:latin typeface="Arial" pitchFamily="34" charset="0"/>
                <a:ea typeface="Arial" pitchFamily="34" charset="-122"/>
                <a:cs typeface="Arial" pitchFamily="34" charset="-120"/>
              </a:rPr>
              <a:t>• Lớp trang tác động: </a:t>
            </a:r>
            <a:pPr indent="0" marL="0">
              <a:lnSpc>
                <a:spcPct val="122000"/>
              </a:lnSpc>
              <a:buNone/>
            </a:pPr>
            <a:r>
              <a:rPr lang="en-US" sz="1380" b="1" dirty="0">
                <a:solidFill>
                  <a:srgbClr val="9F224E"/>
                </a:solidFill>
                <a:latin typeface="Arial" pitchFamily="34" charset="0"/>
                <a:ea typeface="Arial" pitchFamily="34" charset="-122"/>
                <a:cs typeface="Arial" pitchFamily="34" charset="-120"/>
              </a:rPr>
              <a:t>Hệ thống 57 cụm giải đấu (/the-thao/du-lieu-bong-da/giai-dau/[giai]/...).
</a:t>
            </a:r>
            <a:pPr indent="0" marL="0">
              <a:lnSpc>
                <a:spcPct val="122000"/>
              </a:lnSpc>
              <a:buNone/>
            </a:pPr>
            <a:r>
              <a:rPr lang="en-US" sz="1380" b="1" dirty="0">
                <a:solidFill>
                  <a:srgbClr val="1E293B"/>
                </a:solidFill>
                <a:latin typeface="Arial" pitchFamily="34" charset="0"/>
                <a:ea typeface="Arial" pitchFamily="34" charset="-122"/>
                <a:cs typeface="Arial" pitchFamily="34" charset="-120"/>
              </a:rPr>
              <a:t>• Đặc điểm SERP: </a:t>
            </a:r>
            <a:pPr indent="0" marL="0">
              <a:lnSpc>
                <a:spcPct val="122000"/>
              </a:lnSpc>
              <a:buNone/>
            </a:pPr>
            <a:r>
              <a:rPr lang="en-US" sz="1380" dirty="0">
                <a:solidFill>
                  <a:srgbClr val="334155"/>
                </a:solidFill>
                <a:latin typeface="Arial" pitchFamily="34" charset="0"/>
                <a:ea typeface="Arial" pitchFamily="34" charset="-122"/>
                <a:cs typeface="Arial" pitchFamily="34" charset="-120"/>
              </a:rPr>
              <a:t>Có Google OneBox (tỷ lệ Zero-click ~70%). Việc hợp nhất PageRank từ trang chuyên mục tin tức + tách rõ các URL con (/bang-xep-hang, /ket-qua, /lich-thi-dau) giúp VnExpress độc chiếm Top 1–2 ngay dưới OneBox.
</a:t>
            </a:r>
            <a:pPr indent="0" marL="0">
              <a:lnSpc>
                <a:spcPct val="122000"/>
              </a:lnSpc>
              <a:buNone/>
            </a:pPr>
            <a:r>
              <a:rPr lang="en-US" sz="1380" b="1" dirty="0">
                <a:solidFill>
                  <a:srgbClr val="1E293B"/>
                </a:solidFill>
                <a:latin typeface="Arial" pitchFamily="34" charset="0"/>
                <a:ea typeface="Arial" pitchFamily="34" charset="-122"/>
                <a:cs typeface="Arial" pitchFamily="34" charset="-120"/>
              </a:rPr>
              <a:t>• Tối ưu vòng lặp độc giả: </a:t>
            </a:r>
            <a:pPr indent="0" marL="0">
              <a:lnSpc>
                <a:spcPct val="122000"/>
              </a:lnSpc>
              <a:buNone/>
            </a:pPr>
            <a:r>
              <a:rPr lang="en-US" sz="1380" b="1" dirty="0">
                <a:solidFill>
                  <a:srgbClr val="1E293B"/>
                </a:solidFill>
                <a:latin typeface="Arial" pitchFamily="34" charset="0"/>
                <a:ea typeface="Arial" pitchFamily="34" charset="-122"/>
                <a:cs typeface="Arial" pitchFamily="34" charset="-120"/>
              </a:rPr>
              <a:t>Giữ chân người xem dữ liệu đọc tiếp tin bài ngay trên cùng trang giải đấu (+150K – 200K PV bài viết/tháng).</a:t>
            </a:r>
            <a:endParaRPr lang="en-US" sz="13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9F224E"/>
          </a:solidFill>
          <a:ln w="12700">
            <a:solidFill>
              <a:srgbClr val="9F224E"/>
            </a:solidFill>
            <a:prstDash val="solid"/>
          </a:ln>
        </p:spPr>
      </p:sp>
      <p:sp>
        <p:nvSpPr>
          <p:cNvPr id="3" name="Shape 1"/>
          <p:cNvSpPr/>
          <p:nvPr/>
        </p:nvSpPr>
        <p:spPr>
          <a:xfrm>
            <a:off x="0" y="82296"/>
            <a:ext cx="12191695" cy="914400"/>
          </a:xfrm>
          <a:prstGeom prst="rect">
            <a:avLst/>
          </a:prstGeom>
          <a:solidFill>
            <a:srgbClr val="FFFFFF"/>
          </a:solidFill>
          <a:ln w="10160">
            <a:solidFill>
              <a:srgbClr val="E2E8F0"/>
            </a:solidFill>
            <a:prstDash val="solid"/>
          </a:ln>
        </p:spPr>
      </p:sp>
      <p:sp>
        <p:nvSpPr>
          <p:cNvPr id="4" name="Shape 2"/>
          <p:cNvSpPr/>
          <p:nvPr/>
        </p:nvSpPr>
        <p:spPr>
          <a:xfrm>
            <a:off x="411480" y="201168"/>
            <a:ext cx="2834640" cy="329184"/>
          </a:xfrm>
          <a:prstGeom prst="roundRect">
            <a:avLst>
              <a:gd name="adj" fmla="val 16667"/>
            </a:avLst>
          </a:prstGeom>
          <a:solidFill>
            <a:srgbClr val="9F224E"/>
          </a:solidFill>
          <a:ln w="12700">
            <a:solidFill>
              <a:srgbClr val="9F224E"/>
            </a:solidFill>
            <a:prstDash val="solid"/>
          </a:ln>
        </p:spPr>
      </p:sp>
      <p:sp>
        <p:nvSpPr>
          <p:cNvPr id="5" name="Text 3"/>
          <p:cNvSpPr/>
          <p:nvPr/>
        </p:nvSpPr>
        <p:spPr>
          <a:xfrm>
            <a:off x="411480" y="201168"/>
            <a:ext cx="2834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TỔNG HỢP KPI • PHẦN 1 / 2</a:t>
            </a:r>
            <a:endParaRPr lang="en-US" sz="1150" dirty="0"/>
          </a:p>
        </p:txBody>
      </p:sp>
      <p:sp>
        <p:nvSpPr>
          <p:cNvPr id="6" name="Text 4"/>
          <p:cNvSpPr/>
          <p:nvPr/>
        </p:nvSpPr>
        <p:spPr>
          <a:xfrm>
            <a:off x="3383280" y="146304"/>
            <a:ext cx="8412480" cy="420624"/>
          </a:xfrm>
          <a:prstGeom prst="rect">
            <a:avLst/>
          </a:prstGeom>
          <a:noFill/>
          <a:ln/>
        </p:spPr>
        <p:txBody>
          <a:bodyPr wrap="square" lIns="0" tIns="0" rIns="0" bIns="0" rtlCol="0" anchor="ctr"/>
          <a:lstStyle/>
          <a:p>
            <a:pPr algn="l" indent="0" marL="0">
              <a:buNone/>
            </a:pPr>
            <a:r>
              <a:rPr lang="en-US" sz="2000" b="1" dirty="0">
                <a:solidFill>
                  <a:srgbClr val="1E293B"/>
                </a:solidFill>
                <a:latin typeface="Arial" pitchFamily="34" charset="0"/>
                <a:ea typeface="Arial" pitchFamily="34" charset="-122"/>
                <a:cs typeface="Arial" pitchFamily="34" charset="-120"/>
              </a:rPr>
              <a:t>Lộ trình Tăng trưởng Search Clicks Toàn trang sau 12 Tháng (+100%)</a:t>
            </a:r>
            <a:endParaRPr lang="en-US" sz="2000" dirty="0"/>
          </a:p>
        </p:txBody>
      </p:sp>
      <p:sp>
        <p:nvSpPr>
          <p:cNvPr id="7" name="Text 5"/>
          <p:cNvSpPr/>
          <p:nvPr/>
        </p:nvSpPr>
        <p:spPr>
          <a:xfrm>
            <a:off x="411480" y="594360"/>
            <a:ext cx="11338560" cy="329184"/>
          </a:xfrm>
          <a:prstGeom prst="rect">
            <a:avLst/>
          </a:prstGeom>
          <a:noFill/>
          <a:ln/>
        </p:spPr>
        <p:txBody>
          <a:bodyPr wrap="square" lIns="0" tIns="0" rIns="0" bIns="0" rtlCol="0" anchor="ctr"/>
          <a:lstStyle/>
          <a:p>
            <a:pPr algn="l" indent="0" marL="0">
              <a:buNone/>
            </a:pPr>
            <a:r>
              <a:rPr lang="en-US" sz="1250" i="1" dirty="0">
                <a:solidFill>
                  <a:srgbClr val="64748B"/>
                </a:solidFill>
                <a:latin typeface="Arial" pitchFamily="34" charset="0"/>
                <a:ea typeface="Arial" pitchFamily="34" charset="-122"/>
                <a:cs typeface="Arial" pitchFamily="34" charset="-120"/>
              </a:rPr>
              <a:t>Chỉ số Search Clicks hiện tại sau 15 tháng gần nhất: 1,304,558 clicks (tức trung bình 86.7K clicks/tháng)</a:t>
            </a:r>
            <a:endParaRPr lang="en-US" sz="1250" dirty="0"/>
          </a:p>
        </p:txBody>
      </p:sp>
      <p:sp>
        <p:nvSpPr>
          <p:cNvPr id="8" name="Shape 6"/>
          <p:cNvSpPr/>
          <p:nvPr/>
        </p:nvSpPr>
        <p:spPr>
          <a:xfrm>
            <a:off x="0" y="6510528"/>
            <a:ext cx="12191695" cy="347472"/>
          </a:xfrm>
          <a:prstGeom prst="rect">
            <a:avLst/>
          </a:prstGeom>
          <a:solidFill>
            <a:srgbClr val="1E293B"/>
          </a:solidFill>
          <a:ln w="12700">
            <a:solidFill>
              <a:srgbClr val="1E293B"/>
            </a:solidFill>
            <a:prstDash val="solid"/>
          </a:ln>
        </p:spPr>
      </p:sp>
      <p:sp>
        <p:nvSpPr>
          <p:cNvPr id="9" name="Text 7"/>
          <p:cNvSpPr/>
          <p:nvPr/>
        </p:nvSpPr>
        <p:spPr>
          <a:xfrm>
            <a:off x="411480" y="6510528"/>
            <a:ext cx="8686800" cy="347472"/>
          </a:xfrm>
          <a:prstGeom prst="rect">
            <a:avLst/>
          </a:prstGeom>
          <a:noFill/>
          <a:ln/>
        </p:spPr>
        <p:txBody>
          <a:bodyPr wrap="square" lIns="0" tIns="0" rIns="0" bIns="0" rtlCol="0" anchor="ctr"/>
          <a:lstStyle/>
          <a:p>
            <a:pPr algn="l" indent="0" marL="0">
              <a:buNone/>
            </a:pPr>
            <a:r>
              <a:rPr lang="en-US" sz="1000" dirty="0">
                <a:solidFill>
                  <a:srgbClr val="CBD5E1"/>
                </a:solidFill>
                <a:latin typeface="Arial" pitchFamily="34" charset="0"/>
                <a:ea typeface="Arial" pitchFamily="34" charset="-122"/>
                <a:cs typeface="Arial" pitchFamily="34" charset="-120"/>
              </a:rPr>
              <a:t>VnExpress Thể Thao  |  Báo cáo Phân tích Vấn đề &amp; Giải pháp Cải tiến Trang Lịch Thi Đấu Bóng Đá</a:t>
            </a:r>
            <a:endParaRPr lang="en-US" sz="1000" dirty="0"/>
          </a:p>
        </p:txBody>
      </p:sp>
      <p:sp>
        <p:nvSpPr>
          <p:cNvPr id="10" name="Text 8"/>
          <p:cNvSpPr/>
          <p:nvPr/>
        </p:nvSpPr>
        <p:spPr>
          <a:xfrm>
            <a:off x="10058400" y="6510528"/>
            <a:ext cx="1719072"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Trang 18 / 19</a:t>
            </a:r>
            <a:endParaRPr lang="en-US" sz="1000" dirty="0"/>
          </a:p>
        </p:txBody>
      </p:sp>
      <p:sp>
        <p:nvSpPr>
          <p:cNvPr id="11" name="Shape 9"/>
          <p:cNvSpPr/>
          <p:nvPr/>
        </p:nvSpPr>
        <p:spPr>
          <a:xfrm>
            <a:off x="411480" y="1143000"/>
            <a:ext cx="11365992" cy="5193792"/>
          </a:xfrm>
          <a:prstGeom prst="roundRect">
            <a:avLst>
              <a:gd name="adj" fmla="val 1408"/>
            </a:avLst>
          </a:prstGeom>
          <a:solidFill>
            <a:srgbClr val="FFFFFF"/>
          </a:solidFill>
          <a:ln w="15240">
            <a:solidFill>
              <a:srgbClr val="CBD5E1"/>
            </a:solidFill>
            <a:prstDash val="solid"/>
          </a:ln>
        </p:spPr>
      </p:sp>
      <p:sp>
        <p:nvSpPr>
          <p:cNvPr id="12" name="Shape 10"/>
          <p:cNvSpPr/>
          <p:nvPr/>
        </p:nvSpPr>
        <p:spPr>
          <a:xfrm>
            <a:off x="411480" y="1143000"/>
            <a:ext cx="11365992" cy="475488"/>
          </a:xfrm>
          <a:prstGeom prst="roundRect">
            <a:avLst>
              <a:gd name="adj" fmla="val 15385"/>
            </a:avLst>
          </a:prstGeom>
          <a:solidFill>
            <a:srgbClr val="1E293B"/>
          </a:solidFill>
          <a:ln w="12700">
            <a:solidFill>
              <a:srgbClr val="1E293B"/>
            </a:solidFill>
            <a:prstDash val="solid"/>
          </a:ln>
        </p:spPr>
      </p:sp>
      <p:sp>
        <p:nvSpPr>
          <p:cNvPr id="13" name="Text 11"/>
          <p:cNvSpPr/>
          <p:nvPr/>
        </p:nvSpPr>
        <p:spPr>
          <a:xfrm>
            <a:off x="621792" y="1143000"/>
            <a:ext cx="10972800" cy="475488"/>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LỘ TRÌNH TĂNG TRƯỞNG SEARCH CLICKS TRUNG BÌNH THÁNG THEO TỪNG QUÝ (3 – 6 – 9 – 12 THÁNG)</a:t>
            </a:r>
            <a:endParaRPr lang="en-US" sz="1450" dirty="0"/>
          </a:p>
        </p:txBody>
      </p:sp>
      <p:sp>
        <p:nvSpPr>
          <p:cNvPr id="14" name="Shape 12"/>
          <p:cNvSpPr/>
          <p:nvPr/>
        </p:nvSpPr>
        <p:spPr>
          <a:xfrm>
            <a:off x="621792" y="1874520"/>
            <a:ext cx="2084832" cy="2834640"/>
          </a:xfrm>
          <a:prstGeom prst="roundRect">
            <a:avLst>
              <a:gd name="adj" fmla="val 3509"/>
            </a:avLst>
          </a:prstGeom>
          <a:solidFill>
            <a:srgbClr val="F1F5F9"/>
          </a:solidFill>
          <a:ln w="19050">
            <a:solidFill>
              <a:srgbClr val="CBD5E1"/>
            </a:solidFill>
            <a:prstDash val="solid"/>
          </a:ln>
        </p:spPr>
      </p:sp>
      <p:sp>
        <p:nvSpPr>
          <p:cNvPr id="15" name="Shape 13"/>
          <p:cNvSpPr/>
          <p:nvPr/>
        </p:nvSpPr>
        <p:spPr>
          <a:xfrm>
            <a:off x="749808" y="2020824"/>
            <a:ext cx="1828800" cy="347472"/>
          </a:xfrm>
          <a:prstGeom prst="roundRect">
            <a:avLst>
              <a:gd name="adj" fmla="val 15789"/>
            </a:avLst>
          </a:prstGeom>
          <a:solidFill>
            <a:srgbClr val="1E293B"/>
          </a:solidFill>
          <a:ln w="12700">
            <a:solidFill>
              <a:srgbClr val="1E293B"/>
            </a:solidFill>
            <a:prstDash val="solid"/>
          </a:ln>
        </p:spPr>
      </p:sp>
      <p:sp>
        <p:nvSpPr>
          <p:cNvPr id="16" name="Text 14"/>
          <p:cNvSpPr/>
          <p:nvPr/>
        </p:nvSpPr>
        <p:spPr>
          <a:xfrm>
            <a:off x="749808" y="2020824"/>
            <a:ext cx="182880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HIỆN TRẠNG</a:t>
            </a:r>
            <a:endParaRPr lang="en-US" sz="1150" dirty="0"/>
          </a:p>
        </p:txBody>
      </p:sp>
      <p:sp>
        <p:nvSpPr>
          <p:cNvPr id="17" name="Text 15"/>
          <p:cNvSpPr/>
          <p:nvPr/>
        </p:nvSpPr>
        <p:spPr>
          <a:xfrm>
            <a:off x="713232" y="2496312"/>
            <a:ext cx="1901952" cy="329184"/>
          </a:xfrm>
          <a:prstGeom prst="rect">
            <a:avLst/>
          </a:prstGeom>
          <a:noFill/>
          <a:ln/>
        </p:spPr>
        <p:txBody>
          <a:bodyPr wrap="square" lIns="0" tIns="0" rIns="0" bIns="0" rtlCol="0" anchor="ctr"/>
          <a:lstStyle/>
          <a:p>
            <a:pPr algn="ctr" indent="0" marL="0">
              <a:buNone/>
            </a:pPr>
            <a:r>
              <a:rPr lang="en-US" sz="1500" b="1" dirty="0">
                <a:solidFill>
                  <a:srgbClr val="9F224E"/>
                </a:solidFill>
                <a:latin typeface="Arial" pitchFamily="34" charset="0"/>
                <a:ea typeface="Arial" pitchFamily="34" charset="-122"/>
                <a:cs typeface="Arial" pitchFamily="34" charset="-120"/>
              </a:rPr>
              <a:t>Baseline 15T</a:t>
            </a:r>
            <a:endParaRPr lang="en-US" sz="1500" dirty="0"/>
          </a:p>
        </p:txBody>
      </p:sp>
      <p:sp>
        <p:nvSpPr>
          <p:cNvPr id="18" name="Text 16"/>
          <p:cNvSpPr/>
          <p:nvPr/>
        </p:nvSpPr>
        <p:spPr>
          <a:xfrm>
            <a:off x="713232" y="2898648"/>
            <a:ext cx="1901952" cy="594360"/>
          </a:xfrm>
          <a:prstGeom prst="rect">
            <a:avLst/>
          </a:prstGeom>
          <a:noFill/>
          <a:ln/>
        </p:spPr>
        <p:txBody>
          <a:bodyPr wrap="square" lIns="0" tIns="0" rIns="0" bIns="0" rtlCol="0" anchor="ctr"/>
          <a:lstStyle/>
          <a:p>
            <a:pPr algn="ctr" indent="0" marL="0">
              <a:buNone/>
            </a:pPr>
            <a:r>
              <a:rPr lang="en-US" sz="2800" b="1" dirty="0">
                <a:solidFill>
                  <a:srgbClr val="1E293B"/>
                </a:solidFill>
                <a:latin typeface="Arial" pitchFamily="34" charset="0"/>
                <a:ea typeface="Arial" pitchFamily="34" charset="-122"/>
                <a:cs typeface="Arial" pitchFamily="34" charset="-120"/>
              </a:rPr>
              <a:t>86.7K</a:t>
            </a:r>
            <a:endParaRPr lang="en-US" sz="2800" dirty="0"/>
          </a:p>
        </p:txBody>
      </p:sp>
      <p:sp>
        <p:nvSpPr>
          <p:cNvPr id="19" name="Text 17"/>
          <p:cNvSpPr/>
          <p:nvPr/>
        </p:nvSpPr>
        <p:spPr>
          <a:xfrm>
            <a:off x="713232" y="3502152"/>
            <a:ext cx="1901952" cy="274320"/>
          </a:xfrm>
          <a:prstGeom prst="rect">
            <a:avLst/>
          </a:prstGeom>
          <a:noFill/>
          <a:ln/>
        </p:spPr>
        <p:txBody>
          <a:bodyPr wrap="square" lIns="0" tIns="0" rIns="0" bIns="0" rtlCol="0" anchor="ctr"/>
          <a:lstStyle/>
          <a:p>
            <a:pPr algn="ctr" indent="0" marL="0">
              <a:buNone/>
            </a:pPr>
            <a:r>
              <a:rPr lang="en-US" sz="1250" b="1" dirty="0">
                <a:solidFill>
                  <a:srgbClr val="64748B"/>
                </a:solidFill>
                <a:latin typeface="Arial" pitchFamily="34" charset="0"/>
                <a:ea typeface="Arial" pitchFamily="34" charset="-122"/>
                <a:cs typeface="Arial" pitchFamily="34" charset="-120"/>
              </a:rPr>
              <a:t>clicks / tháng</a:t>
            </a:r>
            <a:endParaRPr lang="en-US" sz="1250" dirty="0"/>
          </a:p>
        </p:txBody>
      </p:sp>
      <p:sp>
        <p:nvSpPr>
          <p:cNvPr id="20" name="Text 18"/>
          <p:cNvSpPr/>
          <p:nvPr/>
        </p:nvSpPr>
        <p:spPr>
          <a:xfrm>
            <a:off x="713232" y="3904488"/>
            <a:ext cx="1901952" cy="621792"/>
          </a:xfrm>
          <a:prstGeom prst="rect">
            <a:avLst/>
          </a:prstGeom>
          <a:noFill/>
          <a:ln/>
        </p:spPr>
        <p:txBody>
          <a:bodyPr wrap="square" lIns="0" tIns="0" rIns="0" bIns="0" rtlCol="0" anchor="t"/>
          <a:lstStyle/>
          <a:p>
            <a:pPr algn="ctr" indent="0" marL="0">
              <a:lnSpc>
                <a:spcPct val="118000"/>
              </a:lnSpc>
              <a:buNone/>
            </a:pPr>
            <a:r>
              <a:rPr lang="en-US" sz="1150" b="1" dirty="0">
                <a:solidFill>
                  <a:srgbClr val="334155"/>
                </a:solidFill>
                <a:latin typeface="Arial" pitchFamily="34" charset="0"/>
                <a:ea typeface="Arial" pitchFamily="34" charset="-122"/>
                <a:cs typeface="Arial" pitchFamily="34" charset="-120"/>
              </a:rPr>
              <a:t>Tổng 1,304,558 clicks</a:t>
            </a:r>
            <a:endParaRPr lang="en-US" sz="1150" dirty="0"/>
          </a:p>
          <a:p>
            <a:pPr algn="ctr" indent="0" marL="0">
              <a:lnSpc>
                <a:spcPct val="118000"/>
              </a:lnSpc>
              <a:buNone/>
            </a:pPr>
            <a:r>
              <a:rPr lang="en-US" sz="1150" b="1" dirty="0">
                <a:solidFill>
                  <a:srgbClr val="334155"/>
                </a:solidFill>
                <a:latin typeface="Arial" pitchFamily="34" charset="0"/>
                <a:ea typeface="Arial" pitchFamily="34" charset="-122"/>
                <a:cs typeface="Arial" pitchFamily="34" charset="-120"/>
              </a:rPr>
              <a:t>trong 15 tháng qua</a:t>
            </a:r>
            <a:endParaRPr lang="en-US" sz="1150" dirty="0"/>
          </a:p>
        </p:txBody>
      </p:sp>
      <p:sp>
        <p:nvSpPr>
          <p:cNvPr id="21" name="Shape 19"/>
          <p:cNvSpPr/>
          <p:nvPr/>
        </p:nvSpPr>
        <p:spPr>
          <a:xfrm>
            <a:off x="2834640" y="1874520"/>
            <a:ext cx="2084832" cy="2834640"/>
          </a:xfrm>
          <a:prstGeom prst="roundRect">
            <a:avLst>
              <a:gd name="adj" fmla="val 3509"/>
            </a:avLst>
          </a:prstGeom>
          <a:solidFill>
            <a:srgbClr val="F1F5F9"/>
          </a:solidFill>
          <a:ln w="19050">
            <a:solidFill>
              <a:srgbClr val="CBD5E1"/>
            </a:solidFill>
            <a:prstDash val="solid"/>
          </a:ln>
        </p:spPr>
      </p:sp>
      <p:sp>
        <p:nvSpPr>
          <p:cNvPr id="22" name="Shape 20"/>
          <p:cNvSpPr/>
          <p:nvPr/>
        </p:nvSpPr>
        <p:spPr>
          <a:xfrm>
            <a:off x="2962656" y="2020824"/>
            <a:ext cx="1828800" cy="347472"/>
          </a:xfrm>
          <a:prstGeom prst="roundRect">
            <a:avLst>
              <a:gd name="adj" fmla="val 15789"/>
            </a:avLst>
          </a:prstGeom>
          <a:solidFill>
            <a:srgbClr val="1E293B"/>
          </a:solidFill>
          <a:ln w="12700">
            <a:solidFill>
              <a:srgbClr val="1E293B"/>
            </a:solidFill>
            <a:prstDash val="solid"/>
          </a:ln>
        </p:spPr>
      </p:sp>
      <p:sp>
        <p:nvSpPr>
          <p:cNvPr id="23" name="Text 21"/>
          <p:cNvSpPr/>
          <p:nvPr/>
        </p:nvSpPr>
        <p:spPr>
          <a:xfrm>
            <a:off x="2962656" y="2020824"/>
            <a:ext cx="182880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SAU 3 THÁNG</a:t>
            </a:r>
            <a:endParaRPr lang="en-US" sz="1150" dirty="0"/>
          </a:p>
        </p:txBody>
      </p:sp>
      <p:sp>
        <p:nvSpPr>
          <p:cNvPr id="24" name="Text 22"/>
          <p:cNvSpPr/>
          <p:nvPr/>
        </p:nvSpPr>
        <p:spPr>
          <a:xfrm>
            <a:off x="2926080" y="2496312"/>
            <a:ext cx="1901952" cy="329184"/>
          </a:xfrm>
          <a:prstGeom prst="rect">
            <a:avLst/>
          </a:prstGeom>
          <a:noFill/>
          <a:ln/>
        </p:spPr>
        <p:txBody>
          <a:bodyPr wrap="square" lIns="0" tIns="0" rIns="0" bIns="0" rtlCol="0" anchor="ctr"/>
          <a:lstStyle/>
          <a:p>
            <a:pPr algn="ctr" indent="0" marL="0">
              <a:buNone/>
            </a:pPr>
            <a:r>
              <a:rPr lang="en-US" sz="1500" b="1" dirty="0">
                <a:solidFill>
                  <a:srgbClr val="9F224E"/>
                </a:solidFill>
                <a:latin typeface="Arial" pitchFamily="34" charset="0"/>
                <a:ea typeface="Arial" pitchFamily="34" charset="-122"/>
                <a:cs typeface="Arial" pitchFamily="34" charset="-120"/>
              </a:rPr>
              <a:t>Tăng +15%</a:t>
            </a:r>
            <a:endParaRPr lang="en-US" sz="1500" dirty="0"/>
          </a:p>
        </p:txBody>
      </p:sp>
      <p:sp>
        <p:nvSpPr>
          <p:cNvPr id="25" name="Text 23"/>
          <p:cNvSpPr/>
          <p:nvPr/>
        </p:nvSpPr>
        <p:spPr>
          <a:xfrm>
            <a:off x="2926080" y="2898648"/>
            <a:ext cx="1901952" cy="594360"/>
          </a:xfrm>
          <a:prstGeom prst="rect">
            <a:avLst/>
          </a:prstGeom>
          <a:noFill/>
          <a:ln/>
        </p:spPr>
        <p:txBody>
          <a:bodyPr wrap="square" lIns="0" tIns="0" rIns="0" bIns="0" rtlCol="0" anchor="ctr"/>
          <a:lstStyle/>
          <a:p>
            <a:pPr algn="ctr" indent="0" marL="0">
              <a:buNone/>
            </a:pPr>
            <a:r>
              <a:rPr lang="en-US" sz="2800" b="1" dirty="0">
                <a:solidFill>
                  <a:srgbClr val="1E293B"/>
                </a:solidFill>
                <a:latin typeface="Arial" pitchFamily="34" charset="0"/>
                <a:ea typeface="Arial" pitchFamily="34" charset="-122"/>
                <a:cs typeface="Arial" pitchFamily="34" charset="-120"/>
              </a:rPr>
              <a:t>100K</a:t>
            </a:r>
            <a:endParaRPr lang="en-US" sz="2800" dirty="0"/>
          </a:p>
        </p:txBody>
      </p:sp>
      <p:sp>
        <p:nvSpPr>
          <p:cNvPr id="26" name="Text 24"/>
          <p:cNvSpPr/>
          <p:nvPr/>
        </p:nvSpPr>
        <p:spPr>
          <a:xfrm>
            <a:off x="2926080" y="3502152"/>
            <a:ext cx="1901952" cy="274320"/>
          </a:xfrm>
          <a:prstGeom prst="rect">
            <a:avLst/>
          </a:prstGeom>
          <a:noFill/>
          <a:ln/>
        </p:spPr>
        <p:txBody>
          <a:bodyPr wrap="square" lIns="0" tIns="0" rIns="0" bIns="0" rtlCol="0" anchor="ctr"/>
          <a:lstStyle/>
          <a:p>
            <a:pPr algn="ctr" indent="0" marL="0">
              <a:buNone/>
            </a:pPr>
            <a:r>
              <a:rPr lang="en-US" sz="1250" b="1" dirty="0">
                <a:solidFill>
                  <a:srgbClr val="64748B"/>
                </a:solidFill>
                <a:latin typeface="Arial" pitchFamily="34" charset="0"/>
                <a:ea typeface="Arial" pitchFamily="34" charset="-122"/>
                <a:cs typeface="Arial" pitchFamily="34" charset="-120"/>
              </a:rPr>
              <a:t>clicks / tháng</a:t>
            </a:r>
            <a:endParaRPr lang="en-US" sz="1250" dirty="0"/>
          </a:p>
        </p:txBody>
      </p:sp>
      <p:sp>
        <p:nvSpPr>
          <p:cNvPr id="27" name="Text 25"/>
          <p:cNvSpPr/>
          <p:nvPr/>
        </p:nvSpPr>
        <p:spPr>
          <a:xfrm>
            <a:off x="2926080" y="3904488"/>
            <a:ext cx="1901952" cy="621792"/>
          </a:xfrm>
          <a:prstGeom prst="rect">
            <a:avLst/>
          </a:prstGeom>
          <a:noFill/>
          <a:ln/>
        </p:spPr>
        <p:txBody>
          <a:bodyPr wrap="square" lIns="0" tIns="0" rIns="0" bIns="0" rtlCol="0" anchor="t"/>
          <a:lstStyle/>
          <a:p>
            <a:pPr algn="ctr" indent="0" marL="0">
              <a:lnSpc>
                <a:spcPct val="118000"/>
              </a:lnSpc>
              <a:buNone/>
            </a:pPr>
            <a:r>
              <a:rPr lang="en-US" sz="1150" b="1" dirty="0">
                <a:solidFill>
                  <a:srgbClr val="334155"/>
                </a:solidFill>
                <a:latin typeface="Arial" pitchFamily="34" charset="0"/>
                <a:ea typeface="Arial" pitchFamily="34" charset="-122"/>
                <a:cs typeface="Arial" pitchFamily="34" charset="-120"/>
              </a:rPr>
              <a:t>Tăng thêm +13.3K</a:t>
            </a:r>
            <a:endParaRPr lang="en-US" sz="1150" dirty="0"/>
          </a:p>
          <a:p>
            <a:pPr algn="ctr" indent="0" marL="0">
              <a:lnSpc>
                <a:spcPct val="118000"/>
              </a:lnSpc>
              <a:buNone/>
            </a:pPr>
            <a:r>
              <a:rPr lang="en-US" sz="1150" b="1" dirty="0">
                <a:solidFill>
                  <a:srgbClr val="334155"/>
                </a:solidFill>
                <a:latin typeface="Arial" pitchFamily="34" charset="0"/>
                <a:ea typeface="Arial" pitchFamily="34" charset="-122"/>
                <a:cs typeface="Arial" pitchFamily="34" charset="-120"/>
              </a:rPr>
              <a:t>clicks / tháng</a:t>
            </a:r>
            <a:endParaRPr lang="en-US" sz="1150" dirty="0"/>
          </a:p>
        </p:txBody>
      </p:sp>
      <p:sp>
        <p:nvSpPr>
          <p:cNvPr id="28" name="Shape 26"/>
          <p:cNvSpPr/>
          <p:nvPr/>
        </p:nvSpPr>
        <p:spPr>
          <a:xfrm>
            <a:off x="5047488" y="1874520"/>
            <a:ext cx="2084832" cy="2834640"/>
          </a:xfrm>
          <a:prstGeom prst="roundRect">
            <a:avLst>
              <a:gd name="adj" fmla="val 3509"/>
            </a:avLst>
          </a:prstGeom>
          <a:solidFill>
            <a:srgbClr val="F1F5F9"/>
          </a:solidFill>
          <a:ln w="19050">
            <a:solidFill>
              <a:srgbClr val="CBD5E1"/>
            </a:solidFill>
            <a:prstDash val="solid"/>
          </a:ln>
        </p:spPr>
      </p:sp>
      <p:sp>
        <p:nvSpPr>
          <p:cNvPr id="29" name="Shape 27"/>
          <p:cNvSpPr/>
          <p:nvPr/>
        </p:nvSpPr>
        <p:spPr>
          <a:xfrm>
            <a:off x="5175504" y="2020824"/>
            <a:ext cx="1828800" cy="347472"/>
          </a:xfrm>
          <a:prstGeom prst="roundRect">
            <a:avLst>
              <a:gd name="adj" fmla="val 15789"/>
            </a:avLst>
          </a:prstGeom>
          <a:solidFill>
            <a:srgbClr val="1E293B"/>
          </a:solidFill>
          <a:ln w="12700">
            <a:solidFill>
              <a:srgbClr val="1E293B"/>
            </a:solidFill>
            <a:prstDash val="solid"/>
          </a:ln>
        </p:spPr>
      </p:sp>
      <p:sp>
        <p:nvSpPr>
          <p:cNvPr id="30" name="Text 28"/>
          <p:cNvSpPr/>
          <p:nvPr/>
        </p:nvSpPr>
        <p:spPr>
          <a:xfrm>
            <a:off x="5175504" y="2020824"/>
            <a:ext cx="182880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SAU 6 THÁNG</a:t>
            </a:r>
            <a:endParaRPr lang="en-US" sz="1150" dirty="0"/>
          </a:p>
        </p:txBody>
      </p:sp>
      <p:sp>
        <p:nvSpPr>
          <p:cNvPr id="31" name="Text 29"/>
          <p:cNvSpPr/>
          <p:nvPr/>
        </p:nvSpPr>
        <p:spPr>
          <a:xfrm>
            <a:off x="5138928" y="2496312"/>
            <a:ext cx="1901952" cy="329184"/>
          </a:xfrm>
          <a:prstGeom prst="rect">
            <a:avLst/>
          </a:prstGeom>
          <a:noFill/>
          <a:ln/>
        </p:spPr>
        <p:txBody>
          <a:bodyPr wrap="square" lIns="0" tIns="0" rIns="0" bIns="0" rtlCol="0" anchor="ctr"/>
          <a:lstStyle/>
          <a:p>
            <a:pPr algn="ctr" indent="0" marL="0">
              <a:buNone/>
            </a:pPr>
            <a:r>
              <a:rPr lang="en-US" sz="1500" b="1" dirty="0">
                <a:solidFill>
                  <a:srgbClr val="9F224E"/>
                </a:solidFill>
                <a:latin typeface="Arial" pitchFamily="34" charset="0"/>
                <a:ea typeface="Arial" pitchFamily="34" charset="-122"/>
                <a:cs typeface="Arial" pitchFamily="34" charset="-120"/>
              </a:rPr>
              <a:t>Tăng +40%</a:t>
            </a:r>
            <a:endParaRPr lang="en-US" sz="1500" dirty="0"/>
          </a:p>
        </p:txBody>
      </p:sp>
      <p:sp>
        <p:nvSpPr>
          <p:cNvPr id="32" name="Text 30"/>
          <p:cNvSpPr/>
          <p:nvPr/>
        </p:nvSpPr>
        <p:spPr>
          <a:xfrm>
            <a:off x="5138928" y="2898648"/>
            <a:ext cx="1901952" cy="594360"/>
          </a:xfrm>
          <a:prstGeom prst="rect">
            <a:avLst/>
          </a:prstGeom>
          <a:noFill/>
          <a:ln/>
        </p:spPr>
        <p:txBody>
          <a:bodyPr wrap="square" lIns="0" tIns="0" rIns="0" bIns="0" rtlCol="0" anchor="ctr"/>
          <a:lstStyle/>
          <a:p>
            <a:pPr algn="ctr" indent="0" marL="0">
              <a:buNone/>
            </a:pPr>
            <a:r>
              <a:rPr lang="en-US" sz="2800" b="1" dirty="0">
                <a:solidFill>
                  <a:srgbClr val="1E293B"/>
                </a:solidFill>
                <a:latin typeface="Arial" pitchFamily="34" charset="0"/>
                <a:ea typeface="Arial" pitchFamily="34" charset="-122"/>
                <a:cs typeface="Arial" pitchFamily="34" charset="-120"/>
              </a:rPr>
              <a:t>121K</a:t>
            </a:r>
            <a:endParaRPr lang="en-US" sz="2800" dirty="0"/>
          </a:p>
        </p:txBody>
      </p:sp>
      <p:sp>
        <p:nvSpPr>
          <p:cNvPr id="33" name="Text 31"/>
          <p:cNvSpPr/>
          <p:nvPr/>
        </p:nvSpPr>
        <p:spPr>
          <a:xfrm>
            <a:off x="5138928" y="3502152"/>
            <a:ext cx="1901952" cy="274320"/>
          </a:xfrm>
          <a:prstGeom prst="rect">
            <a:avLst/>
          </a:prstGeom>
          <a:noFill/>
          <a:ln/>
        </p:spPr>
        <p:txBody>
          <a:bodyPr wrap="square" lIns="0" tIns="0" rIns="0" bIns="0" rtlCol="0" anchor="ctr"/>
          <a:lstStyle/>
          <a:p>
            <a:pPr algn="ctr" indent="0" marL="0">
              <a:buNone/>
            </a:pPr>
            <a:r>
              <a:rPr lang="en-US" sz="1250" b="1" dirty="0">
                <a:solidFill>
                  <a:srgbClr val="64748B"/>
                </a:solidFill>
                <a:latin typeface="Arial" pitchFamily="34" charset="0"/>
                <a:ea typeface="Arial" pitchFamily="34" charset="-122"/>
                <a:cs typeface="Arial" pitchFamily="34" charset="-120"/>
              </a:rPr>
              <a:t>clicks / tháng</a:t>
            </a:r>
            <a:endParaRPr lang="en-US" sz="1250" dirty="0"/>
          </a:p>
        </p:txBody>
      </p:sp>
      <p:sp>
        <p:nvSpPr>
          <p:cNvPr id="34" name="Text 32"/>
          <p:cNvSpPr/>
          <p:nvPr/>
        </p:nvSpPr>
        <p:spPr>
          <a:xfrm>
            <a:off x="5138928" y="3904488"/>
            <a:ext cx="1901952" cy="621792"/>
          </a:xfrm>
          <a:prstGeom prst="rect">
            <a:avLst/>
          </a:prstGeom>
          <a:noFill/>
          <a:ln/>
        </p:spPr>
        <p:txBody>
          <a:bodyPr wrap="square" lIns="0" tIns="0" rIns="0" bIns="0" rtlCol="0" anchor="t"/>
          <a:lstStyle/>
          <a:p>
            <a:pPr algn="ctr" indent="0" marL="0">
              <a:lnSpc>
                <a:spcPct val="118000"/>
              </a:lnSpc>
              <a:buNone/>
            </a:pPr>
            <a:r>
              <a:rPr lang="en-US" sz="1150" b="1" dirty="0">
                <a:solidFill>
                  <a:srgbClr val="334155"/>
                </a:solidFill>
                <a:latin typeface="Arial" pitchFamily="34" charset="0"/>
                <a:ea typeface="Arial" pitchFamily="34" charset="-122"/>
                <a:cs typeface="Arial" pitchFamily="34" charset="-120"/>
              </a:rPr>
              <a:t>Tăng thêm +34.3K</a:t>
            </a:r>
            <a:endParaRPr lang="en-US" sz="1150" dirty="0"/>
          </a:p>
          <a:p>
            <a:pPr algn="ctr" indent="0" marL="0">
              <a:lnSpc>
                <a:spcPct val="118000"/>
              </a:lnSpc>
              <a:buNone/>
            </a:pPr>
            <a:r>
              <a:rPr lang="en-US" sz="1150" b="1" dirty="0">
                <a:solidFill>
                  <a:srgbClr val="334155"/>
                </a:solidFill>
                <a:latin typeface="Arial" pitchFamily="34" charset="0"/>
                <a:ea typeface="Arial" pitchFamily="34" charset="-122"/>
                <a:cs typeface="Arial" pitchFamily="34" charset="-120"/>
              </a:rPr>
              <a:t>clicks / tháng</a:t>
            </a:r>
            <a:endParaRPr lang="en-US" sz="1150" dirty="0"/>
          </a:p>
        </p:txBody>
      </p:sp>
      <p:sp>
        <p:nvSpPr>
          <p:cNvPr id="35" name="Shape 33"/>
          <p:cNvSpPr/>
          <p:nvPr/>
        </p:nvSpPr>
        <p:spPr>
          <a:xfrm>
            <a:off x="7260336" y="1874520"/>
            <a:ext cx="2084832" cy="2834640"/>
          </a:xfrm>
          <a:prstGeom prst="roundRect">
            <a:avLst>
              <a:gd name="adj" fmla="val 3509"/>
            </a:avLst>
          </a:prstGeom>
          <a:solidFill>
            <a:srgbClr val="F1F5F9"/>
          </a:solidFill>
          <a:ln w="19050">
            <a:solidFill>
              <a:srgbClr val="CBD5E1"/>
            </a:solidFill>
            <a:prstDash val="solid"/>
          </a:ln>
        </p:spPr>
      </p:sp>
      <p:sp>
        <p:nvSpPr>
          <p:cNvPr id="36" name="Shape 34"/>
          <p:cNvSpPr/>
          <p:nvPr/>
        </p:nvSpPr>
        <p:spPr>
          <a:xfrm>
            <a:off x="7388352" y="2020824"/>
            <a:ext cx="1828800" cy="347472"/>
          </a:xfrm>
          <a:prstGeom prst="roundRect">
            <a:avLst>
              <a:gd name="adj" fmla="val 15789"/>
            </a:avLst>
          </a:prstGeom>
          <a:solidFill>
            <a:srgbClr val="1E293B"/>
          </a:solidFill>
          <a:ln w="12700">
            <a:solidFill>
              <a:srgbClr val="1E293B"/>
            </a:solidFill>
            <a:prstDash val="solid"/>
          </a:ln>
        </p:spPr>
      </p:sp>
      <p:sp>
        <p:nvSpPr>
          <p:cNvPr id="37" name="Text 35"/>
          <p:cNvSpPr/>
          <p:nvPr/>
        </p:nvSpPr>
        <p:spPr>
          <a:xfrm>
            <a:off x="7388352" y="2020824"/>
            <a:ext cx="182880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SAU 9 THÁNG</a:t>
            </a:r>
            <a:endParaRPr lang="en-US" sz="1150" dirty="0"/>
          </a:p>
        </p:txBody>
      </p:sp>
      <p:sp>
        <p:nvSpPr>
          <p:cNvPr id="38" name="Text 36"/>
          <p:cNvSpPr/>
          <p:nvPr/>
        </p:nvSpPr>
        <p:spPr>
          <a:xfrm>
            <a:off x="7351776" y="2496312"/>
            <a:ext cx="1901952" cy="329184"/>
          </a:xfrm>
          <a:prstGeom prst="rect">
            <a:avLst/>
          </a:prstGeom>
          <a:noFill/>
          <a:ln/>
        </p:spPr>
        <p:txBody>
          <a:bodyPr wrap="square" lIns="0" tIns="0" rIns="0" bIns="0" rtlCol="0" anchor="ctr"/>
          <a:lstStyle/>
          <a:p>
            <a:pPr algn="ctr" indent="0" marL="0">
              <a:buNone/>
            </a:pPr>
            <a:r>
              <a:rPr lang="en-US" sz="1500" b="1" dirty="0">
                <a:solidFill>
                  <a:srgbClr val="9F224E"/>
                </a:solidFill>
                <a:latin typeface="Arial" pitchFamily="34" charset="0"/>
                <a:ea typeface="Arial" pitchFamily="34" charset="-122"/>
                <a:cs typeface="Arial" pitchFamily="34" charset="-120"/>
              </a:rPr>
              <a:t>Tăng +65%</a:t>
            </a:r>
            <a:endParaRPr lang="en-US" sz="1500" dirty="0"/>
          </a:p>
        </p:txBody>
      </p:sp>
      <p:sp>
        <p:nvSpPr>
          <p:cNvPr id="39" name="Text 37"/>
          <p:cNvSpPr/>
          <p:nvPr/>
        </p:nvSpPr>
        <p:spPr>
          <a:xfrm>
            <a:off x="7351776" y="2898648"/>
            <a:ext cx="1901952" cy="594360"/>
          </a:xfrm>
          <a:prstGeom prst="rect">
            <a:avLst/>
          </a:prstGeom>
          <a:noFill/>
          <a:ln/>
        </p:spPr>
        <p:txBody>
          <a:bodyPr wrap="square" lIns="0" tIns="0" rIns="0" bIns="0" rtlCol="0" anchor="ctr"/>
          <a:lstStyle/>
          <a:p>
            <a:pPr algn="ctr" indent="0" marL="0">
              <a:buNone/>
            </a:pPr>
            <a:r>
              <a:rPr lang="en-US" sz="2800" b="1" dirty="0">
                <a:solidFill>
                  <a:srgbClr val="1E293B"/>
                </a:solidFill>
                <a:latin typeface="Arial" pitchFamily="34" charset="0"/>
                <a:ea typeface="Arial" pitchFamily="34" charset="-122"/>
                <a:cs typeface="Arial" pitchFamily="34" charset="-120"/>
              </a:rPr>
              <a:t>143K</a:t>
            </a:r>
            <a:endParaRPr lang="en-US" sz="2800" dirty="0"/>
          </a:p>
        </p:txBody>
      </p:sp>
      <p:sp>
        <p:nvSpPr>
          <p:cNvPr id="40" name="Text 38"/>
          <p:cNvSpPr/>
          <p:nvPr/>
        </p:nvSpPr>
        <p:spPr>
          <a:xfrm>
            <a:off x="7351776" y="3502152"/>
            <a:ext cx="1901952" cy="274320"/>
          </a:xfrm>
          <a:prstGeom prst="rect">
            <a:avLst/>
          </a:prstGeom>
          <a:noFill/>
          <a:ln/>
        </p:spPr>
        <p:txBody>
          <a:bodyPr wrap="square" lIns="0" tIns="0" rIns="0" bIns="0" rtlCol="0" anchor="ctr"/>
          <a:lstStyle/>
          <a:p>
            <a:pPr algn="ctr" indent="0" marL="0">
              <a:buNone/>
            </a:pPr>
            <a:r>
              <a:rPr lang="en-US" sz="1250" b="1" dirty="0">
                <a:solidFill>
                  <a:srgbClr val="64748B"/>
                </a:solidFill>
                <a:latin typeface="Arial" pitchFamily="34" charset="0"/>
                <a:ea typeface="Arial" pitchFamily="34" charset="-122"/>
                <a:cs typeface="Arial" pitchFamily="34" charset="-120"/>
              </a:rPr>
              <a:t>clicks / tháng</a:t>
            </a:r>
            <a:endParaRPr lang="en-US" sz="1250" dirty="0"/>
          </a:p>
        </p:txBody>
      </p:sp>
      <p:sp>
        <p:nvSpPr>
          <p:cNvPr id="41" name="Text 39"/>
          <p:cNvSpPr/>
          <p:nvPr/>
        </p:nvSpPr>
        <p:spPr>
          <a:xfrm>
            <a:off x="7351776" y="3904488"/>
            <a:ext cx="1901952" cy="621792"/>
          </a:xfrm>
          <a:prstGeom prst="rect">
            <a:avLst/>
          </a:prstGeom>
          <a:noFill/>
          <a:ln/>
        </p:spPr>
        <p:txBody>
          <a:bodyPr wrap="square" lIns="0" tIns="0" rIns="0" bIns="0" rtlCol="0" anchor="t"/>
          <a:lstStyle/>
          <a:p>
            <a:pPr algn="ctr" indent="0" marL="0">
              <a:lnSpc>
                <a:spcPct val="118000"/>
              </a:lnSpc>
              <a:buNone/>
            </a:pPr>
            <a:r>
              <a:rPr lang="en-US" sz="1150" b="1" dirty="0">
                <a:solidFill>
                  <a:srgbClr val="334155"/>
                </a:solidFill>
                <a:latin typeface="Arial" pitchFamily="34" charset="0"/>
                <a:ea typeface="Arial" pitchFamily="34" charset="-122"/>
                <a:cs typeface="Arial" pitchFamily="34" charset="-120"/>
              </a:rPr>
              <a:t>Tăng thêm +56.3K</a:t>
            </a:r>
            <a:endParaRPr lang="en-US" sz="1150" dirty="0"/>
          </a:p>
          <a:p>
            <a:pPr algn="ctr" indent="0" marL="0">
              <a:lnSpc>
                <a:spcPct val="118000"/>
              </a:lnSpc>
              <a:buNone/>
            </a:pPr>
            <a:r>
              <a:rPr lang="en-US" sz="1150" b="1" dirty="0">
                <a:solidFill>
                  <a:srgbClr val="334155"/>
                </a:solidFill>
                <a:latin typeface="Arial" pitchFamily="34" charset="0"/>
                <a:ea typeface="Arial" pitchFamily="34" charset="-122"/>
                <a:cs typeface="Arial" pitchFamily="34" charset="-120"/>
              </a:rPr>
              <a:t>clicks / tháng</a:t>
            </a:r>
            <a:endParaRPr lang="en-US" sz="1150" dirty="0"/>
          </a:p>
        </p:txBody>
      </p:sp>
      <p:sp>
        <p:nvSpPr>
          <p:cNvPr id="42" name="Shape 40"/>
          <p:cNvSpPr/>
          <p:nvPr/>
        </p:nvSpPr>
        <p:spPr>
          <a:xfrm>
            <a:off x="9473184" y="1874520"/>
            <a:ext cx="2084832" cy="2834640"/>
          </a:xfrm>
          <a:prstGeom prst="roundRect">
            <a:avLst>
              <a:gd name="adj" fmla="val 3509"/>
            </a:avLst>
          </a:prstGeom>
          <a:solidFill>
            <a:srgbClr val="FDF2F6"/>
          </a:solidFill>
          <a:ln w="19050">
            <a:solidFill>
              <a:srgbClr val="E2A8BC"/>
            </a:solidFill>
            <a:prstDash val="solid"/>
          </a:ln>
        </p:spPr>
      </p:sp>
      <p:sp>
        <p:nvSpPr>
          <p:cNvPr id="43" name="Shape 41"/>
          <p:cNvSpPr/>
          <p:nvPr/>
        </p:nvSpPr>
        <p:spPr>
          <a:xfrm>
            <a:off x="9601200" y="2020824"/>
            <a:ext cx="1828800" cy="347472"/>
          </a:xfrm>
          <a:prstGeom prst="roundRect">
            <a:avLst>
              <a:gd name="adj" fmla="val 15789"/>
            </a:avLst>
          </a:prstGeom>
          <a:solidFill>
            <a:srgbClr val="9F224E"/>
          </a:solidFill>
          <a:ln w="12700">
            <a:solidFill>
              <a:srgbClr val="9F224E"/>
            </a:solidFill>
            <a:prstDash val="solid"/>
          </a:ln>
        </p:spPr>
      </p:sp>
      <p:sp>
        <p:nvSpPr>
          <p:cNvPr id="44" name="Text 42"/>
          <p:cNvSpPr/>
          <p:nvPr/>
        </p:nvSpPr>
        <p:spPr>
          <a:xfrm>
            <a:off x="9601200" y="2020824"/>
            <a:ext cx="182880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SAU 12 THÁNG</a:t>
            </a:r>
            <a:endParaRPr lang="en-US" sz="1150" dirty="0"/>
          </a:p>
        </p:txBody>
      </p:sp>
      <p:sp>
        <p:nvSpPr>
          <p:cNvPr id="45" name="Text 43"/>
          <p:cNvSpPr/>
          <p:nvPr/>
        </p:nvSpPr>
        <p:spPr>
          <a:xfrm>
            <a:off x="9564624" y="2496312"/>
            <a:ext cx="1901952" cy="329184"/>
          </a:xfrm>
          <a:prstGeom prst="rect">
            <a:avLst/>
          </a:prstGeom>
          <a:noFill/>
          <a:ln/>
        </p:spPr>
        <p:txBody>
          <a:bodyPr wrap="square" lIns="0" tIns="0" rIns="0" bIns="0" rtlCol="0" anchor="ctr"/>
          <a:lstStyle/>
          <a:p>
            <a:pPr algn="ctr" indent="0" marL="0">
              <a:buNone/>
            </a:pPr>
            <a:r>
              <a:rPr lang="en-US" sz="1500" b="1" dirty="0">
                <a:solidFill>
                  <a:srgbClr val="9F224E"/>
                </a:solidFill>
                <a:latin typeface="Arial" pitchFamily="34" charset="0"/>
                <a:ea typeface="Arial" pitchFamily="34" charset="-122"/>
                <a:cs typeface="Arial" pitchFamily="34" charset="-120"/>
              </a:rPr>
              <a:t>Tăng +100%</a:t>
            </a:r>
            <a:endParaRPr lang="en-US" sz="1500" dirty="0"/>
          </a:p>
        </p:txBody>
      </p:sp>
      <p:sp>
        <p:nvSpPr>
          <p:cNvPr id="46" name="Text 44"/>
          <p:cNvSpPr/>
          <p:nvPr/>
        </p:nvSpPr>
        <p:spPr>
          <a:xfrm>
            <a:off x="9564624" y="2898648"/>
            <a:ext cx="1901952" cy="594360"/>
          </a:xfrm>
          <a:prstGeom prst="rect">
            <a:avLst/>
          </a:prstGeom>
          <a:noFill/>
          <a:ln/>
        </p:spPr>
        <p:txBody>
          <a:bodyPr wrap="square" lIns="0" tIns="0" rIns="0" bIns="0" rtlCol="0" anchor="ctr"/>
          <a:lstStyle/>
          <a:p>
            <a:pPr algn="ctr" indent="0" marL="0">
              <a:buNone/>
            </a:pPr>
            <a:r>
              <a:rPr lang="en-US" sz="2800" b="1" dirty="0">
                <a:solidFill>
                  <a:srgbClr val="9F224E"/>
                </a:solidFill>
                <a:latin typeface="Arial" pitchFamily="34" charset="0"/>
                <a:ea typeface="Arial" pitchFamily="34" charset="-122"/>
                <a:cs typeface="Arial" pitchFamily="34" charset="-120"/>
              </a:rPr>
              <a:t>174K</a:t>
            </a:r>
            <a:endParaRPr lang="en-US" sz="2800" dirty="0"/>
          </a:p>
        </p:txBody>
      </p:sp>
      <p:sp>
        <p:nvSpPr>
          <p:cNvPr id="47" name="Text 45"/>
          <p:cNvSpPr/>
          <p:nvPr/>
        </p:nvSpPr>
        <p:spPr>
          <a:xfrm>
            <a:off x="9564624" y="3502152"/>
            <a:ext cx="1901952" cy="274320"/>
          </a:xfrm>
          <a:prstGeom prst="rect">
            <a:avLst/>
          </a:prstGeom>
          <a:noFill/>
          <a:ln/>
        </p:spPr>
        <p:txBody>
          <a:bodyPr wrap="square" lIns="0" tIns="0" rIns="0" bIns="0" rtlCol="0" anchor="ctr"/>
          <a:lstStyle/>
          <a:p>
            <a:pPr algn="ctr" indent="0" marL="0">
              <a:buNone/>
            </a:pPr>
            <a:r>
              <a:rPr lang="en-US" sz="1250" b="1" dirty="0">
                <a:solidFill>
                  <a:srgbClr val="64748B"/>
                </a:solidFill>
                <a:latin typeface="Arial" pitchFamily="34" charset="0"/>
                <a:ea typeface="Arial" pitchFamily="34" charset="-122"/>
                <a:cs typeface="Arial" pitchFamily="34" charset="-120"/>
              </a:rPr>
              <a:t>clicks / tháng</a:t>
            </a:r>
            <a:endParaRPr lang="en-US" sz="1250" dirty="0"/>
          </a:p>
        </p:txBody>
      </p:sp>
      <p:sp>
        <p:nvSpPr>
          <p:cNvPr id="48" name="Text 46"/>
          <p:cNvSpPr/>
          <p:nvPr/>
        </p:nvSpPr>
        <p:spPr>
          <a:xfrm>
            <a:off x="9564624" y="3904488"/>
            <a:ext cx="1901952" cy="621792"/>
          </a:xfrm>
          <a:prstGeom prst="rect">
            <a:avLst/>
          </a:prstGeom>
          <a:noFill/>
          <a:ln/>
        </p:spPr>
        <p:txBody>
          <a:bodyPr wrap="square" lIns="0" tIns="0" rIns="0" bIns="0" rtlCol="0" anchor="t"/>
          <a:lstStyle/>
          <a:p>
            <a:pPr algn="ctr" indent="0" marL="0">
              <a:lnSpc>
                <a:spcPct val="118000"/>
              </a:lnSpc>
              <a:buNone/>
            </a:pPr>
            <a:r>
              <a:rPr lang="en-US" sz="1150" b="1" dirty="0">
                <a:solidFill>
                  <a:srgbClr val="334155"/>
                </a:solidFill>
                <a:latin typeface="Arial" pitchFamily="34" charset="0"/>
                <a:ea typeface="Arial" pitchFamily="34" charset="-122"/>
                <a:cs typeface="Arial" pitchFamily="34" charset="-120"/>
              </a:rPr>
              <a:t>Tăng thêm +86.7K</a:t>
            </a:r>
            <a:endParaRPr lang="en-US" sz="1150" dirty="0"/>
          </a:p>
          <a:p>
            <a:pPr algn="ctr" indent="0" marL="0">
              <a:lnSpc>
                <a:spcPct val="118000"/>
              </a:lnSpc>
              <a:buNone/>
            </a:pPr>
            <a:r>
              <a:rPr lang="en-US" sz="1150" b="1" dirty="0">
                <a:solidFill>
                  <a:srgbClr val="334155"/>
                </a:solidFill>
                <a:latin typeface="Arial" pitchFamily="34" charset="0"/>
                <a:ea typeface="Arial" pitchFamily="34" charset="-122"/>
                <a:cs typeface="Arial" pitchFamily="34" charset="-120"/>
              </a:rPr>
              <a:t>(Nhân đôi Search Clicks)</a:t>
            </a:r>
            <a:endParaRPr lang="en-US" sz="1150" dirty="0"/>
          </a:p>
        </p:txBody>
      </p:sp>
      <p:sp>
        <p:nvSpPr>
          <p:cNvPr id="49" name="Shape 47"/>
          <p:cNvSpPr/>
          <p:nvPr/>
        </p:nvSpPr>
        <p:spPr>
          <a:xfrm>
            <a:off x="621792" y="4937760"/>
            <a:ext cx="10936224" cy="1143000"/>
          </a:xfrm>
          <a:prstGeom prst="roundRect">
            <a:avLst>
              <a:gd name="adj" fmla="val 5600"/>
            </a:avLst>
          </a:prstGeom>
          <a:solidFill>
            <a:srgbClr val="FDF2F6"/>
          </a:solidFill>
          <a:ln w="15240">
            <a:solidFill>
              <a:srgbClr val="E2A8BC"/>
            </a:solidFill>
            <a:prstDash val="solid"/>
          </a:ln>
        </p:spPr>
      </p:sp>
      <p:sp>
        <p:nvSpPr>
          <p:cNvPr id="50" name="Text 48"/>
          <p:cNvSpPr/>
          <p:nvPr/>
        </p:nvSpPr>
        <p:spPr>
          <a:xfrm>
            <a:off x="822960" y="5010912"/>
            <a:ext cx="10515600" cy="1005840"/>
          </a:xfrm>
          <a:prstGeom prst="rect">
            <a:avLst/>
          </a:prstGeom>
          <a:noFill/>
          <a:ln/>
        </p:spPr>
        <p:txBody>
          <a:bodyPr wrap="square" lIns="0" tIns="0" rIns="0" bIns="0" rtlCol="0" anchor="ctr"/>
          <a:lstStyle/>
          <a:p>
            <a:pPr indent="0" marL="0">
              <a:lnSpc>
                <a:spcPct val="125000"/>
              </a:lnSpc>
              <a:buNone/>
            </a:pPr>
            <a:r>
              <a:rPr lang="en-US" sz="1450" b="1" dirty="0">
                <a:solidFill>
                  <a:srgbClr val="9F224E"/>
                </a:solidFill>
                <a:latin typeface="Arial" pitchFamily="34" charset="0"/>
                <a:ea typeface="Arial" pitchFamily="34" charset="-122"/>
                <a:cs typeface="Arial" pitchFamily="34" charset="-120"/>
              </a:rPr>
              <a:t>🎯 TỔNG KẾT MỤC TIÊU SAU 1 NĂM: </a:t>
            </a:r>
            <a:pPr indent="0" marL="0">
              <a:lnSpc>
                <a:spcPct val="125000"/>
              </a:lnSpc>
              <a:buNone/>
            </a:pPr>
            <a:r>
              <a:rPr lang="en-US" sz="1400" dirty="0">
                <a:solidFill>
                  <a:srgbClr val="1E293B"/>
                </a:solidFill>
                <a:latin typeface="Arial" pitchFamily="34" charset="0"/>
                <a:ea typeface="Arial" pitchFamily="34" charset="-122"/>
                <a:cs typeface="Arial" pitchFamily="34" charset="-120"/>
              </a:rPr>
              <a:t>Tăng gấp đôi (+100%) lưu lượng Search Clicks tự nhiên từ Google Search cho toàn bộ trang Lịch thi đấu VnExpress — từ mức trung bình </a:t>
            </a:r>
            <a:pPr indent="0" marL="0">
              <a:lnSpc>
                <a:spcPct val="125000"/>
              </a:lnSpc>
              <a:buNone/>
            </a:pPr>
            <a:r>
              <a:rPr lang="en-US" sz="1400" b="1" dirty="0">
                <a:solidFill>
                  <a:srgbClr val="1E293B"/>
                </a:solidFill>
                <a:latin typeface="Arial" pitchFamily="34" charset="0"/>
                <a:ea typeface="Arial" pitchFamily="34" charset="-122"/>
                <a:cs typeface="Arial" pitchFamily="34" charset="-120"/>
              </a:rPr>
              <a:t>86,700 clicks/tháng</a:t>
            </a:r>
            <a:pPr indent="0" marL="0">
              <a:lnSpc>
                <a:spcPct val="125000"/>
              </a:lnSpc>
              <a:buNone/>
            </a:pPr>
            <a:r>
              <a:rPr lang="en-US" sz="1400" dirty="0">
                <a:solidFill>
                  <a:srgbClr val="1E293B"/>
                </a:solidFill>
                <a:latin typeface="Arial" pitchFamily="34" charset="0"/>
                <a:ea typeface="Arial" pitchFamily="34" charset="-122"/>
                <a:cs typeface="Arial" pitchFamily="34" charset="-120"/>
              </a:rPr>
              <a:t> lên </a:t>
            </a:r>
            <a:pPr indent="0" marL="0">
              <a:lnSpc>
                <a:spcPct val="125000"/>
              </a:lnSpc>
              <a:buNone/>
            </a:pPr>
            <a:r>
              <a:rPr lang="en-US" sz="1450" b="1" dirty="0">
                <a:solidFill>
                  <a:srgbClr val="9F224E"/>
                </a:solidFill>
                <a:latin typeface="Arial" pitchFamily="34" charset="0"/>
                <a:ea typeface="Arial" pitchFamily="34" charset="-122"/>
                <a:cs typeface="Arial" pitchFamily="34" charset="-120"/>
              </a:rPr>
              <a:t>174,000 clicks/tháng</a:t>
            </a:r>
            <a:pPr indent="0" marL="0">
              <a:lnSpc>
                <a:spcPct val="125000"/>
              </a:lnSpc>
              <a:buNone/>
            </a:pPr>
            <a:r>
              <a:rPr lang="en-US" sz="1400" b="1" dirty="0">
                <a:solidFill>
                  <a:srgbClr val="9F224E"/>
                </a:solidFill>
                <a:latin typeface="Arial" pitchFamily="34" charset="0"/>
                <a:ea typeface="Arial" pitchFamily="34" charset="-122"/>
                <a:cs typeface="Arial" pitchFamily="34" charset="-120"/>
              </a:rPr>
              <a:t> (+86,700 clicks/tháng).</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9F224E"/>
          </a:solidFill>
          <a:ln w="12700">
            <a:solidFill>
              <a:srgbClr val="9F224E"/>
            </a:solidFill>
            <a:prstDash val="solid"/>
          </a:ln>
        </p:spPr>
      </p:sp>
      <p:sp>
        <p:nvSpPr>
          <p:cNvPr id="3" name="Shape 1"/>
          <p:cNvSpPr/>
          <p:nvPr/>
        </p:nvSpPr>
        <p:spPr>
          <a:xfrm>
            <a:off x="0" y="82296"/>
            <a:ext cx="12191695" cy="914400"/>
          </a:xfrm>
          <a:prstGeom prst="rect">
            <a:avLst/>
          </a:prstGeom>
          <a:solidFill>
            <a:srgbClr val="FFFFFF"/>
          </a:solidFill>
          <a:ln w="10160">
            <a:solidFill>
              <a:srgbClr val="E2E8F0"/>
            </a:solidFill>
            <a:prstDash val="solid"/>
          </a:ln>
        </p:spPr>
      </p:sp>
      <p:sp>
        <p:nvSpPr>
          <p:cNvPr id="4" name="Shape 2"/>
          <p:cNvSpPr/>
          <p:nvPr/>
        </p:nvSpPr>
        <p:spPr>
          <a:xfrm>
            <a:off x="411480" y="201168"/>
            <a:ext cx="2834640" cy="329184"/>
          </a:xfrm>
          <a:prstGeom prst="roundRect">
            <a:avLst>
              <a:gd name="adj" fmla="val 16667"/>
            </a:avLst>
          </a:prstGeom>
          <a:solidFill>
            <a:srgbClr val="9F224E"/>
          </a:solidFill>
          <a:ln w="12700">
            <a:solidFill>
              <a:srgbClr val="9F224E"/>
            </a:solidFill>
            <a:prstDash val="solid"/>
          </a:ln>
        </p:spPr>
      </p:sp>
      <p:sp>
        <p:nvSpPr>
          <p:cNvPr id="5" name="Text 3"/>
          <p:cNvSpPr/>
          <p:nvPr/>
        </p:nvSpPr>
        <p:spPr>
          <a:xfrm>
            <a:off x="411480" y="201168"/>
            <a:ext cx="28346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TỔNG HỢP KPI • PHẦN 2 / 2</a:t>
            </a:r>
            <a:endParaRPr lang="en-US" sz="1150" dirty="0"/>
          </a:p>
        </p:txBody>
      </p:sp>
      <p:sp>
        <p:nvSpPr>
          <p:cNvPr id="6" name="Text 4"/>
          <p:cNvSpPr/>
          <p:nvPr/>
        </p:nvSpPr>
        <p:spPr>
          <a:xfrm>
            <a:off x="3383280" y="146304"/>
            <a:ext cx="8412480" cy="420624"/>
          </a:xfrm>
          <a:prstGeom prst="rect">
            <a:avLst/>
          </a:prstGeom>
          <a:noFill/>
          <a:ln/>
        </p:spPr>
        <p:txBody>
          <a:bodyPr wrap="square" lIns="0" tIns="0" rIns="0" bIns="0" rtlCol="0" anchor="ctr"/>
          <a:lstStyle/>
          <a:p>
            <a:pPr algn="l" indent="0" marL="0">
              <a:buNone/>
            </a:pPr>
            <a:r>
              <a:rPr lang="en-US" sz="2000" b="1" dirty="0">
                <a:solidFill>
                  <a:srgbClr val="1E293B"/>
                </a:solidFill>
                <a:latin typeface="Arial" pitchFamily="34" charset="0"/>
                <a:ea typeface="Arial" pitchFamily="34" charset="-122"/>
                <a:cs typeface="Arial" pitchFamily="34" charset="-120"/>
              </a:rPr>
              <a:t>Bảng Ma trận Tổng hợp KPI Dự kiến của 3 Hành động Chiến lược</a:t>
            </a:r>
            <a:endParaRPr lang="en-US" sz="2000" dirty="0"/>
          </a:p>
        </p:txBody>
      </p:sp>
      <p:sp>
        <p:nvSpPr>
          <p:cNvPr id="7" name="Text 5"/>
          <p:cNvSpPr/>
          <p:nvPr/>
        </p:nvSpPr>
        <p:spPr>
          <a:xfrm>
            <a:off x="411480" y="594360"/>
            <a:ext cx="11338560" cy="329184"/>
          </a:xfrm>
          <a:prstGeom prst="rect">
            <a:avLst/>
          </a:prstGeom>
          <a:noFill/>
          <a:ln/>
        </p:spPr>
        <p:txBody>
          <a:bodyPr wrap="square" lIns="0" tIns="0" rIns="0" bIns="0" rtlCol="0" anchor="ctr"/>
          <a:lstStyle/>
          <a:p>
            <a:pPr algn="l" indent="0" marL="0">
              <a:buNone/>
            </a:pPr>
            <a:r>
              <a:rPr lang="en-US" sz="1250" i="1" dirty="0">
                <a:solidFill>
                  <a:srgbClr val="64748B"/>
                </a:solidFill>
                <a:latin typeface="Arial" pitchFamily="34" charset="0"/>
                <a:ea typeface="Arial" pitchFamily="34" charset="-122"/>
                <a:cs typeface="Arial" pitchFamily="34" charset="-120"/>
              </a:rPr>
              <a:t>Chi tiết hiện trạng Baseline, dự báo sau 12 tháng, lượng Clicks tăng thêm và động lực tăng trưởng của từng hành động</a:t>
            </a:r>
            <a:endParaRPr lang="en-US" sz="1250" dirty="0"/>
          </a:p>
        </p:txBody>
      </p:sp>
      <p:sp>
        <p:nvSpPr>
          <p:cNvPr id="8" name="Shape 6"/>
          <p:cNvSpPr/>
          <p:nvPr/>
        </p:nvSpPr>
        <p:spPr>
          <a:xfrm>
            <a:off x="0" y="6510528"/>
            <a:ext cx="12191695" cy="347472"/>
          </a:xfrm>
          <a:prstGeom prst="rect">
            <a:avLst/>
          </a:prstGeom>
          <a:solidFill>
            <a:srgbClr val="1E293B"/>
          </a:solidFill>
          <a:ln w="12700">
            <a:solidFill>
              <a:srgbClr val="1E293B"/>
            </a:solidFill>
            <a:prstDash val="solid"/>
          </a:ln>
        </p:spPr>
      </p:sp>
      <p:sp>
        <p:nvSpPr>
          <p:cNvPr id="9" name="Text 7"/>
          <p:cNvSpPr/>
          <p:nvPr/>
        </p:nvSpPr>
        <p:spPr>
          <a:xfrm>
            <a:off x="411480" y="6510528"/>
            <a:ext cx="8686800" cy="347472"/>
          </a:xfrm>
          <a:prstGeom prst="rect">
            <a:avLst/>
          </a:prstGeom>
          <a:noFill/>
          <a:ln/>
        </p:spPr>
        <p:txBody>
          <a:bodyPr wrap="square" lIns="0" tIns="0" rIns="0" bIns="0" rtlCol="0" anchor="ctr"/>
          <a:lstStyle/>
          <a:p>
            <a:pPr algn="l" indent="0" marL="0">
              <a:buNone/>
            </a:pPr>
            <a:r>
              <a:rPr lang="en-US" sz="1000" dirty="0">
                <a:solidFill>
                  <a:srgbClr val="CBD5E1"/>
                </a:solidFill>
                <a:latin typeface="Arial" pitchFamily="34" charset="0"/>
                <a:ea typeface="Arial" pitchFamily="34" charset="-122"/>
                <a:cs typeface="Arial" pitchFamily="34" charset="-120"/>
              </a:rPr>
              <a:t>VnExpress Thể Thao  |  Báo cáo Phân tích Vấn đề &amp; Giải pháp Cải tiến Trang Lịch Thi Đấu Bóng Đá</a:t>
            </a:r>
            <a:endParaRPr lang="en-US" sz="1000" dirty="0"/>
          </a:p>
        </p:txBody>
      </p:sp>
      <p:sp>
        <p:nvSpPr>
          <p:cNvPr id="10" name="Text 8"/>
          <p:cNvSpPr/>
          <p:nvPr/>
        </p:nvSpPr>
        <p:spPr>
          <a:xfrm>
            <a:off x="10058400" y="6510528"/>
            <a:ext cx="1719072" cy="347472"/>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Trang 19 / 19</a:t>
            </a:r>
            <a:endParaRPr lang="en-US" sz="1000" dirty="0"/>
          </a:p>
        </p:txBody>
      </p:sp>
      <p:sp>
        <p:nvSpPr>
          <p:cNvPr id="11" name="Shape 9"/>
          <p:cNvSpPr/>
          <p:nvPr/>
        </p:nvSpPr>
        <p:spPr>
          <a:xfrm>
            <a:off x="411480" y="1143000"/>
            <a:ext cx="11365992" cy="5193792"/>
          </a:xfrm>
          <a:prstGeom prst="roundRect">
            <a:avLst>
              <a:gd name="adj" fmla="val 1408"/>
            </a:avLst>
          </a:prstGeom>
          <a:solidFill>
            <a:srgbClr val="FFFFFF"/>
          </a:solidFill>
          <a:ln w="15240">
            <a:solidFill>
              <a:srgbClr val="CBD5E1"/>
            </a:solidFill>
            <a:prstDash val="solid"/>
          </a:ln>
        </p:spPr>
      </p:sp>
      <p:sp>
        <p:nvSpPr>
          <p:cNvPr id="12" name="Shape 10"/>
          <p:cNvSpPr/>
          <p:nvPr/>
        </p:nvSpPr>
        <p:spPr>
          <a:xfrm>
            <a:off x="411480" y="1143000"/>
            <a:ext cx="11365992" cy="475488"/>
          </a:xfrm>
          <a:prstGeom prst="roundRect">
            <a:avLst>
              <a:gd name="adj" fmla="val 15385"/>
            </a:avLst>
          </a:prstGeom>
          <a:solidFill>
            <a:srgbClr val="1E293B"/>
          </a:solidFill>
          <a:ln w="12700">
            <a:solidFill>
              <a:srgbClr val="1E293B"/>
            </a:solidFill>
            <a:prstDash val="solid"/>
          </a:ln>
        </p:spPr>
      </p:sp>
      <p:sp>
        <p:nvSpPr>
          <p:cNvPr id="13" name="Text 11"/>
          <p:cNvSpPr/>
          <p:nvPr/>
        </p:nvSpPr>
        <p:spPr>
          <a:xfrm>
            <a:off x="621792" y="1143000"/>
            <a:ext cx="10972800" cy="475488"/>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BẢNG TỔNG HỢP ĐÓNG GÓP KPI CỦA 3 HÀNH ĐỘNG SAU 12 THÁNG</a:t>
            </a:r>
            <a:endParaRPr lang="en-US" sz="14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11000232" cy="4343400"/>
        </p:xfrm>
        <a:graphic>
          <a:graphicData uri="http://schemas.openxmlformats.org/drawingml/2006/table">
            <a:tbl>
              <a:tblPr/>
              <a:tblGrid>
                <a:gridCol w="2057400"/>
                <a:gridCol w="1417320"/>
                <a:gridCol w="1371600"/>
                <a:gridCol w="1325880"/>
                <a:gridCol w="1280160"/>
                <a:gridCol w="1051560"/>
                <a:gridCol w="2496312"/>
              </a:tblGrid>
              <a:tr h="868680">
                <a:tc>
                  <a:txBody>
                    <a:bodyPr/>
                    <a:lstStyle/>
                    <a:p>
                      <a:pPr indent="0" marL="0">
                        <a:buNone/>
                      </a:pPr>
                      <a:r>
                        <a:rPr lang="en-US" sz="1150" b="1" dirty="0">
                          <a:solidFill>
                            <a:srgbClr val="FFFFFF"/>
                          </a:solidFill>
                          <a:latin typeface="Arial" pitchFamily="34" charset="0"/>
                          <a:ea typeface="Arial" pitchFamily="34" charset="-122"/>
                          <a:cs typeface="Arial" pitchFamily="34" charset="-120"/>
                        </a:rPr>
                        <a:t>Hành động Chiến lược</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Lớp trang tác động</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1E293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Hiện trạng Baseline</a:t>
                      </a:r>
                      <a:endParaRPr lang="en-US" sz="1150" dirty="0">
                        <a:latin typeface="Arial" charset="0"/>
                        <a:ea typeface="Arial" charset="0"/>
                        <a:cs typeface="Arial" charset="0"/>
                      </a:endParaRPr>
                    </a:p>
                    <a:p>
                      <a:pPr algn="ctr" indent="0" marL="0">
                        <a:buNone/>
                      </a:pPr>
                      <a:r>
                        <a:rPr lang="en-US" sz="1150" b="1" dirty="0">
                          <a:solidFill>
                            <a:srgbClr val="FFFFFF"/>
                          </a:solidFill>
                          <a:latin typeface="Arial" pitchFamily="34" charset="0"/>
                          <a:ea typeface="Arial" pitchFamily="34" charset="-122"/>
                          <a:cs typeface="Arial" pitchFamily="34" charset="-120"/>
                        </a:rPr>
                        <a:t>trong 15 tháng</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1E293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Dự báo đạt được</a:t>
                      </a:r>
                      <a:endParaRPr lang="en-US" sz="1150" dirty="0">
                        <a:latin typeface="Arial" charset="0"/>
                        <a:ea typeface="Arial" charset="0"/>
                        <a:cs typeface="Arial" charset="0"/>
                      </a:endParaRPr>
                    </a:p>
                    <a:p>
                      <a:pPr algn="ctr" indent="0" marL="0">
                        <a:buNone/>
                      </a:pPr>
                      <a:r>
                        <a:rPr lang="en-US" sz="1150" b="1" dirty="0">
                          <a:solidFill>
                            <a:srgbClr val="FFFFFF"/>
                          </a:solidFill>
                          <a:latin typeface="Arial" pitchFamily="34" charset="0"/>
                          <a:ea typeface="Arial" pitchFamily="34" charset="-122"/>
                          <a:cs typeface="Arial" pitchFamily="34" charset="-120"/>
                        </a:rPr>
                        <a:t>sau 12 tháng</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1E293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Lượng Clicks</a:t>
                      </a:r>
                      <a:endParaRPr lang="en-US" sz="1150" dirty="0">
                        <a:latin typeface="Arial" charset="0"/>
                        <a:ea typeface="Arial" charset="0"/>
                        <a:cs typeface="Arial" charset="0"/>
                      </a:endParaRPr>
                    </a:p>
                    <a:p>
                      <a:pPr algn="ctr" indent="0" marL="0">
                        <a:buNone/>
                      </a:pPr>
                      <a:r>
                        <a:rPr lang="en-US" sz="1150" b="1" dirty="0">
                          <a:solidFill>
                            <a:srgbClr val="FFFFFF"/>
                          </a:solidFill>
                          <a:latin typeface="Arial" pitchFamily="34" charset="0"/>
                          <a:ea typeface="Arial" pitchFamily="34" charset="-122"/>
                          <a:cs typeface="Arial" pitchFamily="34" charset="-120"/>
                        </a:rPr>
                        <a:t>tăng thêm</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1E293B"/>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Tăng trưởng</a:t>
                      </a:r>
                      <a:endParaRPr lang="en-US" sz="1150" dirty="0">
                        <a:latin typeface="Arial" charset="0"/>
                        <a:ea typeface="Arial" charset="0"/>
                        <a:cs typeface="Arial" charset="0"/>
                      </a:endParaRPr>
                    </a:p>
                    <a:p>
                      <a:pPr algn="ctr" indent="0" marL="0">
                        <a:buNone/>
                      </a:pPr>
                      <a:r>
                        <a:rPr lang="en-US" sz="1150" b="1" dirty="0">
                          <a:solidFill>
                            <a:srgbClr val="FFFFFF"/>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Đặc điểm SERP &amp; Động lực chính</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1E293B"/>
                    </a:solidFill>
                  </a:tcPr>
                </a:tc>
              </a:tr>
              <a:tr h="868680">
                <a:tc>
                  <a:txBody>
                    <a:bodyPr/>
                    <a:lstStyle/>
                    <a:p>
                      <a:pPr indent="0" marL="0">
                        <a:buNone/>
                      </a:pPr>
                      <a:r>
                        <a:rPr lang="en-US" sz="1150" b="1" dirty="0">
                          <a:solidFill>
                            <a:srgbClr val="1E293B"/>
                          </a:solidFill>
                          <a:latin typeface="Arial" pitchFamily="34" charset="0"/>
                          <a:ea typeface="Arial" pitchFamily="34" charset="-122"/>
                          <a:cs typeface="Arial" pitchFamily="34" charset="-120"/>
                        </a:rPr>
                        <a:t>Hành động 1:</a:t>
                      </a:r>
                      <a:endParaRPr lang="en-US" sz="1150" dirty="0">
                        <a:latin typeface="Arial" charset="0"/>
                        <a:ea typeface="Arial" charset="0"/>
                        <a:cs typeface="Arial" charset="0"/>
                      </a:endParaRPr>
                    </a:p>
                    <a:p>
                      <a:pPr indent="0" marL="0">
                        <a:buNone/>
                      </a:pPr>
                      <a:r>
                        <a:rPr lang="en-US" sz="1150" b="1" dirty="0">
                          <a:solidFill>
                            <a:srgbClr val="1E293B"/>
                          </a:solidFill>
                          <a:latin typeface="Arial" pitchFamily="34" charset="0"/>
                          <a:ea typeface="Arial" pitchFamily="34" charset="-122"/>
                          <a:cs typeface="Arial" pitchFamily="34" charset="-120"/>
                        </a:rPr>
                        <a:t>Thiết kế &amp; Tối ưu lại trang Lịch thi đấu Hôm nay</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150" b="1" dirty="0">
                          <a:solidFill>
                            <a:srgbClr val="1E293B"/>
                          </a:solidFill>
                          <a:latin typeface="Arial" pitchFamily="34" charset="0"/>
                          <a:ea typeface="Arial" pitchFamily="34" charset="-122"/>
                          <a:cs typeface="Arial" pitchFamily="34" charset="-120"/>
                        </a:rPr>
                        <a:t>Trang chủ Dữ liệu</a:t>
                      </a:r>
                      <a:endParaRPr lang="en-US" sz="1150" dirty="0">
                        <a:latin typeface="Arial" charset="0"/>
                        <a:ea typeface="Arial" charset="0"/>
                        <a:cs typeface="Arial" charset="0"/>
                      </a:endParaRPr>
                    </a:p>
                    <a:p>
                      <a:pPr indent="0" marL="0">
                        <a:buNone/>
                      </a:pPr>
                      <a:r>
                        <a:rPr lang="en-US" sz="1150" b="1" dirty="0">
                          <a:solidFill>
                            <a:srgbClr val="1E293B"/>
                          </a:solidFill>
                          <a:latin typeface="Arial" pitchFamily="34" charset="0"/>
                          <a:ea typeface="Arial" pitchFamily="34" charset="-122"/>
                          <a:cs typeface="Arial" pitchFamily="34" charset="-120"/>
                        </a:rPr>
                        <a:t>(1 URL)</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ctr" indent="0" marL="0">
                        <a:buNone/>
                      </a:pPr>
                      <a:r>
                        <a:rPr lang="en-US" sz="1150" b="1" dirty="0">
                          <a:solidFill>
                            <a:srgbClr val="334155"/>
                          </a:solidFill>
                          <a:latin typeface="Arial" pitchFamily="34" charset="0"/>
                          <a:ea typeface="Arial" pitchFamily="34" charset="-122"/>
                          <a:cs typeface="Arial" pitchFamily="34" charset="-120"/>
                        </a:rPr>
                        <a:t>11,700 / tháng</a:t>
                      </a:r>
                      <a:endParaRPr lang="en-US" sz="1150" dirty="0">
                        <a:latin typeface="Arial" charset="0"/>
                        <a:ea typeface="Arial" charset="0"/>
                        <a:cs typeface="Arial" charset="0"/>
                      </a:endParaRPr>
                    </a:p>
                    <a:p>
                      <a:pPr algn="ctr" indent="0" marL="0">
                        <a:buNone/>
                      </a:pPr>
                      <a:r>
                        <a:rPr lang="en-US" sz="1150" b="1" dirty="0">
                          <a:solidFill>
                            <a:srgbClr val="334155"/>
                          </a:solidFill>
                          <a:latin typeface="Arial" pitchFamily="34" charset="0"/>
                          <a:ea typeface="Arial" pitchFamily="34" charset="-122"/>
                          <a:cs typeface="Arial" pitchFamily="34" charset="-120"/>
                        </a:rPr>
                        <a:t>(tức tổng 175,917)</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ctr" indent="0" marL="0">
                        <a:buNone/>
                      </a:pPr>
                      <a:r>
                        <a:rPr lang="en-US" sz="1150" b="1" dirty="0">
                          <a:solidFill>
                            <a:srgbClr val="9F224E"/>
                          </a:solidFill>
                          <a:latin typeface="Arial" pitchFamily="34" charset="0"/>
                          <a:ea typeface="Arial" pitchFamily="34" charset="-122"/>
                          <a:cs typeface="Arial" pitchFamily="34" charset="-120"/>
                        </a:rPr>
                        <a:t>23,500 / tháng</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ctr" indent="0" marL="0">
                        <a:buNone/>
                      </a:pPr>
                      <a:r>
                        <a:rPr lang="en-US" sz="1150" b="1" dirty="0">
                          <a:solidFill>
                            <a:srgbClr val="1E293B"/>
                          </a:solidFill>
                          <a:latin typeface="Arial" pitchFamily="34" charset="0"/>
                          <a:ea typeface="Arial" pitchFamily="34" charset="-122"/>
                          <a:cs typeface="Arial" pitchFamily="34" charset="-120"/>
                        </a:rPr>
                        <a:t>+11.7K / tháng</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ctr" indent="0" marL="0">
                        <a:buNone/>
                      </a:pPr>
                      <a:r>
                        <a:rPr lang="en-US" sz="1150" b="1" dirty="0">
                          <a:solidFill>
                            <a:srgbClr val="9F224E"/>
                          </a:solidFill>
                          <a:latin typeface="Arial" pitchFamily="34" charset="0"/>
                          <a:ea typeface="Arial" pitchFamily="34" charset="-122"/>
                          <a:cs typeface="Arial" pitchFamily="34" charset="-120"/>
                        </a:rPr>
                        <a:t>+100%</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indent="0" marL="0">
                        <a:buNone/>
                      </a:pPr>
                      <a:r>
                        <a:rPr lang="en-US" sz="1150" dirty="0">
                          <a:solidFill>
                            <a:srgbClr val="334155"/>
                          </a:solidFill>
                          <a:latin typeface="Arial" pitchFamily="34" charset="0"/>
                          <a:ea typeface="Arial" pitchFamily="34" charset="-122"/>
                          <a:cs typeface="Arial" pitchFamily="34" charset="-120"/>
                        </a:rPr>
                        <a:t>Không có Google OneBox.</a:t>
                      </a:r>
                      <a:endParaRPr lang="en-US" sz="1150" dirty="0">
                        <a:latin typeface="Arial" charset="0"/>
                        <a:ea typeface="Arial" charset="0"/>
                        <a:cs typeface="Arial" charset="0"/>
                      </a:endParaRPr>
                    </a:p>
                    <a:p>
                      <a:pPr indent="0" marL="0">
                        <a:buNone/>
                      </a:pPr>
                      <a:r>
                        <a:rPr lang="en-US" sz="1150" dirty="0">
                          <a:solidFill>
                            <a:srgbClr val="334155"/>
                          </a:solidFill>
                          <a:latin typeface="Arial" pitchFamily="34" charset="0"/>
                          <a:ea typeface="Arial" pitchFamily="34" charset="-122"/>
                          <a:cs typeface="Arial" pitchFamily="34" charset="-120"/>
                        </a:rPr>
                        <a:t>Đẩy từ khóa "lịch thi đấu bóng đá hôm nay / tối nay" từ hạng 6–10 lên Top 2–3.</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r>
              <a:tr h="868680">
                <a:tc>
                  <a:txBody>
                    <a:bodyPr/>
                    <a:lstStyle/>
                    <a:p>
                      <a:pPr indent="0" marL="0">
                        <a:buNone/>
                      </a:pPr>
                      <a:r>
                        <a:rPr lang="en-US" sz="1150" b="1" dirty="0">
                          <a:solidFill>
                            <a:srgbClr val="1E293B"/>
                          </a:solidFill>
                          <a:latin typeface="Arial" pitchFamily="34" charset="0"/>
                          <a:ea typeface="Arial" pitchFamily="34" charset="-122"/>
                          <a:cs typeface="Arial" pitchFamily="34" charset="-120"/>
                        </a:rPr>
                        <a:t>Hành động 2:</a:t>
                      </a:r>
                      <a:endParaRPr lang="en-US" sz="1150" dirty="0">
                        <a:latin typeface="Arial" charset="0"/>
                        <a:ea typeface="Arial" charset="0"/>
                        <a:cs typeface="Arial" charset="0"/>
                      </a:endParaRPr>
                    </a:p>
                    <a:p>
                      <a:pPr indent="0" marL="0">
                        <a:buNone/>
                      </a:pPr>
                      <a:r>
                        <a:rPr lang="en-US" sz="1150" b="1" dirty="0">
                          <a:solidFill>
                            <a:srgbClr val="1E293B"/>
                          </a:solidFill>
                          <a:latin typeface="Arial" pitchFamily="34" charset="0"/>
                          <a:ea typeface="Arial" pitchFamily="34" charset="-122"/>
                          <a:cs typeface="Arial" pitchFamily="34" charset="-120"/>
                        </a:rPr>
                        <a:t>Xây dựng mới trang đích Kết quả bóng đá</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150" b="1" dirty="0">
                          <a:solidFill>
                            <a:srgbClr val="1E293B"/>
                          </a:solidFill>
                          <a:latin typeface="Arial" pitchFamily="34" charset="0"/>
                          <a:ea typeface="Arial" pitchFamily="34" charset="-122"/>
                          <a:cs typeface="Arial" pitchFamily="34" charset="-120"/>
                        </a:rPr>
                        <a:t>Lớp trang mới</a:t>
                      </a:r>
                      <a:endParaRPr lang="en-US" sz="1150" dirty="0">
                        <a:latin typeface="Arial" charset="0"/>
                        <a:ea typeface="Arial" charset="0"/>
                        <a:cs typeface="Arial" charset="0"/>
                      </a:endParaRPr>
                    </a:p>
                    <a:p>
                      <a:pPr indent="0" marL="0">
                        <a:buNone/>
                      </a:pPr>
                      <a:r>
                        <a:rPr lang="en-US" sz="1150" b="1" dirty="0">
                          <a:solidFill>
                            <a:srgbClr val="1E293B"/>
                          </a:solidFill>
                          <a:latin typeface="Arial" pitchFamily="34" charset="0"/>
                          <a:ea typeface="Arial" pitchFamily="34" charset="-122"/>
                          <a:cs typeface="Arial" pitchFamily="34" charset="-120"/>
                        </a:rPr>
                        <a:t>/ket-qua-bong-da</a:t>
                      </a:r>
                      <a:endParaRPr lang="en-US" sz="1150" dirty="0">
                        <a:latin typeface="Arial" charset="0"/>
                        <a:ea typeface="Arial" charset="0"/>
                        <a:cs typeface="Arial" charset="0"/>
                      </a:endParaRPr>
                    </a:p>
                    <a:p>
                      <a:pPr indent="0" marL="0">
                        <a:buNone/>
                      </a:pPr>
                      <a:r>
                        <a:rPr lang="en-US" sz="1150" b="1" dirty="0">
                          <a:solidFill>
                            <a:srgbClr val="1E293B"/>
                          </a:solidFill>
                          <a:latin typeface="Arial" pitchFamily="34" charset="0"/>
                          <a:ea typeface="Arial" pitchFamily="34" charset="-122"/>
                          <a:cs typeface="Arial" pitchFamily="34" charset="-120"/>
                        </a:rPr>
                        <a:t>(1 URL Hub)</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ctr" indent="0" marL="0">
                        <a:buNone/>
                      </a:pPr>
                      <a:r>
                        <a:rPr lang="en-US" sz="1150" b="1" dirty="0">
                          <a:solidFill>
                            <a:srgbClr val="334155"/>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p>
                      <a:pPr algn="ctr" indent="0" marL="0">
                        <a:buNone/>
                      </a:pPr>
                      <a:r>
                        <a:rPr lang="en-US" sz="1150" b="1" dirty="0">
                          <a:solidFill>
                            <a:srgbClr val="334155"/>
                          </a:solidFill>
                          <a:latin typeface="Arial" pitchFamily="34" charset="0"/>
                          <a:ea typeface="Arial" pitchFamily="34" charset="-122"/>
                          <a:cs typeface="Arial" pitchFamily="34" charset="-120"/>
                        </a:rPr>
                        <a:t>(Chưa có trang đích)</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ctr" indent="0" marL="0">
                        <a:buNone/>
                      </a:pPr>
                      <a:r>
                        <a:rPr lang="en-US" sz="1150" b="1" dirty="0">
                          <a:solidFill>
                            <a:srgbClr val="9F224E"/>
                          </a:solidFill>
                          <a:latin typeface="Arial" pitchFamily="34" charset="0"/>
                          <a:ea typeface="Arial" pitchFamily="34" charset="-122"/>
                          <a:cs typeface="Arial" pitchFamily="34" charset="-120"/>
                        </a:rPr>
                        <a:t>38.7K – 43.3K</a:t>
                      </a:r>
                      <a:endParaRPr lang="en-US" sz="1150" dirty="0">
                        <a:latin typeface="Arial" charset="0"/>
                        <a:ea typeface="Arial" charset="0"/>
                        <a:cs typeface="Arial" charset="0"/>
                      </a:endParaRPr>
                    </a:p>
                    <a:p>
                      <a:pPr algn="ctr" indent="0" marL="0">
                        <a:buNone/>
                      </a:pPr>
                      <a:r>
                        <a:rPr lang="en-US" sz="1150" b="1" dirty="0">
                          <a:solidFill>
                            <a:srgbClr val="9F224E"/>
                          </a:solidFill>
                          <a:latin typeface="Arial" pitchFamily="34" charset="0"/>
                          <a:ea typeface="Arial" pitchFamily="34" charset="-122"/>
                          <a:cs typeface="Arial" pitchFamily="34" charset="-120"/>
                        </a:rPr>
                        <a:t>/ tháng</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ctr" indent="0" marL="0">
                        <a:buNone/>
                      </a:pPr>
                      <a:r>
                        <a:rPr lang="en-US" sz="1150" b="1" dirty="0">
                          <a:solidFill>
                            <a:srgbClr val="1E293B"/>
                          </a:solidFill>
                          <a:latin typeface="Arial" pitchFamily="34" charset="0"/>
                          <a:ea typeface="Arial" pitchFamily="34" charset="-122"/>
                          <a:cs typeface="Arial" pitchFamily="34" charset="-120"/>
                        </a:rPr>
                        <a:t>+38.7K – 43.3K</a:t>
                      </a:r>
                      <a:endParaRPr lang="en-US" sz="1150" dirty="0">
                        <a:latin typeface="Arial" charset="0"/>
                        <a:ea typeface="Arial" charset="0"/>
                        <a:cs typeface="Arial" charset="0"/>
                      </a:endParaRPr>
                    </a:p>
                    <a:p>
                      <a:pPr algn="ctr" indent="0" marL="0">
                        <a:buNone/>
                      </a:pPr>
                      <a:r>
                        <a:rPr lang="en-US" sz="1150" b="1" dirty="0">
                          <a:solidFill>
                            <a:srgbClr val="1E293B"/>
                          </a:solidFill>
                          <a:latin typeface="Arial" pitchFamily="34" charset="0"/>
                          <a:ea typeface="Arial" pitchFamily="34" charset="-122"/>
                          <a:cs typeface="Arial" pitchFamily="34" charset="-120"/>
                        </a:rPr>
                        <a:t>/ tháng</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ctr" indent="0" marL="0">
                        <a:buNone/>
                      </a:pPr>
                      <a:r>
                        <a:rPr lang="en-US" sz="1150" b="1" dirty="0">
                          <a:solidFill>
                            <a:srgbClr val="9F224E"/>
                          </a:solidFill>
                          <a:latin typeface="Arial" pitchFamily="34" charset="0"/>
                          <a:ea typeface="Arial" pitchFamily="34" charset="-122"/>
                          <a:cs typeface="Arial" pitchFamily="34" charset="-120"/>
                        </a:rPr>
                        <a:t>Mới 100%</a:t>
                      </a:r>
                      <a:endParaRPr lang="en-US" sz="1150" dirty="0">
                        <a:latin typeface="Arial" charset="0"/>
                        <a:ea typeface="Arial" charset="0"/>
                        <a:cs typeface="Arial" charset="0"/>
                      </a:endParaRPr>
                    </a:p>
                    <a:p>
                      <a:pPr algn="ctr" indent="0" marL="0">
                        <a:buNone/>
                      </a:pPr>
                      <a:r>
                        <a:rPr lang="en-US" sz="1150" b="1" dirty="0">
                          <a:solidFill>
                            <a:srgbClr val="9F224E"/>
                          </a:solidFill>
                          <a:latin typeface="Arial" pitchFamily="34" charset="0"/>
                          <a:ea typeface="Arial" pitchFamily="34" charset="-122"/>
                          <a:cs typeface="Arial" pitchFamily="34" charset="-120"/>
                        </a:rPr>
                        <a:t>(Động lực số 1)</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indent="0" marL="0">
                        <a:buNone/>
                      </a:pPr>
                      <a:r>
                        <a:rPr lang="en-US" sz="1150" dirty="0">
                          <a:solidFill>
                            <a:srgbClr val="334155"/>
                          </a:solidFill>
                          <a:latin typeface="Arial" pitchFamily="34" charset="0"/>
                          <a:ea typeface="Arial" pitchFamily="34" charset="-122"/>
                          <a:cs typeface="Arial" pitchFamily="34" charset="-120"/>
                        </a:rPr>
                        <a:t>Không có Google OneBox.</a:t>
                      </a:r>
                      <a:endParaRPr lang="en-US" sz="1150" dirty="0">
                        <a:latin typeface="Arial" charset="0"/>
                        <a:ea typeface="Arial" charset="0"/>
                        <a:cs typeface="Arial" charset="0"/>
                      </a:endParaRPr>
                    </a:p>
                    <a:p>
                      <a:pPr indent="0" marL="0">
                        <a:buNone/>
                      </a:pPr>
                      <a:r>
                        <a:rPr lang="en-US" sz="1150" dirty="0">
                          <a:solidFill>
                            <a:srgbClr val="334155"/>
                          </a:solidFill>
                          <a:latin typeface="Arial" pitchFamily="34" charset="0"/>
                          <a:ea typeface="Arial" pitchFamily="34" charset="-122"/>
                          <a:cs typeface="Arial" pitchFamily="34" charset="-120"/>
                        </a:rPr>
                        <a:t>Khai thác thị trường ~10.5M vol khả dụng ("kqbd", "kết quả bóng đá hôm nay / đêm qua").</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r>
              <a:tr h="868680">
                <a:tc>
                  <a:txBody>
                    <a:bodyPr/>
                    <a:lstStyle/>
                    <a:p>
                      <a:pPr indent="0" marL="0">
                        <a:buNone/>
                      </a:pPr>
                      <a:r>
                        <a:rPr lang="en-US" sz="1150" b="1" dirty="0">
                          <a:solidFill>
                            <a:srgbClr val="1E293B"/>
                          </a:solidFill>
                          <a:latin typeface="Arial" pitchFamily="34" charset="0"/>
                          <a:ea typeface="Arial" pitchFamily="34" charset="-122"/>
                          <a:cs typeface="Arial" pitchFamily="34" charset="-120"/>
                        </a:rPr>
                        <a:t>Hành động 3:</a:t>
                      </a:r>
                      <a:endParaRPr lang="en-US" sz="1150" dirty="0">
                        <a:latin typeface="Arial" charset="0"/>
                        <a:ea typeface="Arial" charset="0"/>
                        <a:cs typeface="Arial" charset="0"/>
                      </a:endParaRPr>
                    </a:p>
                    <a:p>
                      <a:pPr indent="0" marL="0">
                        <a:buNone/>
                      </a:pPr>
                      <a:r>
                        <a:rPr lang="en-US" sz="1150" b="1" dirty="0">
                          <a:solidFill>
                            <a:srgbClr val="1E293B"/>
                          </a:solidFill>
                          <a:latin typeface="Arial" pitchFamily="34" charset="0"/>
                          <a:ea typeface="Arial" pitchFamily="34" charset="-122"/>
                          <a:cs typeface="Arial" pitchFamily="34" charset="-120"/>
                        </a:rPr>
                        <a:t>Hợp nhất Giải đấu theo mô hình One-Stop League Hub</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150" b="1" dirty="0">
                          <a:solidFill>
                            <a:srgbClr val="1E293B"/>
                          </a:solidFill>
                          <a:latin typeface="Arial" pitchFamily="34" charset="0"/>
                          <a:ea typeface="Arial" pitchFamily="34" charset="-122"/>
                          <a:cs typeface="Arial" pitchFamily="34" charset="-120"/>
                        </a:rPr>
                        <a:t>Lớp Giải đấu</a:t>
                      </a:r>
                      <a:endParaRPr lang="en-US" sz="1150" dirty="0">
                        <a:latin typeface="Arial" charset="0"/>
                        <a:ea typeface="Arial" charset="0"/>
                        <a:cs typeface="Arial" charset="0"/>
                      </a:endParaRPr>
                    </a:p>
                    <a:p>
                      <a:pPr indent="0" marL="0">
                        <a:buNone/>
                      </a:pPr>
                      <a:r>
                        <a:rPr lang="en-US" sz="1150" b="1" dirty="0">
                          <a:solidFill>
                            <a:srgbClr val="1E293B"/>
                          </a:solidFill>
                          <a:latin typeface="Arial" pitchFamily="34" charset="0"/>
                          <a:ea typeface="Arial" pitchFamily="34" charset="-122"/>
                          <a:cs typeface="Arial" pitchFamily="34" charset="-120"/>
                        </a:rPr>
                        <a:t>/bong-da/[giai]/...</a:t>
                      </a:r>
                      <a:endParaRPr lang="en-US" sz="1150" dirty="0">
                        <a:latin typeface="Arial" charset="0"/>
                        <a:ea typeface="Arial" charset="0"/>
                        <a:cs typeface="Arial" charset="0"/>
                      </a:endParaRPr>
                    </a:p>
                    <a:p>
                      <a:pPr indent="0" marL="0">
                        <a:buNone/>
                      </a:pPr>
                      <a:r>
                        <a:rPr lang="en-US" sz="1150" b="1" dirty="0">
                          <a:solidFill>
                            <a:srgbClr val="1E293B"/>
                          </a:solidFill>
                          <a:latin typeface="Arial" pitchFamily="34" charset="0"/>
                          <a:ea typeface="Arial" pitchFamily="34" charset="-122"/>
                          <a:cs typeface="Arial" pitchFamily="34" charset="-120"/>
                        </a:rPr>
                        <a:t>(57 cụm giải)</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ctr" indent="0" marL="0">
                        <a:buNone/>
                      </a:pPr>
                      <a:r>
                        <a:rPr lang="en-US" sz="1150" b="1" dirty="0">
                          <a:solidFill>
                            <a:srgbClr val="334155"/>
                          </a:solidFill>
                          <a:latin typeface="Arial" pitchFamily="34" charset="0"/>
                          <a:ea typeface="Arial" pitchFamily="34" charset="-122"/>
                          <a:cs typeface="Arial" pitchFamily="34" charset="-120"/>
                        </a:rPr>
                        <a:t>60,500 / tháng</a:t>
                      </a:r>
                      <a:endParaRPr lang="en-US" sz="1150" dirty="0">
                        <a:latin typeface="Arial" charset="0"/>
                        <a:ea typeface="Arial" charset="0"/>
                        <a:cs typeface="Arial" charset="0"/>
                      </a:endParaRPr>
                    </a:p>
                    <a:p>
                      <a:pPr algn="ctr" indent="0" marL="0">
                        <a:buNone/>
                      </a:pPr>
                      <a:r>
                        <a:rPr lang="en-US" sz="1150" b="1" dirty="0">
                          <a:solidFill>
                            <a:srgbClr val="334155"/>
                          </a:solidFill>
                          <a:latin typeface="Arial" pitchFamily="34" charset="0"/>
                          <a:ea typeface="Arial" pitchFamily="34" charset="-122"/>
                          <a:cs typeface="Arial" pitchFamily="34" charset="-120"/>
                        </a:rPr>
                        <a:t>(tức tổng 908,193)</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ctr" indent="0" marL="0">
                        <a:buNone/>
                      </a:pPr>
                      <a:r>
                        <a:rPr lang="en-US" sz="1150" b="1" dirty="0">
                          <a:solidFill>
                            <a:srgbClr val="9F224E"/>
                          </a:solidFill>
                          <a:latin typeface="Arial" pitchFamily="34" charset="0"/>
                          <a:ea typeface="Arial" pitchFamily="34" charset="-122"/>
                          <a:cs typeface="Arial" pitchFamily="34" charset="-120"/>
                        </a:rPr>
                        <a:t>94,200 – 98,000</a:t>
                      </a:r>
                      <a:endParaRPr lang="en-US" sz="1150" dirty="0">
                        <a:latin typeface="Arial" charset="0"/>
                        <a:ea typeface="Arial" charset="0"/>
                        <a:cs typeface="Arial" charset="0"/>
                      </a:endParaRPr>
                    </a:p>
                    <a:p>
                      <a:pPr algn="ctr" indent="0" marL="0">
                        <a:buNone/>
                      </a:pPr>
                      <a:r>
                        <a:rPr lang="en-US" sz="1150" b="1" dirty="0">
                          <a:solidFill>
                            <a:srgbClr val="9F224E"/>
                          </a:solidFill>
                          <a:latin typeface="Arial" pitchFamily="34" charset="0"/>
                          <a:ea typeface="Arial" pitchFamily="34" charset="-122"/>
                          <a:cs typeface="Arial" pitchFamily="34" charset="-120"/>
                        </a:rPr>
                        <a:t>/ tháng</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ctr" indent="0" marL="0">
                        <a:buNone/>
                      </a:pPr>
                      <a:r>
                        <a:rPr lang="en-US" sz="1150" b="1" dirty="0">
                          <a:solidFill>
                            <a:srgbClr val="1E293B"/>
                          </a:solidFill>
                          <a:latin typeface="Arial" pitchFamily="34" charset="0"/>
                          <a:ea typeface="Arial" pitchFamily="34" charset="-122"/>
                          <a:cs typeface="Arial" pitchFamily="34" charset="-120"/>
                        </a:rPr>
                        <a:t>+33,700 –</a:t>
                      </a:r>
                      <a:endParaRPr lang="en-US" sz="1150" dirty="0">
                        <a:latin typeface="Arial" charset="0"/>
                        <a:ea typeface="Arial" charset="0"/>
                        <a:cs typeface="Arial" charset="0"/>
                      </a:endParaRPr>
                    </a:p>
                    <a:p>
                      <a:pPr algn="ctr" indent="0" marL="0">
                        <a:buNone/>
                      </a:pPr>
                      <a:r>
                        <a:rPr lang="en-US" sz="1150" b="1" dirty="0">
                          <a:solidFill>
                            <a:srgbClr val="1E293B"/>
                          </a:solidFill>
                          <a:latin typeface="Arial" pitchFamily="34" charset="0"/>
                          <a:ea typeface="Arial" pitchFamily="34" charset="-122"/>
                          <a:cs typeface="Arial" pitchFamily="34" charset="-120"/>
                        </a:rPr>
                        <a:t>+38,000</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algn="ctr" indent="0" marL="0">
                        <a:buNone/>
                      </a:pPr>
                      <a:r>
                        <a:rPr lang="en-US" sz="1150" b="1" dirty="0">
                          <a:solidFill>
                            <a:srgbClr val="9F224E"/>
                          </a:solidFill>
                          <a:latin typeface="Arial" pitchFamily="34" charset="0"/>
                          <a:ea typeface="Arial" pitchFamily="34" charset="-122"/>
                          <a:cs typeface="Arial" pitchFamily="34" charset="-120"/>
                        </a:rPr>
                        <a:t>+55.7% –</a:t>
                      </a:r>
                      <a:endParaRPr lang="en-US" sz="1150" dirty="0">
                        <a:latin typeface="Arial" charset="0"/>
                        <a:ea typeface="Arial" charset="0"/>
                        <a:cs typeface="Arial" charset="0"/>
                      </a:endParaRPr>
                    </a:p>
                    <a:p>
                      <a:pPr algn="ctr" indent="0" marL="0">
                        <a:buNone/>
                      </a:pPr>
                      <a:r>
                        <a:rPr lang="en-US" sz="1150" b="1" dirty="0">
                          <a:solidFill>
                            <a:srgbClr val="9F224E"/>
                          </a:solidFill>
                          <a:latin typeface="Arial" pitchFamily="34" charset="0"/>
                          <a:ea typeface="Arial" pitchFamily="34" charset="-122"/>
                          <a:cs typeface="Arial" pitchFamily="34" charset="-120"/>
                        </a:rPr>
                        <a:t>+62.4%</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indent="0" marL="0">
                        <a:buNone/>
                      </a:pPr>
                      <a:r>
                        <a:rPr lang="en-US" sz="1150" dirty="0">
                          <a:solidFill>
                            <a:srgbClr val="334155"/>
                          </a:solidFill>
                          <a:latin typeface="Arial" pitchFamily="34" charset="0"/>
                          <a:ea typeface="Arial" pitchFamily="34" charset="-122"/>
                          <a:cs typeface="Arial" pitchFamily="34" charset="-120"/>
                        </a:rPr>
                        <a:t>Có Google OneBox (Zero-click ~70%).</a:t>
                      </a:r>
                      <a:endParaRPr lang="en-US" sz="1150" dirty="0">
                        <a:latin typeface="Arial" charset="0"/>
                        <a:ea typeface="Arial" charset="0"/>
                        <a:cs typeface="Arial" charset="0"/>
                      </a:endParaRPr>
                    </a:p>
                    <a:p>
                      <a:pPr indent="0" marL="0">
                        <a:buNone/>
                      </a:pPr>
                      <a:r>
                        <a:rPr lang="en-US" sz="1150" dirty="0">
                          <a:solidFill>
                            <a:srgbClr val="334155"/>
                          </a:solidFill>
                          <a:latin typeface="Arial" pitchFamily="34" charset="0"/>
                          <a:ea typeface="Arial" pitchFamily="34" charset="-122"/>
                          <a:cs typeface="Arial" pitchFamily="34" charset="-120"/>
                        </a:rPr>
                        <a:t>Hợp nhất PageRank + tách rõ /bang-xep-hang, /ket-qua để chiếm Top 1–2 ngay dưới OneBox.</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r>
              <a:tr h="868680">
                <a:tc>
                  <a:txBody>
                    <a:bodyPr/>
                    <a:lstStyle/>
                    <a:p>
                      <a:pPr indent="0" marL="0">
                        <a:buNone/>
                      </a:pPr>
                      <a:r>
                        <a:rPr lang="en-US" sz="1150" b="1" dirty="0">
                          <a:solidFill>
                            <a:srgbClr val="9F224E"/>
                          </a:solidFill>
                          <a:latin typeface="Arial" pitchFamily="34" charset="0"/>
                          <a:ea typeface="Arial" pitchFamily="34" charset="-122"/>
                          <a:cs typeface="Arial" pitchFamily="34" charset="-120"/>
                        </a:rPr>
                        <a:t>TỔNG CỘNG TOÀN TRANG</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DF2F6"/>
                    </a:solidFill>
                  </a:tcPr>
                </a:tc>
                <a:tc>
                  <a:txBody>
                    <a:bodyPr/>
                    <a:lstStyle/>
                    <a:p>
                      <a:pPr indent="0" marL="0">
                        <a:buNone/>
                      </a:pPr>
                      <a:r>
                        <a:rPr lang="en-US" sz="1150" b="1" dirty="0">
                          <a:solidFill>
                            <a:srgbClr val="1E293B"/>
                          </a:solidFill>
                          <a:latin typeface="Arial" pitchFamily="34" charset="0"/>
                          <a:ea typeface="Arial" pitchFamily="34" charset="-122"/>
                          <a:cs typeface="Arial" pitchFamily="34" charset="-120"/>
                        </a:rPr>
                        <a:t>Toàn bộ hệ sinh thái Dữ liệu bóng đá</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DF2F6"/>
                    </a:solidFill>
                  </a:tcPr>
                </a:tc>
                <a:tc>
                  <a:txBody>
                    <a:bodyPr/>
                    <a:lstStyle/>
                    <a:p>
                      <a:pPr algn="ctr" indent="0" marL="0">
                        <a:buNone/>
                      </a:pPr>
                      <a:r>
                        <a:rPr lang="en-US" sz="1150" b="1" dirty="0">
                          <a:solidFill>
                            <a:srgbClr val="1E293B"/>
                          </a:solidFill>
                          <a:latin typeface="Arial" pitchFamily="34" charset="0"/>
                          <a:ea typeface="Arial" pitchFamily="34" charset="-122"/>
                          <a:cs typeface="Arial" pitchFamily="34" charset="-120"/>
                        </a:rPr>
                        <a:t>86,700 / tháng</a:t>
                      </a:r>
                      <a:endParaRPr lang="en-US" sz="1150" dirty="0">
                        <a:latin typeface="Arial" charset="0"/>
                        <a:ea typeface="Arial" charset="0"/>
                        <a:cs typeface="Arial" charset="0"/>
                      </a:endParaRPr>
                    </a:p>
                    <a:p>
                      <a:pPr algn="ctr" indent="0" marL="0">
                        <a:buNone/>
                      </a:pPr>
                      <a:r>
                        <a:rPr lang="en-US" sz="1150" b="1" dirty="0">
                          <a:solidFill>
                            <a:srgbClr val="1E293B"/>
                          </a:solidFill>
                          <a:latin typeface="Arial" pitchFamily="34" charset="0"/>
                          <a:ea typeface="Arial" pitchFamily="34" charset="-122"/>
                          <a:cs typeface="Arial" pitchFamily="34" charset="-120"/>
                        </a:rPr>
                        <a:t>(tức tổng 1,304,558)</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DF2F6"/>
                    </a:solidFill>
                  </a:tcPr>
                </a:tc>
                <a:tc>
                  <a:txBody>
                    <a:bodyPr/>
                    <a:lstStyle/>
                    <a:p>
                      <a:pPr algn="ctr" indent="0" marL="0">
                        <a:buNone/>
                      </a:pPr>
                      <a:r>
                        <a:rPr lang="en-US" sz="1350" b="1" dirty="0">
                          <a:solidFill>
                            <a:srgbClr val="9F224E"/>
                          </a:solidFill>
                          <a:latin typeface="Arial" pitchFamily="34" charset="0"/>
                          <a:ea typeface="Arial" pitchFamily="34" charset="-122"/>
                          <a:cs typeface="Arial" pitchFamily="34" charset="-120"/>
                        </a:rPr>
                        <a:t>174K / tháng</a:t>
                      </a:r>
                      <a:endParaRPr lang="en-US" sz="13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DF2F6"/>
                    </a:solidFill>
                  </a:tcPr>
                </a:tc>
                <a:tc>
                  <a:txBody>
                    <a:bodyPr/>
                    <a:lstStyle/>
                    <a:p>
                      <a:pPr algn="ctr" indent="0" marL="0">
                        <a:buNone/>
                      </a:pPr>
                      <a:r>
                        <a:rPr lang="en-US" sz="1350" b="1" dirty="0">
                          <a:solidFill>
                            <a:srgbClr val="9F224E"/>
                          </a:solidFill>
                          <a:latin typeface="Arial" pitchFamily="34" charset="0"/>
                          <a:ea typeface="Arial" pitchFamily="34" charset="-122"/>
                          <a:cs typeface="Arial" pitchFamily="34" charset="-120"/>
                        </a:rPr>
                        <a:t>+86,700</a:t>
                      </a:r>
                      <a:endParaRPr lang="en-US" sz="13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DF2F6"/>
                    </a:solidFill>
                  </a:tcPr>
                </a:tc>
                <a:tc>
                  <a:txBody>
                    <a:bodyPr/>
                    <a:lstStyle/>
                    <a:p>
                      <a:pPr algn="ctr" indent="0" marL="0">
                        <a:buNone/>
                      </a:pPr>
                      <a:r>
                        <a:rPr lang="en-US" sz="1350" b="1" dirty="0">
                          <a:solidFill>
                            <a:srgbClr val="9F224E"/>
                          </a:solidFill>
                          <a:latin typeface="Arial" pitchFamily="34" charset="0"/>
                          <a:ea typeface="Arial" pitchFamily="34" charset="-122"/>
                          <a:cs typeface="Arial" pitchFamily="34" charset="-120"/>
                        </a:rPr>
                        <a:t>+100%</a:t>
                      </a:r>
                      <a:endParaRPr lang="en-US" sz="13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DF2F6"/>
                    </a:solidFill>
                  </a:tcPr>
                </a:tc>
                <a:tc>
                  <a:txBody>
                    <a:bodyPr/>
                    <a:lstStyle/>
                    <a:p>
                      <a:pPr indent="0" marL="0">
                        <a:buNone/>
                      </a:pPr>
                      <a:r>
                        <a:rPr lang="en-US" sz="1150" b="1" dirty="0">
                          <a:solidFill>
                            <a:srgbClr val="1E293B"/>
                          </a:solidFill>
                          <a:latin typeface="Arial" pitchFamily="34" charset="0"/>
                          <a:ea typeface="Arial" pitchFamily="34" charset="-122"/>
                          <a:cs typeface="Arial" pitchFamily="34" charset="-120"/>
                        </a:rPr>
                        <a:t>Nhân đôi Search Clicks toàn trang + mang lại thêm 150K – 200K Pageviews bài viết/tháng.</a:t>
                      </a:r>
                      <a:endParaRPr lang="en-US" sz="1150" dirty="0">
                        <a:latin typeface="Arial" charset="0"/>
                        <a:ea typeface="Arial" charset="0"/>
                        <a:cs typeface="Arial" charset="0"/>
                      </a:endParaRPr>
                    </a:p>
                  </a:txBody>
                  <a:tcPr marL="101600" marR="101600" marT="76200" marB="7620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DF2F6"/>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VnExpress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Cải tiến Trang Lịch Thi Đấu Bóng Đá - VnExpress</dc:title>
  <dc:subject>Phân tích vấn đề và giải pháp Trang Lịch thi đấu</dc:subject>
  <dc:creator>VnExpress Thể Thao</dc:creator>
  <cp:lastModifiedBy>VnExpress Thể Thao</cp:lastModifiedBy>
  <cp:revision>1</cp:revision>
  <dcterms:created xsi:type="dcterms:W3CDTF">2026-10-21T08:02:33Z</dcterms:created>
  <dcterms:modified xsi:type="dcterms:W3CDTF">2026-10-21T08:02:33Z</dcterms:modified>
</cp:coreProperties>
</file>